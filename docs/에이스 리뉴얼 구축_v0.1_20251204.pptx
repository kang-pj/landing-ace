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9" r:id="rId3"/>
    <p:sldId id="261" r:id="rId4"/>
    <p:sldId id="360" r:id="rId5"/>
    <p:sldId id="264" r:id="rId6"/>
    <p:sldId id="263" r:id="rId7"/>
    <p:sldId id="335" r:id="rId8"/>
    <p:sldId id="267" r:id="rId9"/>
    <p:sldId id="287" r:id="rId10"/>
    <p:sldId id="296" r:id="rId11"/>
    <p:sldId id="307" r:id="rId12"/>
    <p:sldId id="309" r:id="rId13"/>
    <p:sldId id="319" r:id="rId14"/>
    <p:sldId id="306" r:id="rId15"/>
    <p:sldId id="320" r:id="rId16"/>
    <p:sldId id="321" r:id="rId17"/>
    <p:sldId id="323" r:id="rId18"/>
    <p:sldId id="325" r:id="rId19"/>
    <p:sldId id="327" r:id="rId20"/>
    <p:sldId id="297" r:id="rId21"/>
    <p:sldId id="328" r:id="rId22"/>
    <p:sldId id="337" r:id="rId23"/>
    <p:sldId id="268" r:id="rId24"/>
    <p:sldId id="348" r:id="rId25"/>
    <p:sldId id="353" r:id="rId26"/>
    <p:sldId id="350" r:id="rId27"/>
    <p:sldId id="366" r:id="rId28"/>
    <p:sldId id="340" r:id="rId29"/>
    <p:sldId id="347" r:id="rId30"/>
    <p:sldId id="354" r:id="rId31"/>
    <p:sldId id="273" r:id="rId32"/>
    <p:sldId id="358" r:id="rId33"/>
    <p:sldId id="355" r:id="rId34"/>
    <p:sldId id="356" r:id="rId35"/>
    <p:sldId id="357" r:id="rId36"/>
    <p:sldId id="361" r:id="rId37"/>
    <p:sldId id="362" r:id="rId38"/>
    <p:sldId id="363" r:id="rId39"/>
    <p:sldId id="364" r:id="rId40"/>
    <p:sldId id="365" r:id="rId41"/>
    <p:sldId id="269" r:id="rId42"/>
    <p:sldId id="271" r:id="rId43"/>
    <p:sldId id="270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500"/>
    <a:srgbClr val="FF6B4E"/>
    <a:srgbClr val="FAE100"/>
    <a:srgbClr val="F5F5F5"/>
    <a:srgbClr val="232323"/>
    <a:srgbClr val="C4C4C4"/>
    <a:srgbClr val="D9D9D9"/>
    <a:srgbClr val="FFEBE7"/>
    <a:srgbClr val="003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70" autoAdjust="0"/>
    <p:restoredTop sz="92998" autoAdjust="0"/>
  </p:normalViewPr>
  <p:slideViewPr>
    <p:cSldViewPr snapToGrid="0">
      <p:cViewPr varScale="1">
        <p:scale>
          <a:sx n="80" d="100"/>
          <a:sy n="80" d="100"/>
        </p:scale>
        <p:origin x="2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3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CE032-A334-4613-A290-D1C01F84A4C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C16BD-03AD-49E0-8C30-9A36E1312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6288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6B05D-39BB-4457-840C-150D5070A77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81A97-9B71-4B80-8495-B53DAD9A6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9395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F81A97-9B71-4B80-8495-B53DAD9A6C7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480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F81A97-9B71-4B80-8495-B53DAD9A6C7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108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F81A97-9B71-4B80-8495-B53DAD9A6C7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395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F81A97-9B71-4B80-8495-B53DAD9A6C7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030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j.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35360" y="1412777"/>
            <a:ext cx="10993221" cy="118813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35360" y="3419573"/>
            <a:ext cx="7488832" cy="1440160"/>
          </a:xfrm>
        </p:spPr>
        <p:txBody>
          <a:bodyPr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246735" y="2608337"/>
            <a:ext cx="3265290" cy="0"/>
          </a:xfrm>
          <a:prstGeom prst="line">
            <a:avLst/>
          </a:prstGeom>
          <a:ln w="38100">
            <a:solidFill>
              <a:srgbClr val="F15A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cxnSpLocks/>
          </p:cNvCxnSpPr>
          <p:nvPr userDrawn="1"/>
        </p:nvCxnSpPr>
        <p:spPr>
          <a:xfrm>
            <a:off x="246735" y="2608337"/>
            <a:ext cx="11699081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04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2462039"/>
            <a:ext cx="10515600" cy="8588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2400" b="0" kern="1200" spc="-10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812539" y="3320934"/>
            <a:ext cx="1055927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4862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>
            <a:cxnSpLocks/>
          </p:cNvCxnSpPr>
          <p:nvPr userDrawn="1"/>
        </p:nvCxnSpPr>
        <p:spPr>
          <a:xfrm>
            <a:off x="225853" y="867266"/>
            <a:ext cx="900000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225853" y="293874"/>
            <a:ext cx="1025230" cy="4508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나눔고딕" panose="020D0604000000000000"/>
                <a:cs typeface="+mn-cs"/>
              </a:defRPr>
            </a:lvl1pPr>
          </a:lstStyle>
          <a:p>
            <a:r>
              <a:rPr lang="en-US" altLang="ko-KR" dirty="0" smtClean="0"/>
              <a:t>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3603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>
            <a:cxnSpLocks/>
          </p:cNvCxnSpPr>
          <p:nvPr userDrawn="1"/>
        </p:nvCxnSpPr>
        <p:spPr>
          <a:xfrm>
            <a:off x="225853" y="867266"/>
            <a:ext cx="900000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225853" y="293874"/>
            <a:ext cx="1025230" cy="4508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개요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308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>
            <a:cxnSpLocks/>
          </p:cNvCxnSpPr>
          <p:nvPr userDrawn="1"/>
        </p:nvCxnSpPr>
        <p:spPr>
          <a:xfrm flipV="1">
            <a:off x="225853" y="735290"/>
            <a:ext cx="11700000" cy="0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225853" y="180753"/>
            <a:ext cx="1025230" cy="4508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 smtClean="0"/>
              <a:t>개요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55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71632502"/>
              </p:ext>
            </p:extLst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나눔고딕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나눔고딕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나눔고딕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65920727"/>
              </p:ext>
            </p:extLst>
          </p:nvPr>
        </p:nvGraphicFramePr>
        <p:xfrm>
          <a:off x="9303719" y="412801"/>
          <a:ext cx="2769668" cy="1848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나눔고딕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나눔고딕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나눔고딕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4803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60739577"/>
              </p:ext>
            </p:extLst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나눔고딕"/>
                          <a:ea typeface="+mn-ea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나눔고딕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나눔고딕"/>
                          <a:ea typeface="+mn-ea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나눔고딕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나눔고딕"/>
                          <a:ea typeface="+mn-ea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나눔고딕"/>
                          <a:ea typeface="+mn-ea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나눔고딕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32334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부가정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14"/>
          <p:cNvGraphicFramePr>
            <a:graphicFrameLocks noGrp="1"/>
          </p:cNvGraphicFramePr>
          <p:nvPr userDrawn="1">
            <p:extLst/>
          </p:nvPr>
        </p:nvGraphicFramePr>
        <p:xfrm>
          <a:off x="-1" y="0"/>
          <a:ext cx="12192000" cy="381000"/>
        </p:xfrm>
        <a:graphic>
          <a:graphicData uri="http://schemas.openxmlformats.org/drawingml/2006/table">
            <a:tbl>
              <a:tblPr/>
              <a:tblGrid>
                <a:gridCol w="2107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0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spc="-1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  <a:cs typeface="+mn-cs"/>
                        </a:rPr>
                        <a:t>화면상세설계서</a:t>
                      </a:r>
                    </a:p>
                  </a:txBody>
                  <a:tcPr marL="132079" marR="132079" marT="34290" marB="34290" anchor="ctr" anchorCtr="1" horzOverflow="overflow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800" b="1" kern="1200" spc="-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spc="-10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  <a:cs typeface="+mn-cs"/>
                        </a:rPr>
                        <a:t>작성자</a:t>
                      </a: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spc="-1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  <a:cs typeface="+mn-cs"/>
                        </a:rPr>
                        <a:t>페이지</a:t>
                      </a: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spc="-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kern="1200" spc="-1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0" kern="1200" spc="-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-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279660" y="198439"/>
            <a:ext cx="912339" cy="182562"/>
          </a:xfrm>
        </p:spPr>
        <p:txBody>
          <a:bodyPr/>
          <a:lstStyle>
            <a:lvl1pPr marL="0" algn="ctr" defTabSz="914400" rtl="0" eaLnBrk="1" latinLnBrk="1" hangingPunct="1">
              <a:defRPr lang="ko-KR" altLang="en-US" sz="800" b="0" kern="1200" spc="-10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fld id="{F1AEEB8D-670B-4D1D-B14F-331E906750AC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108200" y="1"/>
            <a:ext cx="8197335" cy="381000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00" rtl="0" eaLnBrk="1" latinLnBrk="1" hangingPunct="1">
              <a:defRPr lang="ko-KR" altLang="en-US" sz="1000" b="0" kern="1200" spc="-10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/>
          <p:cNvSpPr txBox="1">
            <a:spLocks/>
          </p:cNvSpPr>
          <p:nvPr userDrawn="1"/>
        </p:nvSpPr>
        <p:spPr>
          <a:xfrm>
            <a:off x="11279659" y="198738"/>
            <a:ext cx="9123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lang="ko-KR" altLang="en-US" sz="800" b="0" kern="1200" spc="-10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EEB8D-670B-4D1D-B14F-331E906750AC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/>
          <p:cNvSpPr/>
          <p:nvPr userDrawn="1"/>
        </p:nvSpPr>
        <p:spPr>
          <a:xfrm>
            <a:off x="247136" y="897924"/>
            <a:ext cx="2594919" cy="5651157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spc="-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3274541" y="897923"/>
            <a:ext cx="2594919" cy="5651157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spc="-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42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부가정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14"/>
          <p:cNvGraphicFramePr>
            <a:graphicFrameLocks noGrp="1"/>
          </p:cNvGraphicFramePr>
          <p:nvPr userDrawn="1">
            <p:extLst/>
          </p:nvPr>
        </p:nvGraphicFramePr>
        <p:xfrm>
          <a:off x="-1" y="0"/>
          <a:ext cx="12192000" cy="381000"/>
        </p:xfrm>
        <a:graphic>
          <a:graphicData uri="http://schemas.openxmlformats.org/drawingml/2006/table">
            <a:tbl>
              <a:tblPr/>
              <a:tblGrid>
                <a:gridCol w="2107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0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spc="-1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  <a:cs typeface="+mn-cs"/>
                        </a:rPr>
                        <a:t>화면상세설계서</a:t>
                      </a:r>
                    </a:p>
                  </a:txBody>
                  <a:tcPr marL="132079" marR="132079" marT="34290" marB="34290" anchor="ctr" anchorCtr="1" horzOverflow="overflow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800" b="1" kern="1200" spc="-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spc="-10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  <a:cs typeface="+mn-cs"/>
                        </a:rPr>
                        <a:t>작성자</a:t>
                      </a: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spc="-1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  <a:cs typeface="+mn-cs"/>
                        </a:rPr>
                        <a:t>페이지</a:t>
                      </a: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spc="-10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kern="1200" spc="-100" dirty="0"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0" kern="1200" spc="-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-100" dirty="0"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2079" marR="132079" marT="34290" marB="3429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279660" y="198439"/>
            <a:ext cx="912339" cy="182562"/>
          </a:xfrm>
        </p:spPr>
        <p:txBody>
          <a:bodyPr/>
          <a:lstStyle>
            <a:lvl1pPr marL="0" algn="ctr" defTabSz="914400" rtl="0" eaLnBrk="1" latinLnBrk="1" hangingPunct="1">
              <a:defRPr lang="ko-KR" altLang="en-US" sz="800" b="0" kern="1200" spc="-10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fld id="{F1AEEB8D-670B-4D1D-B14F-331E906750AC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108200" y="1"/>
            <a:ext cx="8197335" cy="381000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00" rtl="0" eaLnBrk="1" latinLnBrk="1" hangingPunct="1">
              <a:defRPr lang="ko-KR" altLang="en-US" sz="1000" b="0" kern="1200" spc="-10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/>
          <p:cNvSpPr txBox="1">
            <a:spLocks/>
          </p:cNvSpPr>
          <p:nvPr userDrawn="1"/>
        </p:nvSpPr>
        <p:spPr>
          <a:xfrm>
            <a:off x="11279659" y="198738"/>
            <a:ext cx="9123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lang="ko-KR" altLang="en-US" sz="800" b="0" kern="1200" spc="-10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EEB8D-670B-4D1D-B14F-331E906750AC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/>
          <p:cNvSpPr/>
          <p:nvPr userDrawn="1"/>
        </p:nvSpPr>
        <p:spPr>
          <a:xfrm>
            <a:off x="247136" y="897924"/>
            <a:ext cx="2594919" cy="5651157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spc="-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2994455" y="897923"/>
            <a:ext cx="2594919" cy="5651157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spc="-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5741774" y="897923"/>
            <a:ext cx="2594919" cy="5651157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spc="-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53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F93A-EAB9-438F-93A8-D742A175DADF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647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94E05-FBDD-4F1F-90B8-8F964EC9E25F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295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BED2-AC7F-4572-95CC-ED16A85AA5B3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37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F72E2-97EE-4261-80E9-EC4FDD05DD9E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4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A5C15-1541-441F-8C7A-30A6C9D51110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0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0872-EB02-4B2C-9463-9E174138A26C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382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2047A-CB71-4D60-917C-3DB6A5CAF304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121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77CB7-93F9-4E8E-9555-46F5B03A8103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601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7CF6E-A2C2-4BC7-869C-CCEB079674FF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2303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727D-9F4A-4506-82AD-6BFE57F23C64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207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81FE-4843-4986-A992-1AB01BEF5496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780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B6298-1410-40AD-90B9-8854DDDA1470}" type="datetime1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BDC3A-9D3C-4B5C-A1C9-713031007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65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  <p:sldLayoutId id="2147483669" r:id="rId3"/>
    <p:sldLayoutId id="2147483670" r:id="rId4"/>
    <p:sldLayoutId id="2147483671" r:id="rId5"/>
    <p:sldLayoutId id="2147483664" r:id="rId6"/>
    <p:sldLayoutId id="2147483668" r:id="rId7"/>
    <p:sldLayoutId id="2147483666" r:id="rId8"/>
    <p:sldLayoutId id="2147483667" r:id="rId9"/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awgoodplan.kr/admin" TargetMode="External"/><Relationship Id="rId2" Type="http://schemas.openxmlformats.org/officeDocument/2006/relationships/hyperlink" Target="https://law-ace.co.kr/" TargetMode="Externa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oodrichmall.com/insur_analysis0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lguplus.com/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insurance.pay.naver.com/car?inflow=search" TargetMode="Externa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hwgi.kr/" TargetMode="Externa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.goodrichmall.com/MOBILE/mobile_main/view_html_f/insur_analysis_new?no=1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guplus.com/" TargetMode="Externa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insurance.pay.naver.com/car?inflow=search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ctrTitle"/>
          </p:nvPr>
        </p:nvSpPr>
        <p:spPr>
          <a:xfrm>
            <a:off x="246735" y="1183330"/>
            <a:ext cx="10993221" cy="1359019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  </a:t>
            </a:r>
            <a:r>
              <a:rPr lang="en-US" altLang="ko-K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/>
            </a:r>
            <a:br>
              <a:rPr lang="en-US" altLang="ko-K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3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리뉴얼</a:t>
            </a:r>
            <a:r>
              <a:rPr lang="ko-KR" altLang="en-US" sz="3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웹사이트 구축</a:t>
            </a:r>
            <a:endParaRPr lang="ko-KR" alt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6" name="직선 연결선 5"/>
          <p:cNvCxnSpPr>
            <a:cxnSpLocks/>
          </p:cNvCxnSpPr>
          <p:nvPr/>
        </p:nvCxnSpPr>
        <p:spPr>
          <a:xfrm>
            <a:off x="246735" y="2608337"/>
            <a:ext cx="11699081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289230"/>
              </p:ext>
            </p:extLst>
          </p:nvPr>
        </p:nvGraphicFramePr>
        <p:xfrm>
          <a:off x="6435458" y="2916417"/>
          <a:ext cx="5510358" cy="2530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8393">
                  <a:extLst>
                    <a:ext uri="{9D8B030D-6E8A-4147-A177-3AD203B41FA5}">
                      <a16:colId xmlns:a16="http://schemas.microsoft.com/office/drawing/2014/main" val="2946435253"/>
                    </a:ext>
                  </a:extLst>
                </a:gridCol>
                <a:gridCol w="918393">
                  <a:extLst>
                    <a:ext uri="{9D8B030D-6E8A-4147-A177-3AD203B41FA5}">
                      <a16:colId xmlns:a16="http://schemas.microsoft.com/office/drawing/2014/main" val="3602383615"/>
                    </a:ext>
                  </a:extLst>
                </a:gridCol>
                <a:gridCol w="918393">
                  <a:extLst>
                    <a:ext uri="{9D8B030D-6E8A-4147-A177-3AD203B41FA5}">
                      <a16:colId xmlns:a16="http://schemas.microsoft.com/office/drawing/2014/main" val="2655010019"/>
                    </a:ext>
                  </a:extLst>
                </a:gridCol>
                <a:gridCol w="918393">
                  <a:extLst>
                    <a:ext uri="{9D8B030D-6E8A-4147-A177-3AD203B41FA5}">
                      <a16:colId xmlns:a16="http://schemas.microsoft.com/office/drawing/2014/main" val="1724843232"/>
                    </a:ext>
                  </a:extLst>
                </a:gridCol>
                <a:gridCol w="918393">
                  <a:extLst>
                    <a:ext uri="{9D8B030D-6E8A-4147-A177-3AD203B41FA5}">
                      <a16:colId xmlns:a16="http://schemas.microsoft.com/office/drawing/2014/main" val="3806632236"/>
                    </a:ext>
                  </a:extLst>
                </a:gridCol>
                <a:gridCol w="918393">
                  <a:extLst>
                    <a:ext uri="{9D8B030D-6E8A-4147-A177-3AD203B41FA5}">
                      <a16:colId xmlns:a16="http://schemas.microsoft.com/office/drawing/2014/main" val="2707330641"/>
                    </a:ext>
                  </a:extLst>
                </a:gridCol>
              </a:tblGrid>
              <a:tr h="2530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Ver.</a:t>
                      </a:r>
                      <a:endParaRPr 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0.1</a:t>
                      </a:r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Date</a:t>
                      </a:r>
                      <a:endParaRPr 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2025.12.04</a:t>
                      </a:r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Writer.</a:t>
                      </a:r>
                      <a:endParaRPr 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이혜련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74533"/>
                  </a:ext>
                </a:extLst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109" y="182395"/>
            <a:ext cx="1245200" cy="31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6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235280" y="641022"/>
            <a:ext cx="720000" cy="0"/>
          </a:xfrm>
          <a:prstGeom prst="line">
            <a:avLst/>
          </a:prstGeom>
          <a:ln w="38100">
            <a:solidFill>
              <a:srgbClr val="0030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/>
          <p:cNvSpPr txBox="1">
            <a:spLocks/>
          </p:cNvSpPr>
          <p:nvPr/>
        </p:nvSpPr>
        <p:spPr>
          <a:xfrm>
            <a:off x="110050" y="220614"/>
            <a:ext cx="1025230" cy="342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sz="18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문서이력</a:t>
            </a:r>
            <a:endParaRPr lang="ko-KR" alt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892435"/>
              </p:ext>
            </p:extLst>
          </p:nvPr>
        </p:nvGraphicFramePr>
        <p:xfrm>
          <a:off x="225853" y="871440"/>
          <a:ext cx="11651920" cy="2531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413">
                  <a:extLst>
                    <a:ext uri="{9D8B030D-6E8A-4147-A177-3AD203B41FA5}">
                      <a16:colId xmlns:a16="http://schemas.microsoft.com/office/drawing/2014/main" val="2501145212"/>
                    </a:ext>
                  </a:extLst>
                </a:gridCol>
                <a:gridCol w="952107">
                  <a:extLst>
                    <a:ext uri="{9D8B030D-6E8A-4147-A177-3AD203B41FA5}">
                      <a16:colId xmlns:a16="http://schemas.microsoft.com/office/drawing/2014/main" val="4115527787"/>
                    </a:ext>
                  </a:extLst>
                </a:gridCol>
                <a:gridCol w="999241">
                  <a:extLst>
                    <a:ext uri="{9D8B030D-6E8A-4147-A177-3AD203B41FA5}">
                      <a16:colId xmlns:a16="http://schemas.microsoft.com/office/drawing/2014/main" val="2169424299"/>
                    </a:ext>
                  </a:extLst>
                </a:gridCol>
                <a:gridCol w="7824248">
                  <a:extLst>
                    <a:ext uri="{9D8B030D-6E8A-4147-A177-3AD203B41FA5}">
                      <a16:colId xmlns:a16="http://schemas.microsoft.com/office/drawing/2014/main" val="2965422643"/>
                    </a:ext>
                  </a:extLst>
                </a:gridCol>
                <a:gridCol w="1234911">
                  <a:extLst>
                    <a:ext uri="{9D8B030D-6E8A-4147-A177-3AD203B41FA5}">
                      <a16:colId xmlns:a16="http://schemas.microsoft.com/office/drawing/2014/main" val="295277075"/>
                    </a:ext>
                  </a:extLst>
                </a:gridCol>
              </a:tblGrid>
              <a:tr h="2531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Ver.</a:t>
                      </a:r>
                      <a:endParaRPr lang="en-US" sz="9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Date</a:t>
                      </a:r>
                      <a:endParaRPr lang="en-US" sz="9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Owner</a:t>
                      </a:r>
                      <a:endParaRPr lang="en-US" sz="9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Contents</a:t>
                      </a:r>
                      <a:endParaRPr lang="en-US" sz="9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Page</a:t>
                      </a:r>
                      <a:endParaRPr lang="en-US" sz="9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884610"/>
                  </a:ext>
                </a:extLst>
              </a:tr>
              <a:tr h="2531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0.1</a:t>
                      </a:r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2025.12.04</a:t>
                      </a:r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이혜련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최초작성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All</a:t>
                      </a:r>
                      <a:endParaRPr 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10944"/>
                  </a:ext>
                </a:extLst>
              </a:tr>
              <a:tr h="253164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000521"/>
                  </a:ext>
                </a:extLst>
              </a:tr>
              <a:tr h="253164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998804"/>
                  </a:ext>
                </a:extLst>
              </a:tr>
              <a:tr h="253164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606662"/>
                  </a:ext>
                </a:extLst>
              </a:tr>
              <a:tr h="253164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963116"/>
                  </a:ext>
                </a:extLst>
              </a:tr>
              <a:tr h="253164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082893"/>
                  </a:ext>
                </a:extLst>
              </a:tr>
              <a:tr h="253164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995958"/>
                  </a:ext>
                </a:extLst>
              </a:tr>
              <a:tr h="253164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206252"/>
                  </a:ext>
                </a:extLst>
              </a:tr>
              <a:tr h="253164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57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71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235280" y="641022"/>
            <a:ext cx="720000" cy="0"/>
          </a:xfrm>
          <a:prstGeom prst="line">
            <a:avLst/>
          </a:prstGeom>
          <a:ln w="38100">
            <a:solidFill>
              <a:srgbClr val="0030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/>
          <p:cNvSpPr txBox="1">
            <a:spLocks/>
          </p:cNvSpPr>
          <p:nvPr/>
        </p:nvSpPr>
        <p:spPr>
          <a:xfrm>
            <a:off x="110050" y="220614"/>
            <a:ext cx="1025230" cy="342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개요</a:t>
            </a:r>
            <a:endParaRPr lang="ko-KR" alt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4372" y="961535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 </a:t>
            </a:r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목적</a:t>
            </a:r>
            <a:endParaRPr lang="ko-KR" alt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372" y="1234665"/>
            <a:ext cx="84721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기존의 에이스 법률사무소 사이트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2"/>
              </a:rPr>
              <a:t>https://law-ace.co.kr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리뉴얼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버전 구축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키워드광고 및 기타 매체 등의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광고랜딩용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사이트 방문목적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및 개인파산에 따른  상담신청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개선사항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상담신청 노출 강화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컨텐츠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가독성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향상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AI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컨텐츠 추가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DB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유입 정보 세분화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연락처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디바이스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(PC/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 등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372" y="2695869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 </a:t>
            </a:r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기대효과</a:t>
            </a:r>
            <a:endParaRPr lang="ko-KR" alt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372" y="2938071"/>
            <a:ext cx="3183885" cy="337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및 개인파산에 대한 상담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수집 증가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4372" y="3669659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 </a:t>
            </a:r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웹사이트 제작 정보</a:t>
            </a:r>
            <a:endParaRPr lang="ko-KR" alt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344655"/>
              </p:ext>
            </p:extLst>
          </p:nvPr>
        </p:nvGraphicFramePr>
        <p:xfrm>
          <a:off x="352053" y="3977436"/>
          <a:ext cx="11488014" cy="266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2858">
                  <a:extLst>
                    <a:ext uri="{9D8B030D-6E8A-4147-A177-3AD203B41FA5}">
                      <a16:colId xmlns:a16="http://schemas.microsoft.com/office/drawing/2014/main" val="3741574213"/>
                    </a:ext>
                  </a:extLst>
                </a:gridCol>
                <a:gridCol w="1998483">
                  <a:extLst>
                    <a:ext uri="{9D8B030D-6E8A-4147-A177-3AD203B41FA5}">
                      <a16:colId xmlns:a16="http://schemas.microsoft.com/office/drawing/2014/main" val="4102021725"/>
                    </a:ext>
                  </a:extLst>
                </a:gridCol>
                <a:gridCol w="5241303">
                  <a:extLst>
                    <a:ext uri="{9D8B030D-6E8A-4147-A177-3AD203B41FA5}">
                      <a16:colId xmlns:a16="http://schemas.microsoft.com/office/drawing/2014/main" val="1973695269"/>
                    </a:ext>
                  </a:extLst>
                </a:gridCol>
                <a:gridCol w="3365370">
                  <a:extLst>
                    <a:ext uri="{9D8B030D-6E8A-4147-A177-3AD203B41FA5}">
                      <a16:colId xmlns:a16="http://schemas.microsoft.com/office/drawing/2014/main" val="816765617"/>
                    </a:ext>
                  </a:extLst>
                </a:gridCol>
              </a:tblGrid>
              <a:tr h="4299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</a:t>
                      </a:r>
                      <a:endParaRPr lang="en-US" sz="12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구분</a:t>
                      </a:r>
                      <a:endParaRPr lang="ko-KR" altLang="en-US" sz="12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내용</a:t>
                      </a:r>
                      <a:endParaRPr lang="ko-KR" altLang="en-US" sz="12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비고</a:t>
                      </a:r>
                      <a:endParaRPr lang="ko-KR" altLang="en-US" sz="12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30215"/>
                  </a:ext>
                </a:extLst>
              </a:tr>
              <a:tr h="9485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제작형태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광고용 </a:t>
                      </a: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</a:t>
                      </a: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마이크로사이트 형태로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제작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반응형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웹</a:t>
                      </a: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해상도 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레이아웃 참고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PC URL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 접속했을 경우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b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자동변환을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통해 모바일 형태로 자동 </a:t>
                      </a:r>
                      <a:r>
                        <a:rPr lang="ko-KR" altLang="en-US" sz="11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변환처리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/>
                      </a:r>
                      <a:b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(PC  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↔ 모바일 </a:t>
                      </a:r>
                      <a:r>
                        <a:rPr lang="ko-KR" altLang="en-US" sz="11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변환처리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F12</a:t>
                      </a:r>
                      <a:r>
                        <a:rPr lang="ko-KR" alt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버튼으로 컨트롤</a:t>
                      </a:r>
                      <a:r>
                        <a:rPr lang="en-US" altLang="ko-KR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486869"/>
                  </a:ext>
                </a:extLst>
              </a:tr>
              <a:tr h="429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주요 콘텐츠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 상담신청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u="none" strike="noStrike" baseline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카카오톡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100" u="none" strike="noStrike" baseline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채팅상담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 사례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AI 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컨텐츠 추가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u="none" strike="noStrike" baseline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변호사소개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등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64456"/>
                  </a:ext>
                </a:extLst>
              </a:tr>
              <a:tr h="429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연동 </a:t>
                      </a:r>
                      <a:r>
                        <a:rPr 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endParaRPr 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Admin(</a:t>
                      </a: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3"/>
                        </a:rPr>
                        <a:t>https://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3"/>
                        </a:rPr>
                        <a:t>lawgoodplan.kr/admin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연동 </a:t>
                      </a:r>
                      <a:r>
                        <a:rPr lang="ko-KR" altLang="en-US" sz="110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고객데이터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저장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Admin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baseline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확인필요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786851"/>
                  </a:ext>
                </a:extLst>
              </a:tr>
              <a:tr h="429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도메인</a:t>
                      </a: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sz="110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u="sng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2"/>
                        </a:rPr>
                        <a:t>https</a:t>
                      </a:r>
                      <a:r>
                        <a:rPr lang="en-US" sz="1100" u="sng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2"/>
                        </a:rPr>
                        <a:t>://</a:t>
                      </a:r>
                      <a:r>
                        <a:rPr lang="en-US" sz="1100" u="sng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2"/>
                        </a:rPr>
                        <a:t>law-ace.co.kr</a:t>
                      </a:r>
                      <a:endParaRPr lang="en-US" sz="1100" b="0" i="0" u="sng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변경 가능성 확인 필요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780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77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9030878" y="0"/>
            <a:ext cx="3161121" cy="18099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>
            <a:off x="235280" y="641022"/>
            <a:ext cx="720000" cy="0"/>
          </a:xfrm>
          <a:prstGeom prst="line">
            <a:avLst/>
          </a:prstGeom>
          <a:ln w="38100">
            <a:solidFill>
              <a:srgbClr val="0030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/>
          <p:cNvSpPr txBox="1">
            <a:spLocks/>
          </p:cNvSpPr>
          <p:nvPr/>
        </p:nvSpPr>
        <p:spPr>
          <a:xfrm>
            <a:off x="110049" y="220614"/>
            <a:ext cx="1662189" cy="342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정책</a:t>
            </a:r>
            <a:endParaRPr lang="ko-KR" alt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14372" y="961535"/>
            <a:ext cx="1088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수집 정보</a:t>
            </a:r>
            <a:endParaRPr lang="ko-KR" alt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14372" y="1244092"/>
            <a:ext cx="8584401" cy="3617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유입되면 </a:t>
            </a:r>
            <a:r>
              <a:rPr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어드민에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유입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유입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연락처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채무금액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월소득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상담예약시간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본인명의 부동산 유무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부양가족 유무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유입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디바이스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(=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사이트 제작 형태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/ PC,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 구분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유형에 따른 유입 항목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유형에 따른 </a:t>
            </a:r>
            <a:r>
              <a:rPr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어드민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적재 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070914"/>
              </p:ext>
            </p:extLst>
          </p:nvPr>
        </p:nvGraphicFramePr>
        <p:xfrm>
          <a:off x="432091" y="2092793"/>
          <a:ext cx="11266573" cy="2348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6389">
                  <a:extLst>
                    <a:ext uri="{9D8B030D-6E8A-4147-A177-3AD203B41FA5}">
                      <a16:colId xmlns:a16="http://schemas.microsoft.com/office/drawing/2014/main" val="3675721138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44466677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1683618579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293309843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973975179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1059202404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3603419633"/>
                    </a:ext>
                  </a:extLst>
                </a:gridCol>
                <a:gridCol w="1528504">
                  <a:extLst>
                    <a:ext uri="{9D8B030D-6E8A-4147-A177-3AD203B41FA5}">
                      <a16:colId xmlns:a16="http://schemas.microsoft.com/office/drawing/2014/main" val="528944444"/>
                    </a:ext>
                  </a:extLst>
                </a:gridCol>
              </a:tblGrid>
              <a:tr h="2545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</a:t>
                      </a:r>
                      <a:r>
                        <a:rPr lang="en-US" altLang="ko-KR" sz="100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0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</a:t>
                      </a:r>
                      <a:r>
                        <a:rPr lang="en-US" altLang="ko-KR" sz="100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전화상담예약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인풋박스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유형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항목값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비고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68303"/>
                  </a:ext>
                </a:extLst>
              </a:tr>
              <a:tr h="2545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입력되는 텍스트 값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931948"/>
                  </a:ext>
                </a:extLst>
              </a:tr>
              <a:tr h="2545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endParaRPr lang="ko-KR" alt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입력되는 텍스트 값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754771"/>
                  </a:ext>
                </a:extLst>
              </a:tr>
              <a:tr h="2545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채무금액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  <a:endParaRPr lang="ko-KR" alt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리스트 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입력되는 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텍스트값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리스트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우상단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endParaRPr lang="en-US" altLang="ko-KR" sz="1000" b="0" i="0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535315"/>
                  </a:ext>
                </a:extLst>
              </a:tr>
              <a:tr h="2545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월소득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  <a:endParaRPr lang="ko-KR" alt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리스트 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입력되는 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텍스트값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리스트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우상단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endParaRPr lang="en-US" altLang="ko-KR" sz="1000" b="0" i="0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280000"/>
                  </a:ext>
                </a:extLst>
              </a:tr>
              <a:tr h="2545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본인명의 부동산 유무</a:t>
                      </a:r>
                      <a:endParaRPr lang="ko-KR" alt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라디오버튼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배너형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네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아니오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420373"/>
                  </a:ext>
                </a:extLst>
              </a:tr>
              <a:tr h="2545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부양가족 유무</a:t>
                      </a:r>
                      <a:endParaRPr lang="ko-KR" alt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라디오버튼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배너형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네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아니오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501232"/>
                  </a:ext>
                </a:extLst>
              </a:tr>
              <a:tr h="2545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상담예약시간</a:t>
                      </a:r>
                      <a:endParaRPr lang="ko-KR" alt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altLang="ko-KR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입력되는 텍스트 값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766052"/>
                  </a:ext>
                </a:extLst>
              </a:tr>
              <a:tr h="2545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디바이스 유무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PC,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모바일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사이트 </a:t>
                      </a:r>
                      <a:r>
                        <a:rPr lang="ko-KR" altLang="en-US" sz="10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제작형태</a:t>
                      </a:r>
                      <a:r>
                        <a:rPr lang="en-US" altLang="ko-KR" sz="1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(PC/</a:t>
                      </a:r>
                      <a:r>
                        <a:rPr lang="ko-KR" altLang="en-US" sz="1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모바일</a:t>
                      </a:r>
                      <a:r>
                        <a:rPr lang="en-US" altLang="ko-KR" sz="1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ko-KR" altLang="en-US" sz="1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 </a:t>
                      </a:r>
                      <a:r>
                        <a:rPr lang="ko-KR" altLang="en-US" sz="10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항목값</a:t>
                      </a:r>
                      <a:r>
                        <a:rPr lang="ko-KR" altLang="en-US" sz="1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유입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271771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03122"/>
              </p:ext>
            </p:extLst>
          </p:nvPr>
        </p:nvGraphicFramePr>
        <p:xfrm>
          <a:off x="366103" y="4842291"/>
          <a:ext cx="9305800" cy="16863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283">
                  <a:extLst>
                    <a:ext uri="{9D8B030D-6E8A-4147-A177-3AD203B41FA5}">
                      <a16:colId xmlns:a16="http://schemas.microsoft.com/office/drawing/2014/main" val="1907260318"/>
                    </a:ext>
                  </a:extLst>
                </a:gridCol>
                <a:gridCol w="2788112">
                  <a:extLst>
                    <a:ext uri="{9D8B030D-6E8A-4147-A177-3AD203B41FA5}">
                      <a16:colId xmlns:a16="http://schemas.microsoft.com/office/drawing/2014/main" val="591998612"/>
                    </a:ext>
                  </a:extLst>
                </a:gridCol>
                <a:gridCol w="1435096">
                  <a:extLst>
                    <a:ext uri="{9D8B030D-6E8A-4147-A177-3AD203B41FA5}">
                      <a16:colId xmlns:a16="http://schemas.microsoft.com/office/drawing/2014/main" val="915190453"/>
                    </a:ext>
                  </a:extLst>
                </a:gridCol>
                <a:gridCol w="3695309">
                  <a:extLst>
                    <a:ext uri="{9D8B030D-6E8A-4147-A177-3AD203B41FA5}">
                      <a16:colId xmlns:a16="http://schemas.microsoft.com/office/drawing/2014/main" val="554756156"/>
                    </a:ext>
                  </a:extLst>
                </a:gridCol>
              </a:tblGrid>
              <a:tr h="281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유형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</a:t>
                      </a:r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유입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관리자 등록 유무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비고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399763"/>
                  </a:ext>
                </a:extLst>
              </a:tr>
              <a:tr h="281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웹사이트에서 신청 시</a:t>
                      </a:r>
                      <a:r>
                        <a:rPr lang="en-US" altLang="ko-KR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 유입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706967"/>
                  </a:ext>
                </a:extLst>
              </a:tr>
              <a:tr h="281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전화상담예약</a:t>
                      </a:r>
                      <a:endParaRPr lang="ko-KR" alt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웹사이트에서 신청 시</a:t>
                      </a:r>
                      <a:r>
                        <a:rPr lang="en-US" altLang="ko-KR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 유입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826386"/>
                  </a:ext>
                </a:extLst>
              </a:tr>
              <a:tr h="281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10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endParaRPr lang="ko-KR" altLang="en-US" sz="1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웹사이트에서 신청 시</a:t>
                      </a:r>
                      <a:r>
                        <a:rPr lang="en-US" altLang="ko-KR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 유입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066152"/>
                  </a:ext>
                </a:extLst>
              </a:tr>
              <a:tr h="281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카카오톡</a:t>
                      </a:r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상담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카카오톡</a:t>
                      </a:r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상담 채널과 </a:t>
                      </a:r>
                      <a:r>
                        <a:rPr lang="ko-KR" altLang="en-US" sz="100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</a:t>
                      </a:r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0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API</a:t>
                      </a:r>
                      <a:r>
                        <a:rPr lang="en-US" altLang="ko-KR" sz="1000" u="none" strike="no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0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연동하여 </a:t>
                      </a:r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API</a:t>
                      </a:r>
                      <a:r>
                        <a:rPr lang="en-US" altLang="ko-KR" sz="100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00" u="none" strike="noStrike" dirty="0" smtClean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연동 </a:t>
                      </a:r>
                      <a:r>
                        <a:rPr lang="ko-KR" altLang="en-US" sz="1000" u="none" strike="noStrike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 필요 </a:t>
                      </a:r>
                      <a:r>
                        <a:rPr lang="en-US" altLang="ko-KR" sz="1000" u="none" strike="noStrike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 sz="1000" u="none" strike="noStrike" dirty="0" err="1">
                          <a:solidFill>
                            <a:srgbClr val="FF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</a:t>
                      </a:r>
                      <a:r>
                        <a:rPr lang="ko-KR" altLang="en-US" sz="1000" u="none" strike="noStrike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연동 불가시 관리자가 등록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297658"/>
                  </a:ext>
                </a:extLst>
              </a:tr>
              <a:tr h="281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전화상담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웹사이트를 보고 전화가 온 경우 관리자 등록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</a:t>
                      </a:r>
                      <a:endParaRPr lang="en-US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실제 전화가 온 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 대한 수치 파악 및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분석 목적</a:t>
                      </a:r>
                      <a:endParaRPr lang="en-US" altLang="ko-KR" sz="1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540318"/>
                  </a:ext>
                </a:extLst>
              </a:tr>
            </a:tbl>
          </a:graphicData>
        </a:graphic>
      </p:graphicFrame>
      <p:grpSp>
        <p:nvGrpSpPr>
          <p:cNvPr id="13" name="그룹 12"/>
          <p:cNvGrpSpPr/>
          <p:nvPr/>
        </p:nvGrpSpPr>
        <p:grpSpPr>
          <a:xfrm>
            <a:off x="9190115" y="109048"/>
            <a:ext cx="2842645" cy="1524918"/>
            <a:chOff x="9230742" y="4229008"/>
            <a:chExt cx="2842645" cy="1524918"/>
          </a:xfrm>
        </p:grpSpPr>
        <p:grpSp>
          <p:nvGrpSpPr>
            <p:cNvPr id="14" name="그룹 13"/>
            <p:cNvGrpSpPr/>
            <p:nvPr/>
          </p:nvGrpSpPr>
          <p:grpSpPr>
            <a:xfrm>
              <a:off x="9287547" y="4494484"/>
              <a:ext cx="1300371" cy="1259442"/>
              <a:chOff x="9671613" y="3602431"/>
              <a:chExt cx="1300371" cy="1259442"/>
            </a:xfrm>
          </p:grpSpPr>
          <p:sp>
            <p:nvSpPr>
              <p:cNvPr id="20" name="모서리가 둥근 직사각형 19"/>
              <p:cNvSpPr/>
              <p:nvPr/>
            </p:nvSpPr>
            <p:spPr>
              <a:xfrm>
                <a:off x="9671613" y="3602431"/>
                <a:ext cx="1300371" cy="1259442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9734710" y="3671719"/>
                <a:ext cx="1061509" cy="1131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15" name="그룹 14"/>
            <p:cNvGrpSpPr/>
            <p:nvPr/>
          </p:nvGrpSpPr>
          <p:grpSpPr>
            <a:xfrm>
              <a:off x="10679226" y="4494485"/>
              <a:ext cx="1300371" cy="1077204"/>
              <a:chOff x="11063292" y="3602432"/>
              <a:chExt cx="1300371" cy="1077204"/>
            </a:xfrm>
          </p:grpSpPr>
          <p:sp>
            <p:nvSpPr>
              <p:cNvPr id="18" name="모서리가 둥근 직사각형 17"/>
              <p:cNvSpPr/>
              <p:nvPr/>
            </p:nvSpPr>
            <p:spPr>
              <a:xfrm>
                <a:off x="11063292" y="3602432"/>
                <a:ext cx="1300371" cy="1077204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1077204" y="3671719"/>
                <a:ext cx="108234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9230742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606554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월소득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리스트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927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235280" y="641022"/>
            <a:ext cx="720000" cy="0"/>
          </a:xfrm>
          <a:prstGeom prst="line">
            <a:avLst/>
          </a:prstGeom>
          <a:ln w="38100">
            <a:solidFill>
              <a:srgbClr val="0030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/>
          <p:cNvSpPr txBox="1">
            <a:spLocks/>
          </p:cNvSpPr>
          <p:nvPr/>
        </p:nvSpPr>
        <p:spPr>
          <a:xfrm>
            <a:off x="110049" y="220614"/>
            <a:ext cx="3481563" cy="342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8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유효성검사</a:t>
            </a:r>
            <a:r>
              <a:rPr lang="ko-KR" altLang="en-US" sz="1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텍스트 입력 정책</a:t>
            </a:r>
            <a:endParaRPr lang="ko-KR" alt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4372" y="961535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 </a:t>
            </a:r>
            <a:r>
              <a:rPr lang="ko-KR" altLang="en-US" sz="14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유효성검사</a:t>
            </a:r>
            <a:endParaRPr lang="ko-KR" alt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223213"/>
              </p:ext>
            </p:extLst>
          </p:nvPr>
        </p:nvGraphicFramePr>
        <p:xfrm>
          <a:off x="385888" y="1269312"/>
          <a:ext cx="11190227" cy="3217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215">
                  <a:extLst>
                    <a:ext uri="{9D8B030D-6E8A-4147-A177-3AD203B41FA5}">
                      <a16:colId xmlns:a16="http://schemas.microsoft.com/office/drawing/2014/main" val="3214555977"/>
                    </a:ext>
                  </a:extLst>
                </a:gridCol>
                <a:gridCol w="1611816">
                  <a:extLst>
                    <a:ext uri="{9D8B030D-6E8A-4147-A177-3AD203B41FA5}">
                      <a16:colId xmlns:a16="http://schemas.microsoft.com/office/drawing/2014/main" val="3041199763"/>
                    </a:ext>
                  </a:extLst>
                </a:gridCol>
                <a:gridCol w="1955317">
                  <a:extLst>
                    <a:ext uri="{9D8B030D-6E8A-4147-A177-3AD203B41FA5}">
                      <a16:colId xmlns:a16="http://schemas.microsoft.com/office/drawing/2014/main" val="2114346781"/>
                    </a:ext>
                  </a:extLst>
                </a:gridCol>
                <a:gridCol w="2695167">
                  <a:extLst>
                    <a:ext uri="{9D8B030D-6E8A-4147-A177-3AD203B41FA5}">
                      <a16:colId xmlns:a16="http://schemas.microsoft.com/office/drawing/2014/main" val="2855110657"/>
                    </a:ext>
                  </a:extLst>
                </a:gridCol>
                <a:gridCol w="4227712">
                  <a:extLst>
                    <a:ext uri="{9D8B030D-6E8A-4147-A177-3AD203B41FA5}">
                      <a16:colId xmlns:a16="http://schemas.microsoft.com/office/drawing/2014/main" val="2356617459"/>
                    </a:ext>
                  </a:extLst>
                </a:gridCol>
              </a:tblGrid>
              <a:tr h="3364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No.</a:t>
                      </a:r>
                      <a:endParaRPr lang="en-US" sz="11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  <a:endParaRPr lang="ko-KR" altLang="en-US" sz="11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 데이터 검사</a:t>
                      </a:r>
                      <a:endParaRPr lang="ko-KR" altLang="en-US" sz="11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 통과 조건</a:t>
                      </a:r>
                      <a:endParaRPr lang="ko-KR" altLang="en-US" sz="11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시스템 </a:t>
                      </a:r>
                      <a:r>
                        <a:rPr lang="en-US" sz="11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Alert </a:t>
                      </a:r>
                      <a:r>
                        <a:rPr lang="ko-KR" altLang="en-US" sz="11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문구</a:t>
                      </a:r>
                      <a:endParaRPr lang="ko-KR" altLang="en-US" sz="11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778619"/>
                  </a:ext>
                </a:extLst>
              </a:tr>
              <a:tr h="3364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 –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not(A) –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이름을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입력해 주세요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91376"/>
                  </a:ext>
                </a:extLst>
              </a:tr>
              <a:tr h="5262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 확인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숫자 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 입력 제한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 –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 입력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/>
                      </a:r>
                      <a:b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 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–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 숫자 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자리 입력 제한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not(A) –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연락처를 입력해 주세요</a:t>
                      </a: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b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not(B) –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연락처를 정확히 입력해 주세요</a:t>
                      </a: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719366"/>
                  </a:ext>
                </a:extLst>
              </a:tr>
              <a:tr h="3364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상담시간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 확인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 –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상담시간입력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not(A) –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특수문자는 입력할 수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없습니다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922213"/>
                  </a:ext>
                </a:extLst>
              </a:tr>
              <a:tr h="3364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채무액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 확인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 – </a:t>
                      </a:r>
                      <a:r>
                        <a:rPr lang="ko-KR" altLang="en-US" sz="110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채무액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입력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not(A) – </a:t>
                      </a:r>
                      <a:r>
                        <a:rPr lang="ko-KR" altLang="en-US" sz="110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채무액을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숫자로 입력해 주세요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787445"/>
                  </a:ext>
                </a:extLst>
              </a:tr>
              <a:tr h="3364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소득액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 확인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 – 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100" u="none" strike="noStrike" baseline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월소득액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입력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not(A) –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소득액을 숫자로 입력해 주세요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100" b="0" i="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028933"/>
                  </a:ext>
                </a:extLst>
              </a:tr>
              <a:tr h="3364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본인 명의 부동산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 확인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– 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본인 명의 부동산 유무 선택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not(A) –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본인 명의 부동산 유무를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선택해 주세요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100" b="0" i="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85710"/>
                  </a:ext>
                </a:extLst>
              </a:tr>
              <a:tr h="3364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부양 가족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 확인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– 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부양가족  유무 선택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not(A) –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부양 가족 유무를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선택해 주세요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100" b="0" i="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029099"/>
                  </a:ext>
                </a:extLst>
              </a:tr>
              <a:tr h="3364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개인정보수집 및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이용 동의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동의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여부 확인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 –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개인정보수집 및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이용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동의 선택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not(A) –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개인정보수집 및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이용에 동의해야 무료상담을 신청할 수 있습니다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11006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4372" y="4870023"/>
            <a:ext cx="1625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 </a:t>
            </a:r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텍스트 입력 정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책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851683"/>
              </p:ext>
            </p:extLst>
          </p:nvPr>
        </p:nvGraphicFramePr>
        <p:xfrm>
          <a:off x="385888" y="5193585"/>
          <a:ext cx="6962515" cy="1556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215">
                  <a:extLst>
                    <a:ext uri="{9D8B030D-6E8A-4147-A177-3AD203B41FA5}">
                      <a16:colId xmlns:a16="http://schemas.microsoft.com/office/drawing/2014/main" val="2004049670"/>
                    </a:ext>
                  </a:extLst>
                </a:gridCol>
                <a:gridCol w="1611816">
                  <a:extLst>
                    <a:ext uri="{9D8B030D-6E8A-4147-A177-3AD203B41FA5}">
                      <a16:colId xmlns:a16="http://schemas.microsoft.com/office/drawing/2014/main" val="609946616"/>
                    </a:ext>
                  </a:extLst>
                </a:gridCol>
                <a:gridCol w="1955317">
                  <a:extLst>
                    <a:ext uri="{9D8B030D-6E8A-4147-A177-3AD203B41FA5}">
                      <a16:colId xmlns:a16="http://schemas.microsoft.com/office/drawing/2014/main" val="4178409912"/>
                    </a:ext>
                  </a:extLst>
                </a:gridCol>
                <a:gridCol w="2695167">
                  <a:extLst>
                    <a:ext uri="{9D8B030D-6E8A-4147-A177-3AD203B41FA5}">
                      <a16:colId xmlns:a16="http://schemas.microsoft.com/office/drawing/2014/main" val="3907742519"/>
                    </a:ext>
                  </a:extLst>
                </a:gridCol>
              </a:tblGrid>
              <a:tr h="3015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No.</a:t>
                      </a:r>
                      <a:endParaRPr lang="en-US" sz="11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  <a:endParaRPr lang="ko-KR" altLang="en-US" sz="11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u="none" strike="noStrike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길이제한</a:t>
                      </a:r>
                      <a:endParaRPr lang="ko-KR" altLang="en-US" sz="11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u="none" strike="noStrike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입력불가</a:t>
                      </a:r>
                      <a:endParaRPr lang="ko-KR" altLang="en-US" sz="11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310797"/>
                  </a:ext>
                </a:extLst>
              </a:tr>
              <a:tr h="3044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특수문자 입력 불가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704151"/>
                  </a:ext>
                </a:extLst>
              </a:tr>
              <a:tr h="3044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최대 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자리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10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숫자외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문자 입력 불가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4184"/>
                  </a:ext>
                </a:extLst>
              </a:tr>
              <a:tr h="3410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상담시간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ko-KR" altLang="en-US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특수문자 입력 불가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120515"/>
                  </a:ext>
                </a:extLst>
              </a:tr>
              <a:tr h="3044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채무액</a:t>
                      </a:r>
                      <a:r>
                        <a:rPr lang="en-US" altLang="ko-KR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소득액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x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ko-KR" altLang="en-US" sz="110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숫자외</a:t>
                      </a:r>
                      <a:r>
                        <a:rPr lang="ko-KR" altLang="en-US" sz="11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문자 입력 불가</a:t>
                      </a:r>
                      <a:endParaRPr lang="en-US" altLang="ko-KR" sz="1100" u="none" strike="no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449" marR="7449" marT="7449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604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43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235280" y="641022"/>
            <a:ext cx="720000" cy="0"/>
          </a:xfrm>
          <a:prstGeom prst="line">
            <a:avLst/>
          </a:prstGeom>
          <a:ln w="38100">
            <a:solidFill>
              <a:srgbClr val="0030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/>
          <p:cNvSpPr txBox="1">
            <a:spLocks/>
          </p:cNvSpPr>
          <p:nvPr/>
        </p:nvSpPr>
        <p:spPr>
          <a:xfrm>
            <a:off x="110049" y="220614"/>
            <a:ext cx="1662189" cy="342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레이아웃</a:t>
            </a:r>
            <a:endParaRPr lang="ko-KR" alt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9CD2D4-7579-41C1-8E45-CB1002EBD602}"/>
              </a:ext>
            </a:extLst>
          </p:cNvPr>
          <p:cNvSpPr txBox="1"/>
          <p:nvPr/>
        </p:nvSpPr>
        <p:spPr>
          <a:xfrm>
            <a:off x="8207683" y="5649795"/>
            <a:ext cx="11320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(PC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화면으로 보기</a:t>
            </a:r>
            <a:r>
              <a:rPr lang="en-US" altLang="ko-KR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DA7E9-1A4C-4A6A-A60D-B10F0DF32F3A}"/>
              </a:ext>
            </a:extLst>
          </p:cNvPr>
          <p:cNvSpPr txBox="1"/>
          <p:nvPr/>
        </p:nvSpPr>
        <p:spPr>
          <a:xfrm>
            <a:off x="402522" y="5964457"/>
            <a:ext cx="35525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크로스브라우징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PC : IE11, chrome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최신버전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Mo : safari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최신버전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chrome 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최신버전</a:t>
            </a:r>
            <a:r>
              <a:rPr lang="en-US" altLang="ko-KR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삼성브라우저 최신버전</a:t>
            </a:r>
          </a:p>
          <a:p>
            <a:endParaRPr lang="ko-KR" alt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사각형: 둥근 모서리 19">
            <a:extLst>
              <a:ext uri="{FF2B5EF4-FFF2-40B4-BE49-F238E27FC236}">
                <a16:creationId xmlns:a16="http://schemas.microsoft.com/office/drawing/2014/main" id="{E16DB0B6-F598-40BC-8A9C-504A0B1D8CF8}"/>
              </a:ext>
            </a:extLst>
          </p:cNvPr>
          <p:cNvSpPr/>
          <p:nvPr/>
        </p:nvSpPr>
        <p:spPr>
          <a:xfrm>
            <a:off x="7476818" y="1252853"/>
            <a:ext cx="2453833" cy="3865810"/>
          </a:xfrm>
          <a:prstGeom prst="roundRect">
            <a:avLst>
              <a:gd name="adj" fmla="val 5306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355258-356D-4411-ACBF-14B0DD845593}"/>
              </a:ext>
            </a:extLst>
          </p:cNvPr>
          <p:cNvSpPr/>
          <p:nvPr/>
        </p:nvSpPr>
        <p:spPr>
          <a:xfrm>
            <a:off x="7544039" y="1364800"/>
            <a:ext cx="2305590" cy="36381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>
                <a:solidFill>
                  <a:schemeClr val="tx1"/>
                </a:solidFill>
              </a:rPr>
              <a:t>GNB</a:t>
            </a:r>
            <a:endParaRPr lang="ko-KR" altLang="en-US" sz="60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6FBCDD-A118-4E4C-8646-DE3B79D208F3}"/>
              </a:ext>
            </a:extLst>
          </p:cNvPr>
          <p:cNvSpPr/>
          <p:nvPr/>
        </p:nvSpPr>
        <p:spPr>
          <a:xfrm>
            <a:off x="7544039" y="1364800"/>
            <a:ext cx="2305590" cy="2004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849175-1E98-426B-8137-56E2F258D5C7}"/>
              </a:ext>
            </a:extLst>
          </p:cNvPr>
          <p:cNvSpPr/>
          <p:nvPr/>
        </p:nvSpPr>
        <p:spPr>
          <a:xfrm>
            <a:off x="7662013" y="1564684"/>
            <a:ext cx="2069642" cy="34382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BODY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0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489E2489-7B72-4FF6-ACC7-3E203174609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12367" y="1142582"/>
            <a:ext cx="6553432" cy="3976081"/>
            <a:chOff x="595684" y="1261242"/>
            <a:chExt cx="6668463" cy="43525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8FE5B3A-E2E8-4BB3-A591-462F3F69094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5684" y="1741929"/>
              <a:ext cx="6668462" cy="38718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1E9ECDB-232F-4355-80A4-3C6137803BA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5685" y="1261242"/>
              <a:ext cx="6668462" cy="48256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2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31D9CBA-B2E5-4533-BE38-B00839227384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91449" y="1342372"/>
              <a:ext cx="80602" cy="85583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98DB16C-1409-4C1E-92BE-AD9C6861F2F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335094" y="1481415"/>
              <a:ext cx="5661646" cy="213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law-ace.co.kr</a:t>
              </a:r>
            </a:p>
          </p:txBody>
        </p:sp>
        <p:sp>
          <p:nvSpPr>
            <p:cNvPr id="25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4E4DEDD9-97F7-4804-A6AD-2AE42F9D5FE4}"/>
                </a:ext>
              </a:extLst>
            </p:cNvPr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1397435" y="1528315"/>
              <a:ext cx="76703" cy="119816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6" name="Navigation Buttons">
              <a:extLst>
                <a:ext uri="{FF2B5EF4-FFF2-40B4-BE49-F238E27FC236}">
                  <a16:creationId xmlns:a16="http://schemas.microsoft.com/office/drawing/2014/main" id="{765EE6E8-8245-4CFF-8580-7C93021B9685}"/>
                </a:ext>
              </a:extLst>
            </p:cNvPr>
            <p:cNvGrpSpPr/>
            <p:nvPr/>
          </p:nvGrpSpPr>
          <p:grpSpPr>
            <a:xfrm>
              <a:off x="698796" y="1510485"/>
              <a:ext cx="525213" cy="155476"/>
              <a:chOff x="698796" y="1510485"/>
              <a:chExt cx="525213" cy="155476"/>
            </a:xfrm>
          </p:grpSpPr>
          <p:sp>
            <p:nvSpPr>
              <p:cNvPr id="27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F327B319-7489-4A88-B014-EF91F58D3FD0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698796" y="1534020"/>
                <a:ext cx="124803" cy="108405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8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670C1D7-DDB5-4483-9E91-A230DBB7BE5B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896401" y="1534020"/>
                <a:ext cx="124803" cy="108405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03532DC-AF9F-4F17-8C25-1AEE7315E07F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094006" y="1510485"/>
                <a:ext cx="130003" cy="15547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2281C6D-FF27-478A-876D-F28C41B95EC7}"/>
              </a:ext>
            </a:extLst>
          </p:cNvPr>
          <p:cNvSpPr/>
          <p:nvPr/>
        </p:nvSpPr>
        <p:spPr>
          <a:xfrm>
            <a:off x="412363" y="1763816"/>
            <a:ext cx="6553431" cy="2885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C846B3C-3D57-438D-A555-F4C97C50A492}"/>
              </a:ext>
            </a:extLst>
          </p:cNvPr>
          <p:cNvSpPr/>
          <p:nvPr/>
        </p:nvSpPr>
        <p:spPr>
          <a:xfrm>
            <a:off x="698064" y="2046334"/>
            <a:ext cx="5962348" cy="273804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BODY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72EBE7-E0EB-41AE-ADC7-EA413181AA17}"/>
              </a:ext>
            </a:extLst>
          </p:cNvPr>
          <p:cNvSpPr txBox="1"/>
          <p:nvPr/>
        </p:nvSpPr>
        <p:spPr>
          <a:xfrm>
            <a:off x="429209" y="797035"/>
            <a:ext cx="3321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/>
              <a:t>PC</a:t>
            </a:r>
            <a:endParaRPr lang="ko-KR" altLang="en-US" sz="1100" b="1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2281C6D-FF27-478A-876D-F28C41B95EC7}"/>
              </a:ext>
            </a:extLst>
          </p:cNvPr>
          <p:cNvSpPr/>
          <p:nvPr/>
        </p:nvSpPr>
        <p:spPr>
          <a:xfrm>
            <a:off x="402522" y="4541595"/>
            <a:ext cx="6553431" cy="2885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고정 </a:t>
            </a:r>
            <a:r>
              <a:rPr lang="ko-KR" altLang="en-US" sz="1000" dirty="0" err="1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플로팅</a:t>
            </a:r>
            <a:r>
              <a:rPr lang="ko-KR" altLang="en-US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배너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2281C6D-FF27-478A-876D-F28C41B95EC7}"/>
              </a:ext>
            </a:extLst>
          </p:cNvPr>
          <p:cNvSpPr/>
          <p:nvPr/>
        </p:nvSpPr>
        <p:spPr>
          <a:xfrm>
            <a:off x="6065655" y="2282267"/>
            <a:ext cx="575806" cy="1093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퀵배너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2281C6D-FF27-478A-876D-F28C41B95EC7}"/>
              </a:ext>
            </a:extLst>
          </p:cNvPr>
          <p:cNvSpPr/>
          <p:nvPr/>
        </p:nvSpPr>
        <p:spPr>
          <a:xfrm>
            <a:off x="7671844" y="1562839"/>
            <a:ext cx="2069642" cy="20939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고정 </a:t>
            </a:r>
            <a:r>
              <a:rPr lang="ko-KR" altLang="en-US" sz="1000" dirty="0" err="1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플로팅</a:t>
            </a:r>
            <a:r>
              <a:rPr lang="ko-KR" altLang="en-US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배너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72EBE7-E0EB-41AE-ADC7-EA413181AA17}"/>
              </a:ext>
            </a:extLst>
          </p:cNvPr>
          <p:cNvSpPr txBox="1"/>
          <p:nvPr/>
        </p:nvSpPr>
        <p:spPr>
          <a:xfrm>
            <a:off x="7326653" y="791359"/>
            <a:ext cx="607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 smtClean="0"/>
              <a:t>모바일</a:t>
            </a:r>
            <a:endParaRPr lang="ko-KR" altLang="en-US" sz="11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877666-ABE6-43CB-B336-76716A4F7307}"/>
              </a:ext>
            </a:extLst>
          </p:cNvPr>
          <p:cNvSpPr txBox="1"/>
          <p:nvPr/>
        </p:nvSpPr>
        <p:spPr>
          <a:xfrm>
            <a:off x="4058455" y="5346748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Min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1280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~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Max 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1920</a:t>
            </a:r>
            <a:endParaRPr lang="en-US" altLang="ko-KR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endParaRPr lang="en-US" altLang="ko-KR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1920 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 좌우</a:t>
            </a:r>
            <a:r>
              <a:rPr lang="en-US" altLang="ko-KR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여백 처리</a:t>
            </a:r>
            <a:endParaRPr lang="en-US" altLang="ko-KR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1280 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이하 </a:t>
            </a:r>
            <a:r>
              <a:rPr lang="ko-KR" altLang="en-US" sz="900" dirty="0" err="1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횡스크롤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처리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4D08AD5-9EF3-4246-B163-4E73663613F8}"/>
              </a:ext>
            </a:extLst>
          </p:cNvPr>
          <p:cNvCxnSpPr>
            <a:cxnSpLocks/>
          </p:cNvCxnSpPr>
          <p:nvPr/>
        </p:nvCxnSpPr>
        <p:spPr>
          <a:xfrm>
            <a:off x="6654185" y="4522566"/>
            <a:ext cx="0" cy="960698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A2577FA-DF78-4941-AE05-8799306653E6}"/>
              </a:ext>
            </a:extLst>
          </p:cNvPr>
          <p:cNvCxnSpPr>
            <a:cxnSpLocks/>
          </p:cNvCxnSpPr>
          <p:nvPr/>
        </p:nvCxnSpPr>
        <p:spPr>
          <a:xfrm>
            <a:off x="698064" y="4522566"/>
            <a:ext cx="0" cy="960698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A1B2D64-A428-4970-BD5C-5DB902854755}"/>
              </a:ext>
            </a:extLst>
          </p:cNvPr>
          <p:cNvCxnSpPr/>
          <p:nvPr/>
        </p:nvCxnSpPr>
        <p:spPr>
          <a:xfrm>
            <a:off x="707896" y="5294621"/>
            <a:ext cx="5976000" cy="0"/>
          </a:xfrm>
          <a:prstGeom prst="line">
            <a:avLst/>
          </a:prstGeom>
          <a:ln w="3175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D877666-ABE6-43CB-B336-76716A4F7307}"/>
              </a:ext>
            </a:extLst>
          </p:cNvPr>
          <p:cNvSpPr txBox="1"/>
          <p:nvPr/>
        </p:nvSpPr>
        <p:spPr>
          <a:xfrm>
            <a:off x="8140174" y="5346748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Min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360~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Max 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852</a:t>
            </a:r>
            <a:endParaRPr lang="en-US" altLang="ko-KR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endParaRPr lang="en-US" altLang="ko-KR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A2577FA-DF78-4941-AE05-8799306653E6}"/>
              </a:ext>
            </a:extLst>
          </p:cNvPr>
          <p:cNvCxnSpPr>
            <a:cxnSpLocks/>
          </p:cNvCxnSpPr>
          <p:nvPr/>
        </p:nvCxnSpPr>
        <p:spPr>
          <a:xfrm>
            <a:off x="7534207" y="4483187"/>
            <a:ext cx="0" cy="960698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A1B2D64-A428-4970-BD5C-5DB902854755}"/>
              </a:ext>
            </a:extLst>
          </p:cNvPr>
          <p:cNvCxnSpPr/>
          <p:nvPr/>
        </p:nvCxnSpPr>
        <p:spPr>
          <a:xfrm>
            <a:off x="7544039" y="5255242"/>
            <a:ext cx="2187616" cy="0"/>
          </a:xfrm>
          <a:prstGeom prst="line">
            <a:avLst/>
          </a:prstGeom>
          <a:ln w="3175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A2577FA-DF78-4941-AE05-8799306653E6}"/>
              </a:ext>
            </a:extLst>
          </p:cNvPr>
          <p:cNvCxnSpPr>
            <a:cxnSpLocks/>
          </p:cNvCxnSpPr>
          <p:nvPr/>
        </p:nvCxnSpPr>
        <p:spPr>
          <a:xfrm>
            <a:off x="9731655" y="4561210"/>
            <a:ext cx="0" cy="960698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원호 1"/>
          <p:cNvSpPr/>
          <p:nvPr/>
        </p:nvSpPr>
        <p:spPr>
          <a:xfrm>
            <a:off x="6288860" y="357487"/>
            <a:ext cx="1187958" cy="822151"/>
          </a:xfrm>
          <a:prstGeom prst="arc">
            <a:avLst>
              <a:gd name="adj1" fmla="val 10857886"/>
              <a:gd name="adj2" fmla="val 0"/>
            </a:avLst>
          </a:prstGeom>
          <a:ln>
            <a:solidFill>
              <a:schemeClr val="accent5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511615" y="271354"/>
            <a:ext cx="848309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자동변환처리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1764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235280" y="641022"/>
            <a:ext cx="720000" cy="0"/>
          </a:xfrm>
          <a:prstGeom prst="line">
            <a:avLst/>
          </a:prstGeom>
          <a:ln w="38100">
            <a:solidFill>
              <a:srgbClr val="0030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/>
          <p:cNvSpPr txBox="1">
            <a:spLocks/>
          </p:cNvSpPr>
          <p:nvPr/>
        </p:nvSpPr>
        <p:spPr>
          <a:xfrm>
            <a:off x="110049" y="220614"/>
            <a:ext cx="1662189" cy="342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컨텐츠 구조</a:t>
            </a:r>
            <a:endParaRPr lang="ko-KR" alt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47304" y="1161288"/>
            <a:ext cx="2798064" cy="536460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47304" y="1161288"/>
            <a:ext cx="2798064" cy="3139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헤더 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GNB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47304" y="1475232"/>
            <a:ext cx="2798064" cy="92255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메인배너</a:t>
            </a:r>
            <a:endParaRPr lang="en-US" altLang="ko-KR" sz="100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(+DB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유입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147304" y="2397784"/>
            <a:ext cx="2798064" cy="418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47304" y="2816352"/>
            <a:ext cx="2798064" cy="418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회생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면책 성공사례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147304" y="3645264"/>
            <a:ext cx="2798064" cy="418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대표변호사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147304" y="3230808"/>
            <a:ext cx="2798064" cy="418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신청현황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47304" y="4055608"/>
            <a:ext cx="2798064" cy="418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자주하는 질문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147304" y="4880469"/>
            <a:ext cx="2798064" cy="4010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147304" y="5281495"/>
            <a:ext cx="2798064" cy="43745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누적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탕감액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띠배너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47304" y="5718949"/>
            <a:ext cx="2798064" cy="3883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푸터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147304" y="6107328"/>
            <a:ext cx="2798064" cy="41856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하단 고정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플로팅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배너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046537" y="1475232"/>
            <a:ext cx="588264" cy="16550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45368" y="1774738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퀵배너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탑배너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포함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2EBE7-E0EB-41AE-ADC7-EA413181AA17}"/>
              </a:ext>
            </a:extLst>
          </p:cNvPr>
          <p:cNvSpPr txBox="1"/>
          <p:nvPr/>
        </p:nvSpPr>
        <p:spPr>
          <a:xfrm>
            <a:off x="1133167" y="825059"/>
            <a:ext cx="3321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/>
              <a:t>PC</a:t>
            </a:r>
            <a:endParaRPr lang="ko-KR" altLang="en-US" sz="1100" b="1"/>
          </a:p>
        </p:txBody>
      </p:sp>
      <p:sp>
        <p:nvSpPr>
          <p:cNvPr id="4" name="TextBox 3"/>
          <p:cNvSpPr txBox="1"/>
          <p:nvPr/>
        </p:nvSpPr>
        <p:spPr>
          <a:xfrm>
            <a:off x="4119104" y="6193501"/>
            <a:ext cx="18293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메인배너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이후영역부터 고정 노출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3762488" y="6316612"/>
            <a:ext cx="35661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82241" y="800965"/>
            <a:ext cx="9220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chemeClr val="accent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GNB </a:t>
            </a:r>
            <a:r>
              <a:rPr lang="ko-KR" altLang="en-US" sz="1000" dirty="0" err="1" smtClean="0">
                <a:solidFill>
                  <a:schemeClr val="accent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노출항목</a:t>
            </a:r>
            <a:endParaRPr lang="ko-KR" altLang="en-US" sz="1000" dirty="0">
              <a:solidFill>
                <a:schemeClr val="accent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 flipH="1">
            <a:off x="4386475" y="2980364"/>
            <a:ext cx="0" cy="29986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V="1">
            <a:off x="667512" y="1164377"/>
            <a:ext cx="720000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V="1">
            <a:off x="643464" y="2302764"/>
            <a:ext cx="720000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787304" y="1204248"/>
            <a:ext cx="0" cy="1008600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7555" y="1571799"/>
            <a:ext cx="91242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첫 화면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진입시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노출영역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1892808" y="791488"/>
            <a:ext cx="658368" cy="2651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30901" y="3359239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투명 레이어 배너 형태로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메인진입부터 노출부터 노출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147304" y="4473356"/>
            <a:ext cx="2798064" cy="4070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에이스의  특별한서비스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72EBE7-E0EB-41AE-ADC7-EA413181AA17}"/>
              </a:ext>
            </a:extLst>
          </p:cNvPr>
          <p:cNvSpPr txBox="1"/>
          <p:nvPr/>
        </p:nvSpPr>
        <p:spPr>
          <a:xfrm>
            <a:off x="6776087" y="830995"/>
            <a:ext cx="5501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endParaRPr lang="ko-KR" altLang="en-US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865983" y="1159795"/>
            <a:ext cx="2798064" cy="536460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865983" y="1159795"/>
            <a:ext cx="2798064" cy="3139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헤더 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GNB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875127" y="1787446"/>
            <a:ext cx="2798064" cy="8790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메인배너</a:t>
            </a:r>
            <a:endParaRPr lang="en-US" altLang="ko-KR" sz="100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(+DB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유입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875127" y="2582579"/>
            <a:ext cx="2798064" cy="418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875127" y="3001147"/>
            <a:ext cx="2798064" cy="418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회생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면책 성공사례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875127" y="3830059"/>
            <a:ext cx="2798064" cy="418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대표변호사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875127" y="3415603"/>
            <a:ext cx="2798064" cy="418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신청현황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875127" y="4240403"/>
            <a:ext cx="2798064" cy="418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자주하는 질문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875127" y="5065264"/>
            <a:ext cx="2798064" cy="4010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875127" y="5466291"/>
            <a:ext cx="2798064" cy="36932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누적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탕감액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띠배너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865983" y="5831098"/>
            <a:ext cx="2798064" cy="3391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푸터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875127" y="4658151"/>
            <a:ext cx="2798064" cy="4070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에이스의  특별한서비스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9837783" y="5800020"/>
            <a:ext cx="588264" cy="3702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탑버튼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37783" y="1507687"/>
            <a:ext cx="20297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투명 레이어 배너 형태로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상단 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유입 영역 벗어나는 순간부터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상단 고정으로 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gnb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처럼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노출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9481167" y="1316767"/>
            <a:ext cx="35661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837783" y="1213808"/>
            <a:ext cx="18085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상단 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유입 영역 벗어나면 숨김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875127" y="1463182"/>
            <a:ext cx="2798064" cy="31394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상단고정 플로팅 배너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61" name="직선 연결선 60"/>
          <p:cNvCxnSpPr/>
          <p:nvPr/>
        </p:nvCxnSpPr>
        <p:spPr>
          <a:xfrm flipV="1">
            <a:off x="6190666" y="1164377"/>
            <a:ext cx="720000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V="1">
            <a:off x="6190666" y="2489038"/>
            <a:ext cx="720000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>
            <a:off x="6310458" y="1204248"/>
            <a:ext cx="0" cy="1193536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75830" y="1552322"/>
            <a:ext cx="91242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첫 화면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진입시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노출영역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866266" y="6172139"/>
            <a:ext cx="2798064" cy="33844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하단 고정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플로팅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배너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9481167" y="1623737"/>
            <a:ext cx="35661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827363" y="6270914"/>
            <a:ext cx="17508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첫 화면 접속부터 고정 노출이나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타입 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한해서만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노출처리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타입 </a:t>
            </a:r>
            <a:r>
              <a:rPr lang="en-US" altLang="ko-KR" sz="1000" dirty="0" smtClean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r>
              <a:rPr lang="ko-KR" altLang="en-US" sz="1000" dirty="0" smtClean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경우 미사용</a:t>
            </a:r>
            <a:endParaRPr lang="ko-KR" altLang="en-US" sz="1000" dirty="0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9494883" y="6362440"/>
            <a:ext cx="35661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00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화면설계서</a:t>
            </a:r>
            <a:endParaRPr lang="en-US" altLang="ko-KR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5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PC</a:t>
            </a:r>
          </a:p>
        </p:txBody>
      </p:sp>
    </p:spTree>
    <p:extLst>
      <p:ext uri="{BB962C8B-B14F-4D97-AF65-F5344CB8AC3E}">
        <p14:creationId xmlns:p14="http://schemas.microsoft.com/office/powerpoint/2010/main" val="381165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674291"/>
              </p:ext>
            </p:extLst>
          </p:nvPr>
        </p:nvGraphicFramePr>
        <p:xfrm>
          <a:off x="9303719" y="412801"/>
          <a:ext cx="2769668" cy="44638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헤더</a:t>
                      </a:r>
                      <a:r>
                        <a:rPr lang="en-US" altLang="ko-KR" sz="9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endParaRPr lang="en-US" altLang="ko-KR" sz="9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en-US" altLang="ko-KR" sz="9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디자인시안의 모션 참고</a:t>
                      </a:r>
                      <a:endParaRPr lang="en-US" altLang="ko-KR" sz="9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메인화면</a:t>
                      </a:r>
                      <a:r>
                        <a:rPr lang="ko-KR" altLang="en-US" sz="9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진입 시</a:t>
                      </a:r>
                      <a:r>
                        <a:rPr lang="en-US" altLang="ko-KR" sz="9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DB</a:t>
                      </a:r>
                      <a:r>
                        <a:rPr lang="ko-KR" altLang="en-US" sz="9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입력화면</a:t>
                      </a:r>
                      <a:r>
                        <a:rPr lang="ko-KR" altLang="en-US" sz="9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3/2</a:t>
                      </a:r>
                      <a:r>
                        <a:rPr lang="ko-KR" altLang="en-US" sz="9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는 </a:t>
                      </a:r>
                      <a:r>
                        <a:rPr lang="ko-KR" altLang="en-US" sz="9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노출 처리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헤더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로고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GNB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메뉴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전화번호로 구성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GNB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해당영역으로 포커스 이동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움직이는 영상 이미지를 백그라운드로 적용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[DB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 검사 진행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장표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필수항목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디바이스 정보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→ 디바이스 정보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PC,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모바일로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유입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채무금액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월소득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→ 리스트박스는 예시와 같이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미 선택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NULL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통과되면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유입되며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완료팝업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(P38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 항목에서 선택 또는 입력 데이터 없이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무료상담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신청버튼을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누를 경우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얼랏문구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이름을 입력해 주세요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3-1.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자세히 버튼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P37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팝업 노출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1448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8114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헤더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메인배너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18613" y="974177"/>
            <a:ext cx="9111651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9250" y="608139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546174" y="568892"/>
            <a:ext cx="1069338" cy="312201"/>
            <a:chOff x="412221" y="645427"/>
            <a:chExt cx="1349829" cy="400596"/>
          </a:xfrm>
        </p:grpSpPr>
        <p:grpSp>
          <p:nvGrpSpPr>
            <p:cNvPr id="20" name="그룹 19"/>
            <p:cNvGrpSpPr/>
            <p:nvPr/>
          </p:nvGrpSpPr>
          <p:grpSpPr>
            <a:xfrm>
              <a:off x="412221" y="645427"/>
              <a:ext cx="1349829" cy="400596"/>
              <a:chOff x="3537386" y="1420931"/>
              <a:chExt cx="1349829" cy="400596"/>
            </a:xfrm>
          </p:grpSpPr>
          <p:sp>
            <p:nvSpPr>
              <p:cNvPr id="22" name="직사각형 21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/>
            <p:cNvSpPr txBox="1"/>
            <p:nvPr/>
          </p:nvSpPr>
          <p:spPr>
            <a:xfrm>
              <a:off x="906637" y="734862"/>
              <a:ext cx="360996" cy="215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로고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125" y="595251"/>
            <a:ext cx="211886" cy="225645"/>
          </a:xfrm>
          <a:prstGeom prst="rect">
            <a:avLst/>
          </a:prstGeom>
        </p:spPr>
      </p:pic>
      <p:sp>
        <p:nvSpPr>
          <p:cNvPr id="75" name="직사각형 74"/>
          <p:cNvSpPr/>
          <p:nvPr/>
        </p:nvSpPr>
        <p:spPr>
          <a:xfrm>
            <a:off x="118611" y="987066"/>
            <a:ext cx="9111653" cy="3993565"/>
          </a:xfrm>
          <a:prstGeom prst="rect">
            <a:avLst/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84396" y="1850761"/>
            <a:ext cx="34515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말 못 할 </a:t>
            </a:r>
            <a:r>
              <a:rPr lang="ko-KR" altLang="en-US" sz="30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빚고민</a:t>
            </a:r>
            <a:endParaRPr lang="en-US" altLang="ko-KR" sz="30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3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도움이 필요하신가요</a:t>
            </a:r>
            <a:r>
              <a:rPr lang="en-US" altLang="ko-KR" sz="3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46" y="3068118"/>
            <a:ext cx="4273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6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만건</a:t>
            </a:r>
            <a:r>
              <a:rPr lang="ko-KR" altLang="en-US" sz="16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이상 소송 경험으로   </a:t>
            </a:r>
            <a:r>
              <a:rPr lang="en-US" altLang="ko-KR" sz="16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7450</a:t>
            </a:r>
            <a:r>
              <a:rPr lang="ko-KR" altLang="en-US" sz="16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      빚을 줄여준</a:t>
            </a:r>
            <a:endParaRPr lang="en-US" altLang="ko-KR" sz="16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전문가가 책임집니다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altLang="ko-KR" sz="16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118611" y="4486683"/>
            <a:ext cx="9111651" cy="1262384"/>
            <a:chOff x="125598" y="4374487"/>
            <a:chExt cx="9111651" cy="1262384"/>
          </a:xfrm>
        </p:grpSpPr>
        <p:sp>
          <p:nvSpPr>
            <p:cNvPr id="11" name="직사각형 10"/>
            <p:cNvSpPr/>
            <p:nvPr/>
          </p:nvSpPr>
          <p:spPr>
            <a:xfrm>
              <a:off x="125598" y="4374487"/>
              <a:ext cx="9111651" cy="126238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7122436" y="4641727"/>
              <a:ext cx="1533746" cy="585863"/>
            </a:xfrm>
            <a:prstGeom prst="roundRect">
              <a:avLst/>
            </a:prstGeom>
            <a:solidFill>
              <a:srgbClr val="FF6B4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무료 상담신청</a:t>
              </a:r>
              <a:endPara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968997" y="4627667"/>
              <a:ext cx="13204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err="1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endParaRPr lang="ko-KR" altLang="en-US" sz="1000" b="1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435795" y="4627667"/>
              <a:ext cx="13204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err="1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월소득</a:t>
              </a:r>
              <a:endParaRPr lang="ko-KR" altLang="en-US" sz="1000" b="1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918661" y="5218696"/>
              <a:ext cx="1350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>
              <a:off x="2459274" y="5218696"/>
              <a:ext cx="1368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3999887" y="5218696"/>
              <a:ext cx="1350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/>
            <p:cNvCxnSpPr/>
            <p:nvPr/>
          </p:nvCxnSpPr>
          <p:spPr>
            <a:xfrm>
              <a:off x="5540499" y="5218696"/>
              <a:ext cx="1350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그룹 58"/>
            <p:cNvGrpSpPr/>
            <p:nvPr/>
          </p:nvGrpSpPr>
          <p:grpSpPr>
            <a:xfrm>
              <a:off x="2381426" y="4627667"/>
              <a:ext cx="1320409" cy="270684"/>
              <a:chOff x="2523351" y="3717205"/>
              <a:chExt cx="1320409" cy="270684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2523351" y="3741668"/>
                <a:ext cx="132040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b="1" dirty="0" smtClean="0">
                    <a:solidFill>
                      <a:schemeClr val="bg1">
                        <a:lumMod val="9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연락처</a:t>
                </a:r>
                <a:endParaRPr lang="ko-KR" altLang="en-US" sz="1000" b="1" dirty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916941" y="3717205"/>
                <a:ext cx="24558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smtClean="0">
                    <a:solidFill>
                      <a:srgbClr val="FF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*</a:t>
                </a:r>
                <a:endParaRPr lang="ko-KR" altLang="en-US" sz="1000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58" name="그룹 57"/>
            <p:cNvGrpSpPr/>
            <p:nvPr/>
          </p:nvGrpSpPr>
          <p:grpSpPr>
            <a:xfrm>
              <a:off x="851949" y="4627667"/>
              <a:ext cx="527259" cy="275670"/>
              <a:chOff x="1095651" y="3727608"/>
              <a:chExt cx="527259" cy="275670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1095651" y="3741668"/>
                <a:ext cx="43794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b="1" dirty="0" smtClean="0">
                    <a:solidFill>
                      <a:schemeClr val="bg1">
                        <a:lumMod val="9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이름</a:t>
                </a:r>
                <a:r>
                  <a:rPr lang="ko-KR" altLang="en-US" sz="1100" b="1" dirty="0" smtClean="0">
                    <a:solidFill>
                      <a:schemeClr val="bg1">
                        <a:lumMod val="9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endParaRPr lang="ko-KR" altLang="en-US" sz="1100" b="1" dirty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377330" y="3727608"/>
                <a:ext cx="24558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smtClean="0">
                    <a:solidFill>
                      <a:srgbClr val="FF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*</a:t>
                </a:r>
                <a:endParaRPr lang="ko-KR" altLang="en-US" sz="1000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60" name="TextBox 59"/>
            <p:cNvSpPr txBox="1"/>
            <p:nvPr/>
          </p:nvSpPr>
          <p:spPr>
            <a:xfrm>
              <a:off x="2381426" y="4941757"/>
              <a:ext cx="1428596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50" dirty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85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‘-’</a:t>
              </a:r>
              <a:r>
                <a:rPr lang="ko-KR" altLang="en-US" sz="85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는 제외하고 입력해 주세요</a:t>
              </a:r>
              <a:endParaRPr lang="ko-KR" altLang="en-US" sz="85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23153" y="4941757"/>
              <a:ext cx="1090363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50" dirty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85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이름을 입력해주세요</a:t>
              </a:r>
              <a:endParaRPr lang="ko-KR" altLang="en-US" sz="85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155552" y="5297799"/>
              <a:ext cx="144142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개인정보 수집 및 이용 동의   </a:t>
              </a:r>
              <a:r>
                <a:rPr lang="ko-KR" altLang="en-US" sz="700" u="sng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자세히</a:t>
              </a:r>
              <a:endParaRPr lang="ko-KR" altLang="en-US" sz="700" u="sng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951486" y="4941757"/>
              <a:ext cx="779381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50" dirty="0" err="1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85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선택</a:t>
              </a:r>
              <a:endParaRPr lang="ko-KR" altLang="en-US" sz="85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494527" y="4941757"/>
              <a:ext cx="684803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50" dirty="0" err="1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월소득</a:t>
              </a:r>
              <a:r>
                <a:rPr lang="ko-KR" altLang="en-US" sz="85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선택</a:t>
              </a:r>
              <a:endParaRPr lang="ko-KR" altLang="en-US" sz="85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8" name="갈매기형 수장 67"/>
            <p:cNvSpPr/>
            <p:nvPr/>
          </p:nvSpPr>
          <p:spPr>
            <a:xfrm rot="5400000">
              <a:off x="6689822" y="4973927"/>
              <a:ext cx="95541" cy="149374"/>
            </a:xfrm>
            <a:prstGeom prst="chevron">
              <a:avLst>
                <a:gd name="adj" fmla="val 7302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갈매기형 수장 68"/>
            <p:cNvSpPr/>
            <p:nvPr/>
          </p:nvSpPr>
          <p:spPr>
            <a:xfrm rot="5400000">
              <a:off x="5152753" y="4998856"/>
              <a:ext cx="95541" cy="149374"/>
            </a:xfrm>
            <a:prstGeom prst="chevron">
              <a:avLst>
                <a:gd name="adj" fmla="val 7302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72" name="그룹 71"/>
            <p:cNvGrpSpPr/>
            <p:nvPr/>
          </p:nvGrpSpPr>
          <p:grpSpPr>
            <a:xfrm>
              <a:off x="7049724" y="5271106"/>
              <a:ext cx="285656" cy="246221"/>
              <a:chOff x="7304900" y="5010382"/>
              <a:chExt cx="285656" cy="246221"/>
            </a:xfrm>
          </p:grpSpPr>
          <p:sp>
            <p:nvSpPr>
              <p:cNvPr id="70" name="모서리가 둥근 직사각형 69"/>
              <p:cNvSpPr/>
              <p:nvPr/>
            </p:nvSpPr>
            <p:spPr>
              <a:xfrm>
                <a:off x="7372070" y="5080924"/>
                <a:ext cx="109723" cy="10513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7304900" y="5010382"/>
                <a:ext cx="28565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dirty="0">
                    <a:solidFill>
                      <a:schemeClr val="bg1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Wingdings" panose="05000000000000000000" pitchFamily="2" charset="2"/>
                  </a:rPr>
                  <a:t></a:t>
                </a:r>
                <a:endParaRPr lang="ko-KR" altLang="en-US" sz="1000" dirty="0">
                  <a:solidFill>
                    <a:schemeClr val="bg1">
                      <a:lumMod val="7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8" name="그룹 7"/>
          <p:cNvGrpSpPr/>
          <p:nvPr/>
        </p:nvGrpSpPr>
        <p:grpSpPr>
          <a:xfrm>
            <a:off x="2890819" y="3077777"/>
            <a:ext cx="901316" cy="282728"/>
            <a:chOff x="10237895" y="3869239"/>
            <a:chExt cx="901316" cy="374367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10237895" y="3926714"/>
              <a:ext cx="901316" cy="316892"/>
            </a:xfrm>
            <a:prstGeom prst="roundRect">
              <a:avLst/>
            </a:prstGeom>
            <a:solidFill>
              <a:srgbClr val="FF6B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290902" y="3869239"/>
              <a:ext cx="8483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FFEBE7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7450</a:t>
              </a:r>
              <a:r>
                <a:rPr lang="ko-KR" altLang="en-US" sz="1600" dirty="0" smtClean="0">
                  <a:solidFill>
                    <a:srgbClr val="FFEBE7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억</a:t>
              </a:r>
              <a:endParaRPr lang="en-US" altLang="ko-KR" sz="1600" dirty="0" smtClean="0">
                <a:solidFill>
                  <a:srgbClr val="FFEBE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6950994" y="4043589"/>
            <a:ext cx="1527266" cy="937042"/>
            <a:chOff x="9010644" y="3541726"/>
            <a:chExt cx="1527266" cy="937042"/>
          </a:xfrm>
        </p:grpSpPr>
        <p:sp>
          <p:nvSpPr>
            <p:cNvPr id="64" name="자유형 63"/>
            <p:cNvSpPr/>
            <p:nvPr/>
          </p:nvSpPr>
          <p:spPr>
            <a:xfrm rot="12457168">
              <a:off x="9018758" y="3541726"/>
              <a:ext cx="1510033" cy="937042"/>
            </a:xfrm>
            <a:custGeom>
              <a:avLst/>
              <a:gdLst>
                <a:gd name="connsiteX0" fmla="*/ 1427349 w 1510033"/>
                <a:gd name="connsiteY0" fmla="*/ 290648 h 937042"/>
                <a:gd name="connsiteX1" fmla="*/ 225554 w 1510033"/>
                <a:gd name="connsiteY1" fmla="*/ 919452 h 937042"/>
                <a:gd name="connsiteX2" fmla="*/ 17590 w 1510033"/>
                <a:gd name="connsiteY2" fmla="*/ 854357 h 937042"/>
                <a:gd name="connsiteX3" fmla="*/ 82684 w 1510033"/>
                <a:gd name="connsiteY3" fmla="*/ 646393 h 937042"/>
                <a:gd name="connsiteX4" fmla="*/ 192793 w 1510033"/>
                <a:gd name="connsiteY4" fmla="*/ 588782 h 937042"/>
                <a:gd name="connsiteX5" fmla="*/ 239094 w 1510033"/>
                <a:gd name="connsiteY5" fmla="*/ 397591 h 937042"/>
                <a:gd name="connsiteX6" fmla="*/ 274981 w 1510033"/>
                <a:gd name="connsiteY6" fmla="*/ 545780 h 937042"/>
                <a:gd name="connsiteX7" fmla="*/ 1284479 w 1510033"/>
                <a:gd name="connsiteY7" fmla="*/ 17590 h 937042"/>
                <a:gd name="connsiteX8" fmla="*/ 1492443 w 1510033"/>
                <a:gd name="connsiteY8" fmla="*/ 82685 h 937042"/>
                <a:gd name="connsiteX9" fmla="*/ 1427349 w 1510033"/>
                <a:gd name="connsiteY9" fmla="*/ 290648 h 93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10033" h="937042">
                  <a:moveTo>
                    <a:pt x="1427349" y="290648"/>
                  </a:moveTo>
                  <a:lnTo>
                    <a:pt x="225554" y="919452"/>
                  </a:lnTo>
                  <a:cubicBezTo>
                    <a:pt x="150151" y="958904"/>
                    <a:pt x="57042" y="929760"/>
                    <a:pt x="17590" y="854357"/>
                  </a:cubicBezTo>
                  <a:cubicBezTo>
                    <a:pt x="-21862" y="778955"/>
                    <a:pt x="7282" y="685846"/>
                    <a:pt x="82684" y="646393"/>
                  </a:cubicBezTo>
                  <a:lnTo>
                    <a:pt x="192793" y="588782"/>
                  </a:lnTo>
                  <a:lnTo>
                    <a:pt x="239094" y="397591"/>
                  </a:lnTo>
                  <a:lnTo>
                    <a:pt x="274981" y="545780"/>
                  </a:lnTo>
                  <a:lnTo>
                    <a:pt x="1284479" y="17590"/>
                  </a:lnTo>
                  <a:cubicBezTo>
                    <a:pt x="1359882" y="-21862"/>
                    <a:pt x="1452991" y="7282"/>
                    <a:pt x="1492443" y="82685"/>
                  </a:cubicBezTo>
                  <a:cubicBezTo>
                    <a:pt x="1531895" y="158087"/>
                    <a:pt x="1502751" y="251196"/>
                    <a:pt x="1427349" y="290648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010644" y="3888516"/>
              <a:ext cx="1527266" cy="249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기각 시</a:t>
              </a:r>
              <a:r>
                <a:rPr lang="en-US" altLang="ko-KR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수임료 전액 환불</a:t>
              </a:r>
              <a:endPara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84" name="직사각형 83"/>
          <p:cNvSpPr/>
          <p:nvPr/>
        </p:nvSpPr>
        <p:spPr>
          <a:xfrm>
            <a:off x="9303720" y="0"/>
            <a:ext cx="2888280" cy="412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타입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277848" y="624589"/>
            <a:ext cx="45977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        성공사례       대표변호사      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자주묻는질문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특별한서비스    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endParaRPr lang="en-US" altLang="ko-KR" sz="100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8680" y="528386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1925026" y="515597"/>
            <a:ext cx="352821" cy="230832"/>
            <a:chOff x="9984557" y="3090201"/>
            <a:chExt cx="352821" cy="230832"/>
          </a:xfrm>
        </p:grpSpPr>
        <p:sp>
          <p:nvSpPr>
            <p:cNvPr id="80" name="직사각형 79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81" name="직사각형 80"/>
          <p:cNvSpPr/>
          <p:nvPr/>
        </p:nvSpPr>
        <p:spPr>
          <a:xfrm>
            <a:off x="31881" y="1979957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7984" y="4576878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8588049" y="5390996"/>
            <a:ext cx="372057" cy="230832"/>
            <a:chOff x="9984557" y="3090201"/>
            <a:chExt cx="372057" cy="230832"/>
          </a:xfrm>
        </p:grpSpPr>
        <p:sp>
          <p:nvSpPr>
            <p:cNvPr id="89" name="직사각형 88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992412" y="3090201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3-1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9323088" y="5053953"/>
            <a:ext cx="2842645" cy="1688344"/>
            <a:chOff x="9230742" y="4229008"/>
            <a:chExt cx="2842645" cy="1688344"/>
          </a:xfrm>
        </p:grpSpPr>
        <p:grpSp>
          <p:nvGrpSpPr>
            <p:cNvPr id="50" name="그룹 49"/>
            <p:cNvGrpSpPr/>
            <p:nvPr/>
          </p:nvGrpSpPr>
          <p:grpSpPr>
            <a:xfrm>
              <a:off x="9287547" y="4494484"/>
              <a:ext cx="1300371" cy="1422868"/>
              <a:chOff x="9671613" y="3602431"/>
              <a:chExt cx="1300371" cy="1422868"/>
            </a:xfrm>
          </p:grpSpPr>
          <p:sp>
            <p:nvSpPr>
              <p:cNvPr id="73" name="모서리가 둥근 직사각형 72"/>
              <p:cNvSpPr/>
              <p:nvPr/>
            </p:nvSpPr>
            <p:spPr>
              <a:xfrm>
                <a:off x="9671613" y="3602431"/>
                <a:ext cx="1300371" cy="1422868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9734710" y="3671719"/>
                <a:ext cx="1061509" cy="1338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채무금액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76" name="그룹 75"/>
            <p:cNvGrpSpPr/>
            <p:nvPr/>
          </p:nvGrpSpPr>
          <p:grpSpPr>
            <a:xfrm>
              <a:off x="10679226" y="4494484"/>
              <a:ext cx="1300371" cy="1281989"/>
              <a:chOff x="11063292" y="3602431"/>
              <a:chExt cx="1300371" cy="1281989"/>
            </a:xfrm>
          </p:grpSpPr>
          <p:sp>
            <p:nvSpPr>
              <p:cNvPr id="78" name="모서리가 둥근 직사각형 77"/>
              <p:cNvSpPr/>
              <p:nvPr/>
            </p:nvSpPr>
            <p:spPr>
              <a:xfrm>
                <a:off x="11063292" y="3602431"/>
                <a:ext cx="1300371" cy="1281989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11077204" y="3671719"/>
                <a:ext cx="1082348" cy="1131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월소득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9230742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err="1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606554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 소득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018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064169"/>
              </p:ext>
            </p:extLst>
          </p:nvPr>
        </p:nvGraphicFramePr>
        <p:xfrm>
          <a:off x="9303719" y="412801"/>
          <a:ext cx="2769668" cy="4312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헤더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디자인시안의 모션 참고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메인화면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진입 시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DB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입력화면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3/2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는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노출 처리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헤더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로고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GNB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전화번호로 구성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GNB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해당영역으로 포커스 이동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디자인시안의 모션을 참고하여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 검사 진행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장표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디바이스 정보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→ 디바이스 정보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PC,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모바일로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유입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채무금액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월소득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→ 리스트박스는 예시와 같이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미 선택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NULL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통과되면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유입되며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완료팝업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(P38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 항목에서 선택 또는 입력 데이터 없이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무료상담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신청버튼을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누를 경우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얼랏문구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이름을 입력해 주세요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자세히 버튼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P237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팝업 노출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8402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헤더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메인배너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18613" y="974177"/>
            <a:ext cx="9111651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/>
        </p:nvGrpSpPr>
        <p:grpSpPr>
          <a:xfrm>
            <a:off x="608840" y="572631"/>
            <a:ext cx="1069338" cy="312201"/>
            <a:chOff x="412221" y="645427"/>
            <a:chExt cx="1349829" cy="400596"/>
          </a:xfrm>
        </p:grpSpPr>
        <p:grpSp>
          <p:nvGrpSpPr>
            <p:cNvPr id="20" name="그룹 19"/>
            <p:cNvGrpSpPr/>
            <p:nvPr/>
          </p:nvGrpSpPr>
          <p:grpSpPr>
            <a:xfrm>
              <a:off x="412221" y="645427"/>
              <a:ext cx="1349829" cy="400596"/>
              <a:chOff x="3537386" y="1420931"/>
              <a:chExt cx="1349829" cy="400596"/>
            </a:xfrm>
          </p:grpSpPr>
          <p:sp>
            <p:nvSpPr>
              <p:cNvPr id="22" name="직사각형 21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/>
            <p:cNvSpPr txBox="1"/>
            <p:nvPr/>
          </p:nvSpPr>
          <p:spPr>
            <a:xfrm>
              <a:off x="906637" y="734862"/>
              <a:ext cx="360996" cy="215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로고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75" name="직사각형 74"/>
          <p:cNvSpPr/>
          <p:nvPr/>
        </p:nvSpPr>
        <p:spPr>
          <a:xfrm>
            <a:off x="118611" y="1006697"/>
            <a:ext cx="9111653" cy="39668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501405" y="1747410"/>
            <a:ext cx="2404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과도한 빚으로 힘드실 땐</a:t>
            </a:r>
            <a:r>
              <a:rPr lang="en-US" altLang="ko-KR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51581" y="2415512"/>
            <a:ext cx="44823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7450</a:t>
            </a:r>
            <a:r>
              <a:rPr lang="ko-KR" altLang="en-US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 빚을 줄여준</a:t>
            </a:r>
            <a:endParaRPr lang="en-US" altLang="ko-KR" sz="24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전문가에게 답을 찾으세요</a:t>
            </a:r>
            <a:r>
              <a:rPr lang="en-US" altLang="ko-KR" sz="2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1315428" y="3650496"/>
            <a:ext cx="1771638" cy="70842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모서리가 둥근 직사각형 98"/>
          <p:cNvSpPr/>
          <p:nvPr/>
        </p:nvSpPr>
        <p:spPr>
          <a:xfrm>
            <a:off x="3835198" y="3659027"/>
            <a:ext cx="1771638" cy="69989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모서리가 둥근 직사각형 99"/>
          <p:cNvSpPr/>
          <p:nvPr/>
        </p:nvSpPr>
        <p:spPr>
          <a:xfrm>
            <a:off x="6354968" y="3650496"/>
            <a:ext cx="1771638" cy="69989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1737292" y="3694951"/>
            <a:ext cx="8883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</a:t>
            </a:r>
            <a:r>
              <a:rPr lang="ko-KR" altLang="en-US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탕감률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43072" y="3940585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9627" y="3695711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누적 </a:t>
            </a:r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탕감액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237391" y="3972710"/>
            <a:ext cx="880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7450</a:t>
            </a:r>
            <a:r>
              <a:rPr lang="ko-KR" altLang="en-US" sz="16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</a:t>
            </a:r>
            <a:endParaRPr lang="en-US" altLang="ko-KR" sz="16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83161" y="3722837"/>
            <a:ext cx="1553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개인회생ㆍ파산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소송건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721379" y="3972710"/>
            <a:ext cx="9893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10386</a:t>
            </a:r>
            <a:r>
              <a:rPr lang="ko-KR" altLang="en-US" sz="16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</a:t>
            </a:r>
            <a:endParaRPr lang="en-US" altLang="ko-KR" sz="16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659876" y="4737007"/>
            <a:ext cx="8087884" cy="1273595"/>
          </a:xfrm>
          <a:prstGeom prst="roundRect">
            <a:avLst>
              <a:gd name="adj" fmla="val 15715"/>
            </a:avLst>
          </a:prstGeom>
          <a:solidFill>
            <a:schemeClr val="bg1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모서리가 둥근 직사각형 53"/>
          <p:cNvSpPr/>
          <p:nvPr/>
        </p:nvSpPr>
        <p:spPr>
          <a:xfrm>
            <a:off x="965837" y="5201305"/>
            <a:ext cx="1366806" cy="4282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모서리가 둥근 직사각형 54"/>
          <p:cNvSpPr/>
          <p:nvPr/>
        </p:nvSpPr>
        <p:spPr>
          <a:xfrm>
            <a:off x="2460715" y="5201305"/>
            <a:ext cx="1366806" cy="4282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모서리가 둥근 직사각형 56"/>
          <p:cNvSpPr/>
          <p:nvPr/>
        </p:nvSpPr>
        <p:spPr>
          <a:xfrm>
            <a:off x="3955593" y="5201305"/>
            <a:ext cx="1366806" cy="4282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모서리가 둥근 직사각형 57"/>
          <p:cNvSpPr/>
          <p:nvPr/>
        </p:nvSpPr>
        <p:spPr>
          <a:xfrm>
            <a:off x="5450472" y="5201305"/>
            <a:ext cx="1366806" cy="4282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6984006" y="4928865"/>
            <a:ext cx="1455374" cy="72065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 상담신청</a:t>
            </a:r>
            <a:endParaRPr lang="ko-KR" altLang="en-US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955593" y="4935878"/>
            <a:ext cx="1320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채무금액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496869" y="4913589"/>
            <a:ext cx="1320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월소득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2460715" y="4913589"/>
            <a:ext cx="1320409" cy="270684"/>
            <a:chOff x="2523351" y="3717205"/>
            <a:chExt cx="1320409" cy="270684"/>
          </a:xfrm>
        </p:grpSpPr>
        <p:sp>
          <p:nvSpPr>
            <p:cNvPr id="93" name="TextBox 92"/>
            <p:cNvSpPr txBox="1"/>
            <p:nvPr/>
          </p:nvSpPr>
          <p:spPr>
            <a:xfrm>
              <a:off x="2523351" y="3741668"/>
              <a:ext cx="13204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연락처</a:t>
              </a:r>
              <a:endPara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916941" y="3717205"/>
              <a:ext cx="2455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</a:t>
              </a:r>
              <a:endParaRPr lang="ko-KR" altLang="en-US" sz="1000" dirty="0">
                <a:solidFill>
                  <a:srgbClr val="FF6B4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931238" y="4913589"/>
            <a:ext cx="527259" cy="275670"/>
            <a:chOff x="1095651" y="3727608"/>
            <a:chExt cx="527259" cy="275670"/>
          </a:xfrm>
        </p:grpSpPr>
        <p:sp>
          <p:nvSpPr>
            <p:cNvPr id="91" name="TextBox 90"/>
            <p:cNvSpPr txBox="1"/>
            <p:nvPr/>
          </p:nvSpPr>
          <p:spPr>
            <a:xfrm>
              <a:off x="1095651" y="3741668"/>
              <a:ext cx="4379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이름</a:t>
              </a:r>
              <a:r>
                <a:rPr lang="ko-KR" altLang="en-US" sz="11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endPara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377330" y="3727608"/>
              <a:ext cx="2455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</a:t>
              </a:r>
              <a:endParaRPr lang="ko-KR" altLang="en-US" sz="1000" dirty="0">
                <a:solidFill>
                  <a:srgbClr val="FF6B4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2487800" y="5339217"/>
            <a:ext cx="11689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‘-’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제외하고 입력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63948" y="5352734"/>
            <a:ext cx="7344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홍길동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012371" y="5339217"/>
            <a:ext cx="8803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채무금액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선택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512560" y="5325459"/>
            <a:ext cx="769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월소득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선택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갈매기형 수장 85"/>
          <p:cNvSpPr/>
          <p:nvPr/>
        </p:nvSpPr>
        <p:spPr>
          <a:xfrm rot="5400000">
            <a:off x="6581263" y="5365158"/>
            <a:ext cx="95541" cy="149374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7" name="갈매기형 수장 86"/>
          <p:cNvSpPr/>
          <p:nvPr/>
        </p:nvSpPr>
        <p:spPr>
          <a:xfrm rot="5400000">
            <a:off x="5044194" y="5390087"/>
            <a:ext cx="95541" cy="149374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076289" y="5717619"/>
            <a:ext cx="14414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수집 및 이용 동의   </a:t>
            </a:r>
            <a:r>
              <a:rPr lang="ko-KR" altLang="en-US" sz="7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자세히</a:t>
            </a:r>
            <a:endParaRPr lang="ko-KR" altLang="en-US" sz="700" u="sng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6952461" y="5687865"/>
            <a:ext cx="285656" cy="246221"/>
            <a:chOff x="7311241" y="5007678"/>
            <a:chExt cx="285656" cy="246221"/>
          </a:xfrm>
        </p:grpSpPr>
        <p:sp>
          <p:nvSpPr>
            <p:cNvPr id="89" name="모서리가 둥근 직사각형 88"/>
            <p:cNvSpPr/>
            <p:nvPr/>
          </p:nvSpPr>
          <p:spPr>
            <a:xfrm>
              <a:off x="7372069" y="5080924"/>
              <a:ext cx="126000" cy="12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311241" y="5007678"/>
              <a:ext cx="2856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7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</a:t>
              </a:r>
              <a:endParaRPr lang="ko-KR" altLang="en-US" sz="10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352881" y="2351921"/>
            <a:ext cx="1341584" cy="461665"/>
            <a:chOff x="10206509" y="3329201"/>
            <a:chExt cx="1341584" cy="461665"/>
          </a:xfrm>
        </p:grpSpPr>
        <p:sp>
          <p:nvSpPr>
            <p:cNvPr id="66" name="모서리가 둥근 직사각형 65"/>
            <p:cNvSpPr/>
            <p:nvPr/>
          </p:nvSpPr>
          <p:spPr>
            <a:xfrm>
              <a:off x="10206509" y="3359827"/>
              <a:ext cx="1341584" cy="43103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0291343" y="3329201"/>
              <a:ext cx="1171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7450</a:t>
              </a:r>
              <a:r>
                <a:rPr lang="ko-KR" altLang="en-US" sz="24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억</a:t>
              </a:r>
              <a:endParaRPr lang="en-US" altLang="ko-KR" sz="24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7890609" y="616913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484" y="604025"/>
            <a:ext cx="211886" cy="22564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277848" y="624589"/>
            <a:ext cx="45977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        성공사례       대표변호사      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자주묻는질문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특별한서비스    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endParaRPr lang="en-US" altLang="ko-KR" sz="100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9230264" y="0"/>
            <a:ext cx="2961736" cy="412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타입 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8680" y="528386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1925026" y="515597"/>
            <a:ext cx="352821" cy="230832"/>
            <a:chOff x="9984557" y="3090201"/>
            <a:chExt cx="352821" cy="230832"/>
          </a:xfrm>
        </p:grpSpPr>
        <p:sp>
          <p:nvSpPr>
            <p:cNvPr id="69" name="직사각형 68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71" name="직사각형 70"/>
          <p:cNvSpPr/>
          <p:nvPr/>
        </p:nvSpPr>
        <p:spPr>
          <a:xfrm>
            <a:off x="31881" y="1979957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7984" y="4576878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78" name="그룹 77"/>
          <p:cNvGrpSpPr/>
          <p:nvPr/>
        </p:nvGrpSpPr>
        <p:grpSpPr>
          <a:xfrm>
            <a:off x="9323088" y="5053953"/>
            <a:ext cx="2842645" cy="1688344"/>
            <a:chOff x="9230742" y="4229008"/>
            <a:chExt cx="2842645" cy="1688344"/>
          </a:xfrm>
        </p:grpSpPr>
        <p:grpSp>
          <p:nvGrpSpPr>
            <p:cNvPr id="95" name="그룹 94"/>
            <p:cNvGrpSpPr/>
            <p:nvPr/>
          </p:nvGrpSpPr>
          <p:grpSpPr>
            <a:xfrm>
              <a:off x="9287547" y="4494484"/>
              <a:ext cx="1300371" cy="1422868"/>
              <a:chOff x="9671613" y="3602431"/>
              <a:chExt cx="1300371" cy="1422868"/>
            </a:xfrm>
          </p:grpSpPr>
          <p:sp>
            <p:nvSpPr>
              <p:cNvPr id="104" name="모서리가 둥근 직사각형 103"/>
              <p:cNvSpPr/>
              <p:nvPr/>
            </p:nvSpPr>
            <p:spPr>
              <a:xfrm>
                <a:off x="9671613" y="3602431"/>
                <a:ext cx="1300371" cy="1422868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9734710" y="3671719"/>
                <a:ext cx="1061509" cy="1338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채무금액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97" name="그룹 96"/>
            <p:cNvGrpSpPr/>
            <p:nvPr/>
          </p:nvGrpSpPr>
          <p:grpSpPr>
            <a:xfrm>
              <a:off x="10679226" y="4494484"/>
              <a:ext cx="1300371" cy="1281989"/>
              <a:chOff x="11063292" y="3602431"/>
              <a:chExt cx="1300371" cy="1281989"/>
            </a:xfrm>
          </p:grpSpPr>
          <p:sp>
            <p:nvSpPr>
              <p:cNvPr id="102" name="모서리가 둥근 직사각형 101"/>
              <p:cNvSpPr/>
              <p:nvPr/>
            </p:nvSpPr>
            <p:spPr>
              <a:xfrm>
                <a:off x="11063292" y="3602431"/>
                <a:ext cx="1300371" cy="1281989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11077204" y="3671719"/>
                <a:ext cx="1082348" cy="1131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월소득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98" name="TextBox 97"/>
            <p:cNvSpPr txBox="1"/>
            <p:nvPr/>
          </p:nvSpPr>
          <p:spPr>
            <a:xfrm>
              <a:off x="9230742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err="1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0606554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 소득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611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743599"/>
              </p:ext>
            </p:extLst>
          </p:nvPr>
        </p:nvGraphicFramePr>
        <p:xfrm>
          <a:off x="9303719" y="412801"/>
          <a:ext cx="2769668" cy="1671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AI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[AI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 탕감 방식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디폴트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파산면책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배너위에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마우스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오버되면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진하게 표시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혹은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색반전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처리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팝업 노출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다음장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7136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0557" y="1061937"/>
            <a:ext cx="2768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자가진단으로 알아보기</a:t>
            </a:r>
            <a:endParaRPr lang="en-US" altLang="ko-KR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0557" y="682147"/>
            <a:ext cx="3779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 빛은 </a:t>
            </a:r>
            <a:r>
              <a:rPr lang="ko-KR" altLang="en-US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탕감받을</a:t>
            </a: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 있을까</a:t>
            </a:r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0557" y="1736306"/>
            <a:ext cx="3779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원하시는 빛 탕감 방식을 선택해 주세요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4828567" y="2351424"/>
            <a:ext cx="3159760" cy="1357195"/>
            <a:chOff x="741680" y="2412165"/>
            <a:chExt cx="3159760" cy="1359079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741680" y="2412165"/>
              <a:ext cx="3159760" cy="1359079"/>
            </a:xfrm>
            <a:prstGeom prst="roundRect">
              <a:avLst>
                <a:gd name="adj" fmla="val 12182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779985" y="2474892"/>
              <a:ext cx="3019855" cy="12736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V="1">
              <a:off x="863600" y="2452142"/>
              <a:ext cx="2936240" cy="12963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 flipH="1">
            <a:off x="1859280" y="3163271"/>
            <a:ext cx="1046480" cy="3688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944880" y="2374174"/>
            <a:ext cx="3159760" cy="1357195"/>
          </a:xfrm>
          <a:prstGeom prst="roundRect">
            <a:avLst>
              <a:gd name="adj" fmla="val 12182"/>
            </a:avLst>
          </a:prstGeom>
          <a:solidFill>
            <a:schemeClr val="bg1"/>
          </a:solidFill>
          <a:ln w="349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/>
          <p:cNvCxnSpPr/>
          <p:nvPr/>
        </p:nvCxnSpPr>
        <p:spPr>
          <a:xfrm>
            <a:off x="983185" y="2436901"/>
            <a:ext cx="3019855" cy="1273602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 flipV="1">
            <a:off x="1066800" y="2414151"/>
            <a:ext cx="2936240" cy="1296352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 flipH="1">
            <a:off x="2011680" y="3315671"/>
            <a:ext cx="1046480" cy="3380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</a:t>
            </a:r>
            <a:endParaRPr lang="ko-KR" altLang="en-US" sz="1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 flipH="1">
            <a:off x="5895367" y="3315671"/>
            <a:ext cx="1046480" cy="3380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파산면책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260862" y="2552997"/>
            <a:ext cx="25628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일정한 소득이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있으나 여유가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없는분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259699" y="2587868"/>
            <a:ext cx="2511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과도한 빚으로 변제 능력이 </a:t>
            </a:r>
            <a:r>
              <a:rPr lang="ko-KR" altLang="en-US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어려운분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18613" y="6431909"/>
            <a:ext cx="9111651" cy="294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다음장</a:t>
            </a:r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연결 ↓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06907" y="558654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406506" y="2206069"/>
            <a:ext cx="352821" cy="230832"/>
            <a:chOff x="9984557" y="3090201"/>
            <a:chExt cx="352821" cy="230832"/>
          </a:xfrm>
        </p:grpSpPr>
        <p:sp>
          <p:nvSpPr>
            <p:cNvPr id="26" name="직사각형 25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180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93124"/>
              </p:ext>
            </p:extLst>
          </p:nvPr>
        </p:nvGraphicFramePr>
        <p:xfrm>
          <a:off x="9303719" y="412801"/>
          <a:ext cx="2769668" cy="32842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AI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팝업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[AI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팝업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딤처리되며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시작하기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진단 진행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어떤 채무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탕감방식을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선택하나 노출되는 컨텐츠 동일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 탕감 방식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선택한 채무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탕감방식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248738" y="98567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14398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진단으로 알아보기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팝업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2428241" y="1104945"/>
            <a:ext cx="4480559" cy="4478354"/>
          </a:xfrm>
          <a:prstGeom prst="roundRect">
            <a:avLst>
              <a:gd name="adj" fmla="val 3449"/>
            </a:avLst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33040" y="1328335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진단으로 알아보기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33040" y="1839839"/>
            <a:ext cx="3398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에이스법률사무소가 진행한 개인회생 법률에 근거하여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회생 가능성을 진단해 드려요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6337170" y="1367092"/>
            <a:ext cx="216000" cy="214404"/>
            <a:chOff x="10576560" y="4734560"/>
            <a:chExt cx="355600" cy="346484"/>
          </a:xfrm>
        </p:grpSpPr>
        <p:cxnSp>
          <p:nvCxnSpPr>
            <p:cNvPr id="34" name="직선 연결선 33"/>
            <p:cNvCxnSpPr/>
            <p:nvPr/>
          </p:nvCxnSpPr>
          <p:spPr>
            <a:xfrm>
              <a:off x="10576560" y="4734560"/>
              <a:ext cx="355600" cy="346484"/>
            </a:xfrm>
            <a:prstGeom prst="line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 flipV="1">
              <a:off x="10576560" y="4734560"/>
              <a:ext cx="355600" cy="346484"/>
            </a:xfrm>
            <a:prstGeom prst="line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모서리가 둥근 직사각형 48"/>
          <p:cNvSpPr/>
          <p:nvPr/>
        </p:nvSpPr>
        <p:spPr>
          <a:xfrm>
            <a:off x="3480294" y="4759169"/>
            <a:ext cx="2376452" cy="533021"/>
          </a:xfrm>
          <a:prstGeom prst="roundRect">
            <a:avLst>
              <a:gd name="adj" fmla="val 19502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시작하기</a:t>
            </a:r>
            <a:endParaRPr lang="ko-KR" alt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4110546" y="2712612"/>
            <a:ext cx="1115948" cy="1028584"/>
            <a:chOff x="741680" y="2412165"/>
            <a:chExt cx="3159760" cy="1359079"/>
          </a:xfrm>
        </p:grpSpPr>
        <p:sp>
          <p:nvSpPr>
            <p:cNvPr id="51" name="모서리가 둥근 직사각형 50"/>
            <p:cNvSpPr/>
            <p:nvPr/>
          </p:nvSpPr>
          <p:spPr>
            <a:xfrm>
              <a:off x="741680" y="2412165"/>
              <a:ext cx="3159760" cy="1359079"/>
            </a:xfrm>
            <a:prstGeom prst="roundRect">
              <a:avLst>
                <a:gd name="adj" fmla="val 12182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" name="직선 연결선 52"/>
            <p:cNvCxnSpPr/>
            <p:nvPr/>
          </p:nvCxnSpPr>
          <p:spPr>
            <a:xfrm>
              <a:off x="779985" y="2474892"/>
              <a:ext cx="3019855" cy="12736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/>
            <p:cNvCxnSpPr/>
            <p:nvPr/>
          </p:nvCxnSpPr>
          <p:spPr>
            <a:xfrm flipV="1">
              <a:off x="863600" y="2452142"/>
              <a:ext cx="2936240" cy="12963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3403830" y="4179662"/>
            <a:ext cx="2452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   </a:t>
            </a:r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진단을 시작합니다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06792" y="4123688"/>
            <a:ext cx="724388" cy="354511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18613" y="6431909"/>
            <a:ext cx="9111651" cy="2949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다음장</a:t>
            </a:r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연결 ↓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971813" y="1074314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2873118" y="4162900"/>
            <a:ext cx="352821" cy="230832"/>
            <a:chOff x="9984557" y="3090201"/>
            <a:chExt cx="352821" cy="230832"/>
          </a:xfrm>
        </p:grpSpPr>
        <p:sp>
          <p:nvSpPr>
            <p:cNvPr id="25" name="직사각형 24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1130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221670"/>
              </p:ext>
            </p:extLst>
          </p:nvPr>
        </p:nvGraphicFramePr>
        <p:xfrm>
          <a:off x="9303719" y="412801"/>
          <a:ext cx="2769668" cy="489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팝업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[AI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시작하기 팝업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팝업 진행순서대로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 검사 진행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(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장표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유입은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P4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장의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유형 中 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AI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정책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유형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AI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채무금액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월소득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본인명의 부동산 유무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부양가족 유무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통과되면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유입되며 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완료팝업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(P38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 항목에서 선택 또는 입력 데이터 없이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무료상담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신청버튼을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누를 경우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얼랏문구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이름을 입력해 주세요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1448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18790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 알아보기 팝업 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진단시작하기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931" y="686358"/>
            <a:ext cx="2503867" cy="270579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070" y="686358"/>
            <a:ext cx="2479268" cy="2725862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19" y="3921200"/>
            <a:ext cx="2533048" cy="281603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4931" y="3921200"/>
            <a:ext cx="2453814" cy="27878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791" y="686358"/>
            <a:ext cx="2503867" cy="275768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109" y="3921200"/>
            <a:ext cx="2547956" cy="2782728"/>
          </a:xfrm>
          <a:prstGeom prst="rect">
            <a:avLst/>
          </a:prstGeom>
        </p:spPr>
      </p:pic>
      <p:cxnSp>
        <p:nvCxnSpPr>
          <p:cNvPr id="12" name="직선 화살표 연결선 11"/>
          <p:cNvCxnSpPr/>
          <p:nvPr/>
        </p:nvCxnSpPr>
        <p:spPr>
          <a:xfrm>
            <a:off x="629920" y="558800"/>
            <a:ext cx="8175145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629920" y="3688080"/>
            <a:ext cx="8175145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613" y="465986"/>
            <a:ext cx="102616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팝업 진행 순서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760210" y="412801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4752855" y="412801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745500" y="412801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1801511" y="3571598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4674438" y="3556000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7547365" y="3540402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04721" y="858206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6263202" y="6086677"/>
            <a:ext cx="352821" cy="230832"/>
            <a:chOff x="9984557" y="3090201"/>
            <a:chExt cx="352821" cy="230832"/>
          </a:xfrm>
        </p:grpSpPr>
        <p:sp>
          <p:nvSpPr>
            <p:cNvPr id="25" name="직사각형 24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7500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632999"/>
              </p:ext>
            </p:extLst>
          </p:nvPr>
        </p:nvGraphicFramePr>
        <p:xfrm>
          <a:off x="9303719" y="412801"/>
          <a:ext cx="2769668" cy="38098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성공사례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성공사례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우측에서 좌측으로 롤링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롤링속도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3~5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데이터는 별도 문서로 전달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성공사레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종류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디폴트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 데이터 노출 기준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개인파산 사례가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한개씩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교차하여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개인파산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사례만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성공사례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3794" y="1052424"/>
            <a:ext cx="3297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개인회생ㆍ파산</a:t>
            </a:r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탕감 성공사례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809274" y="1694171"/>
            <a:ext cx="960699" cy="340053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1937811" y="1705746"/>
            <a:ext cx="1453010" cy="3400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3558659" y="1714021"/>
            <a:ext cx="1453010" cy="3400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1049524" y="1705746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</a:t>
            </a: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02275" y="1745547"/>
            <a:ext cx="848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61009" y="1737272"/>
            <a:ext cx="848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개인파산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83794" y="667520"/>
            <a:ext cx="3833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10,386</a:t>
            </a: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건의 노하우가 보여주는 결과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90" name="그룹 189"/>
          <p:cNvGrpSpPr/>
          <p:nvPr/>
        </p:nvGrpSpPr>
        <p:grpSpPr>
          <a:xfrm>
            <a:off x="-458224" y="2219271"/>
            <a:ext cx="10090998" cy="3285983"/>
            <a:chOff x="-458224" y="1894151"/>
            <a:chExt cx="10090998" cy="3285983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816588" y="2101508"/>
              <a:ext cx="2404490" cy="3078626"/>
            </a:xfrm>
            <a:prstGeom prst="roundRect">
              <a:avLst>
                <a:gd name="adj" fmla="val 7902"/>
              </a:avLst>
            </a:prstGeom>
            <a:solidFill>
              <a:schemeClr val="bg1"/>
            </a:solidFill>
            <a:ln w="222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8534971" y="3108134"/>
              <a:ext cx="109780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5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&gt;</a:t>
              </a:r>
              <a:endParaRPr lang="ko-KR" altLang="en-US" sz="5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 rot="10800000">
              <a:off x="-458224" y="3126074"/>
              <a:ext cx="109780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5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&gt;</a:t>
              </a:r>
              <a:endParaRPr lang="ko-KR" altLang="en-US" sz="5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4" name="모서리가 둥근 직사각형 193"/>
            <p:cNvSpPr/>
            <p:nvPr/>
          </p:nvSpPr>
          <p:spPr>
            <a:xfrm>
              <a:off x="3588663" y="2209152"/>
              <a:ext cx="2241311" cy="2970982"/>
            </a:xfrm>
            <a:prstGeom prst="roundRect">
              <a:avLst>
                <a:gd name="adj" fmla="val 7902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모서리가 둥근 직사각형 194"/>
            <p:cNvSpPr/>
            <p:nvPr/>
          </p:nvSpPr>
          <p:spPr>
            <a:xfrm>
              <a:off x="6167061" y="2214497"/>
              <a:ext cx="2241311" cy="2965637"/>
            </a:xfrm>
            <a:prstGeom prst="roundRect">
              <a:avLst>
                <a:gd name="adj" fmla="val 7902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943652" y="2984892"/>
              <a:ext cx="14205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주부</a:t>
              </a:r>
              <a:r>
                <a: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여성</a:t>
              </a:r>
              <a:r>
                <a: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50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</a:t>
              </a:r>
              <a:r>
                <a: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김 </a:t>
              </a:r>
              <a:r>
                <a: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OO 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님</a:t>
              </a:r>
              <a:endParaRPr lang="en-US" altLang="ko-KR" sz="9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1149306" y="2477314"/>
              <a:ext cx="179247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3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개인회생    </a:t>
              </a:r>
              <a:r>
                <a:rPr lang="en-US" altLang="ko-KR" sz="13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|   96% </a:t>
              </a:r>
              <a:r>
                <a:rPr lang="ko-KR" altLang="en-US" sz="13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탕감</a:t>
              </a:r>
              <a:endParaRPr lang="ko-KR" alt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8" name="타원 197"/>
            <p:cNvSpPr/>
            <p:nvPr/>
          </p:nvSpPr>
          <p:spPr>
            <a:xfrm>
              <a:off x="966508" y="1894151"/>
              <a:ext cx="522000" cy="52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9" name="그림 198"/>
            <p:cNvPicPr>
              <a:picLocks noChangeAspect="1"/>
            </p:cNvPicPr>
            <p:nvPr/>
          </p:nvPicPr>
          <p:blipFill rotWithShape="1">
            <a:blip r:embed="rId2"/>
            <a:srcRect l="62140" t="14060" r="6583" b="175"/>
            <a:stretch/>
          </p:blipFill>
          <p:spPr>
            <a:xfrm>
              <a:off x="1085170" y="1946807"/>
              <a:ext cx="300941" cy="416688"/>
            </a:xfrm>
            <a:prstGeom prst="rect">
              <a:avLst/>
            </a:prstGeom>
          </p:spPr>
        </p:pic>
        <p:sp>
          <p:nvSpPr>
            <p:cNvPr id="200" name="TextBox 199"/>
            <p:cNvSpPr txBox="1"/>
            <p:nvPr/>
          </p:nvSpPr>
          <p:spPr>
            <a:xfrm>
              <a:off x="925885" y="3134179"/>
              <a:ext cx="2173993" cy="3374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총 </a:t>
              </a:r>
              <a:r>
                <a:rPr lang="ko-KR" altLang="en-US" sz="12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채무액</a:t>
              </a:r>
              <a:r>
                <a:rPr lang="ko-KR" altLang="en-US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162,678,791</a:t>
              </a:r>
              <a:r>
                <a:rPr lang="ko-KR" altLang="en-US" sz="12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원</a:t>
              </a:r>
              <a:r>
                <a:rPr lang="ko-KR" altLang="en-US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탕감</a:t>
              </a:r>
              <a:r>
                <a:rPr lang="en-US" altLang="ko-KR" sz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!</a:t>
              </a:r>
            </a:p>
          </p:txBody>
        </p:sp>
        <p:grpSp>
          <p:nvGrpSpPr>
            <p:cNvPr id="201" name="그룹 200"/>
            <p:cNvGrpSpPr/>
            <p:nvPr/>
          </p:nvGrpSpPr>
          <p:grpSpPr>
            <a:xfrm>
              <a:off x="976420" y="3596053"/>
              <a:ext cx="2114336" cy="1308623"/>
              <a:chOff x="976420" y="3596053"/>
              <a:chExt cx="2114336" cy="1308623"/>
            </a:xfrm>
          </p:grpSpPr>
          <p:sp>
            <p:nvSpPr>
              <p:cNvPr id="240" name="모서리가 둥근 직사각형 239"/>
              <p:cNvSpPr/>
              <p:nvPr/>
            </p:nvSpPr>
            <p:spPr>
              <a:xfrm>
                <a:off x="976420" y="3596053"/>
                <a:ext cx="2114336" cy="1308623"/>
              </a:xfrm>
              <a:prstGeom prst="roundRect">
                <a:avLst>
                  <a:gd name="adj" fmla="val 1089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TextBox 240"/>
              <p:cNvSpPr txBox="1"/>
              <p:nvPr/>
            </p:nvSpPr>
            <p:spPr>
              <a:xfrm>
                <a:off x="976420" y="3732656"/>
                <a:ext cx="739305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총 </a:t>
                </a:r>
                <a:r>
                  <a:rPr lang="ko-KR" altLang="en-US" sz="900" dirty="0" err="1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채무액</a:t>
                </a:r>
                <a:r>
                  <a:rPr lang="ko-KR" altLang="en-US" sz="9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endPara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r>
                  <a:rPr lang="ko-KR" altLang="en-US" sz="9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탕감 후 원금</a:t>
                </a:r>
                <a:endPara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42" name="TextBox 241"/>
              <p:cNvSpPr txBox="1"/>
              <p:nvPr/>
            </p:nvSpPr>
            <p:spPr>
              <a:xfrm>
                <a:off x="2014368" y="3724097"/>
                <a:ext cx="95571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168,770,819 </a:t>
                </a:r>
                <a:r>
                  <a:rPr lang="ko-KR" altLang="en-US" sz="9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원</a:t>
                </a:r>
                <a:endPara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43" name="TextBox 242"/>
              <p:cNvSpPr txBox="1"/>
              <p:nvPr/>
            </p:nvSpPr>
            <p:spPr>
              <a:xfrm>
                <a:off x="1838038" y="3993427"/>
                <a:ext cx="11320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6,092,028 </a:t>
                </a:r>
                <a:r>
                  <a:rPr lang="ko-KR" altLang="en-US" sz="12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원</a:t>
                </a:r>
                <a:endPara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244" name="직선 연결선 243"/>
              <p:cNvCxnSpPr>
                <a:stCxn id="242" idx="1"/>
                <a:endCxn id="242" idx="1"/>
              </p:cNvCxnSpPr>
              <p:nvPr/>
            </p:nvCxnSpPr>
            <p:spPr>
              <a:xfrm>
                <a:off x="2014368" y="3839513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그룹 244"/>
              <p:cNvGrpSpPr/>
              <p:nvPr/>
            </p:nvGrpSpPr>
            <p:grpSpPr>
              <a:xfrm>
                <a:off x="2012882" y="3818046"/>
                <a:ext cx="900000" cy="85254"/>
                <a:chOff x="1882643" y="5039196"/>
                <a:chExt cx="900000" cy="85254"/>
              </a:xfrm>
            </p:grpSpPr>
            <p:cxnSp>
              <p:nvCxnSpPr>
                <p:cNvPr id="249" name="직선 연결선 248"/>
                <p:cNvCxnSpPr/>
                <p:nvPr/>
              </p:nvCxnSpPr>
              <p:spPr>
                <a:xfrm flipH="1" flipV="1">
                  <a:off x="1882643" y="5039196"/>
                  <a:ext cx="900000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직선 연결선 249"/>
                <p:cNvCxnSpPr/>
                <p:nvPr/>
              </p:nvCxnSpPr>
              <p:spPr>
                <a:xfrm>
                  <a:off x="1886981" y="5039196"/>
                  <a:ext cx="71366" cy="85254"/>
                </a:xfrm>
                <a:prstGeom prst="line">
                  <a:avLst/>
                </a:prstGeom>
                <a:ln w="1270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6" name="직선 연결선 245"/>
              <p:cNvCxnSpPr/>
              <p:nvPr/>
            </p:nvCxnSpPr>
            <p:spPr>
              <a:xfrm>
                <a:off x="1060618" y="4385822"/>
                <a:ext cx="1909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TextBox 246"/>
              <p:cNvSpPr txBox="1"/>
              <p:nvPr/>
            </p:nvSpPr>
            <p:spPr>
              <a:xfrm>
                <a:off x="1867548" y="4395850"/>
                <a:ext cx="11416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약</a:t>
                </a:r>
                <a:r>
                  <a:rPr lang="ko-KR" altLang="en-US" sz="10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en-US" altLang="ko-KR" sz="12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160,000 </a:t>
                </a:r>
                <a:r>
                  <a:rPr lang="ko-KR" altLang="en-US" sz="12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원</a:t>
                </a:r>
                <a:endParaRPr lang="en-US" altLang="ko-KR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48" name="TextBox 247"/>
              <p:cNvSpPr txBox="1"/>
              <p:nvPr/>
            </p:nvSpPr>
            <p:spPr>
              <a:xfrm>
                <a:off x="995184" y="4484045"/>
                <a:ext cx="61106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월 </a:t>
                </a:r>
                <a:r>
                  <a:rPr lang="ko-KR" altLang="en-US" sz="900" dirty="0" err="1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변제액</a:t>
                </a:r>
                <a:endPara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202" name="모서리가 둥근 직사각형 201"/>
            <p:cNvSpPr/>
            <p:nvPr/>
          </p:nvSpPr>
          <p:spPr>
            <a:xfrm>
              <a:off x="2082637" y="2457319"/>
              <a:ext cx="847271" cy="320216"/>
            </a:xfrm>
            <a:prstGeom prst="roundRect">
              <a:avLst/>
            </a:prstGeom>
            <a:solidFill>
              <a:schemeClr val="tx1">
                <a:lumMod val="65000"/>
                <a:lumOff val="3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04" name="그룹 203"/>
            <p:cNvGrpSpPr/>
            <p:nvPr/>
          </p:nvGrpSpPr>
          <p:grpSpPr>
            <a:xfrm>
              <a:off x="3797915" y="2023199"/>
              <a:ext cx="432000" cy="432000"/>
              <a:chOff x="5324583" y="1528907"/>
              <a:chExt cx="432000" cy="432000"/>
            </a:xfrm>
          </p:grpSpPr>
          <p:sp>
            <p:nvSpPr>
              <p:cNvPr id="238" name="타원 237"/>
              <p:cNvSpPr/>
              <p:nvPr/>
            </p:nvSpPr>
            <p:spPr>
              <a:xfrm>
                <a:off x="5324583" y="1528907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39" name="그림 238"/>
              <p:cNvPicPr>
                <a:picLocks noChangeAspect="1"/>
              </p:cNvPicPr>
              <p:nvPr/>
            </p:nvPicPr>
            <p:blipFill rotWithShape="1">
              <a:blip r:embed="rId2"/>
              <a:srcRect l="9505" t="24852" r="55359" b="3470"/>
              <a:stretch/>
            </p:blipFill>
            <p:spPr>
              <a:xfrm>
                <a:off x="5416170" y="1597152"/>
                <a:ext cx="283589" cy="292124"/>
              </a:xfrm>
              <a:prstGeom prst="rect">
                <a:avLst/>
              </a:prstGeom>
            </p:spPr>
          </p:pic>
        </p:grpSp>
        <p:sp>
          <p:nvSpPr>
            <p:cNvPr id="205" name="TextBox 204"/>
            <p:cNvSpPr txBox="1"/>
            <p:nvPr/>
          </p:nvSpPr>
          <p:spPr>
            <a:xfrm>
              <a:off x="3761157" y="2578851"/>
              <a:ext cx="1851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개인파산    </a:t>
              </a:r>
              <a:r>
                <a:rPr lang="en-US" altLang="ko-KR" sz="11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|   100% </a:t>
              </a:r>
              <a:r>
                <a:rPr lang="ko-KR" altLang="en-US" sz="1100" b="1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파산면책</a:t>
              </a:r>
              <a:endPara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6" name="모서리가 둥근 직사각형 205"/>
            <p:cNvSpPr/>
            <p:nvPr/>
          </p:nvSpPr>
          <p:spPr>
            <a:xfrm>
              <a:off x="4565403" y="2549548"/>
              <a:ext cx="1047544" cy="290913"/>
            </a:xfrm>
            <a:prstGeom prst="roundRect">
              <a:avLst/>
            </a:prstGeom>
            <a:solidFill>
              <a:schemeClr val="tx1">
                <a:lumMod val="65000"/>
                <a:lumOff val="3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3693069" y="3058303"/>
              <a:ext cx="13724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사업가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남성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50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박</a:t>
              </a: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OO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님</a:t>
              </a:r>
              <a:endPara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3692140" y="3210160"/>
              <a:ext cx="191911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총 </a:t>
              </a:r>
              <a:r>
                <a:rPr lang="ko-KR" altLang="en-US" sz="10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채무액</a:t>
              </a:r>
              <a:r>
                <a:rPr lang="ko-KR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0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530,000,000</a:t>
              </a:r>
              <a:r>
                <a:rPr lang="ko-KR" altLang="en-US" sz="10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원</a:t>
              </a:r>
              <a:r>
                <a:rPr lang="ko-KR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면책</a:t>
              </a:r>
              <a:r>
                <a:rPr lang="en-US" altLang="ko-KR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!</a:t>
              </a:r>
            </a:p>
          </p:txBody>
        </p:sp>
        <p:grpSp>
          <p:nvGrpSpPr>
            <p:cNvPr id="209" name="그룹 208"/>
            <p:cNvGrpSpPr/>
            <p:nvPr/>
          </p:nvGrpSpPr>
          <p:grpSpPr>
            <a:xfrm>
              <a:off x="3712937" y="3633647"/>
              <a:ext cx="2009542" cy="762204"/>
              <a:chOff x="3712937" y="3633647"/>
              <a:chExt cx="2009542" cy="762204"/>
            </a:xfrm>
          </p:grpSpPr>
          <p:sp>
            <p:nvSpPr>
              <p:cNvPr id="230" name="모서리가 둥근 직사각형 229"/>
              <p:cNvSpPr/>
              <p:nvPr/>
            </p:nvSpPr>
            <p:spPr>
              <a:xfrm>
                <a:off x="3712937" y="3633647"/>
                <a:ext cx="2009542" cy="762204"/>
              </a:xfrm>
              <a:prstGeom prst="roundRect">
                <a:avLst>
                  <a:gd name="adj" fmla="val 1089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" name="TextBox 230"/>
              <p:cNvSpPr txBox="1"/>
              <p:nvPr/>
            </p:nvSpPr>
            <p:spPr>
              <a:xfrm>
                <a:off x="3712937" y="3766900"/>
                <a:ext cx="6767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총 </a:t>
                </a:r>
                <a:r>
                  <a:rPr lang="ko-KR" altLang="en-US" sz="800" dirty="0" err="1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채무액</a:t>
                </a:r>
                <a:r>
                  <a:rPr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endPara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r>
                  <a:rPr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면책 후 원금</a:t>
                </a:r>
                <a:endPara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32" name="TextBox 231"/>
              <p:cNvSpPr txBox="1"/>
              <p:nvPr/>
            </p:nvSpPr>
            <p:spPr>
              <a:xfrm>
                <a:off x="4657714" y="3764738"/>
                <a:ext cx="9957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530,000,000 </a:t>
                </a:r>
                <a:r>
                  <a:rPr lang="ko-KR" altLang="en-US" sz="900" dirty="0" smtClean="0">
                    <a:solidFill>
                      <a:schemeClr val="bg1">
                        <a:lumMod val="6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원</a:t>
                </a:r>
                <a:endPara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33" name="TextBox 232"/>
              <p:cNvSpPr txBox="1"/>
              <p:nvPr/>
            </p:nvSpPr>
            <p:spPr>
              <a:xfrm>
                <a:off x="5194746" y="3963488"/>
                <a:ext cx="40908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0</a:t>
                </a:r>
                <a:r>
                  <a:rPr lang="en-US" altLang="ko-KR" sz="10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ko-KR" altLang="en-US" sz="10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원</a:t>
                </a:r>
                <a:endPara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234" name="직선 연결선 233"/>
              <p:cNvCxnSpPr>
                <a:stCxn id="232" idx="1"/>
                <a:endCxn id="232" idx="1"/>
              </p:cNvCxnSpPr>
              <p:nvPr/>
            </p:nvCxnSpPr>
            <p:spPr>
              <a:xfrm>
                <a:off x="4657714" y="3880154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5" name="그룹 234"/>
              <p:cNvGrpSpPr/>
              <p:nvPr/>
            </p:nvGrpSpPr>
            <p:grpSpPr>
              <a:xfrm>
                <a:off x="4680595" y="3859070"/>
                <a:ext cx="855393" cy="83164"/>
                <a:chOff x="1882642" y="5039196"/>
                <a:chExt cx="900000" cy="85254"/>
              </a:xfrm>
            </p:grpSpPr>
            <p:cxnSp>
              <p:nvCxnSpPr>
                <p:cNvPr id="236" name="직선 연결선 235"/>
                <p:cNvCxnSpPr/>
                <p:nvPr/>
              </p:nvCxnSpPr>
              <p:spPr>
                <a:xfrm flipH="1" flipV="1">
                  <a:off x="1882642" y="5039196"/>
                  <a:ext cx="900000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직선 연결선 236"/>
                <p:cNvCxnSpPr/>
                <p:nvPr/>
              </p:nvCxnSpPr>
              <p:spPr>
                <a:xfrm>
                  <a:off x="1886981" y="5039196"/>
                  <a:ext cx="71366" cy="85254"/>
                </a:xfrm>
                <a:prstGeom prst="line">
                  <a:avLst/>
                </a:prstGeom>
                <a:ln w="1270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1" name="그룹 210"/>
            <p:cNvGrpSpPr/>
            <p:nvPr/>
          </p:nvGrpSpPr>
          <p:grpSpPr>
            <a:xfrm>
              <a:off x="6292130" y="2021506"/>
              <a:ext cx="432000" cy="432000"/>
              <a:chOff x="5324583" y="1528907"/>
              <a:chExt cx="432000" cy="432000"/>
            </a:xfrm>
          </p:grpSpPr>
          <p:sp>
            <p:nvSpPr>
              <p:cNvPr id="228" name="타원 227"/>
              <p:cNvSpPr/>
              <p:nvPr/>
            </p:nvSpPr>
            <p:spPr>
              <a:xfrm>
                <a:off x="5324583" y="1528907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29" name="그림 228"/>
              <p:cNvPicPr>
                <a:picLocks noChangeAspect="1"/>
              </p:cNvPicPr>
              <p:nvPr/>
            </p:nvPicPr>
            <p:blipFill rotWithShape="1">
              <a:blip r:embed="rId2"/>
              <a:srcRect l="9505" t="24852" r="55359" b="3470"/>
              <a:stretch/>
            </p:blipFill>
            <p:spPr>
              <a:xfrm>
                <a:off x="5416170" y="1597152"/>
                <a:ext cx="283589" cy="292124"/>
              </a:xfrm>
              <a:prstGeom prst="rect">
                <a:avLst/>
              </a:prstGeom>
            </p:spPr>
          </p:pic>
        </p:grpSp>
        <p:sp>
          <p:nvSpPr>
            <p:cNvPr id="212" name="TextBox 211"/>
            <p:cNvSpPr txBox="1"/>
            <p:nvPr/>
          </p:nvSpPr>
          <p:spPr>
            <a:xfrm>
              <a:off x="6417193" y="2578851"/>
              <a:ext cx="15376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개인파산    </a:t>
              </a:r>
              <a:r>
                <a:rPr lang="en-US" altLang="ko-KR" sz="11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|   93% </a:t>
              </a:r>
              <a:r>
                <a:rPr lang="ko-KR" altLang="en-US" sz="11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탕감</a:t>
              </a:r>
              <a:endPara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3" name="모서리가 둥근 직사각형 212"/>
            <p:cNvSpPr/>
            <p:nvPr/>
          </p:nvSpPr>
          <p:spPr>
            <a:xfrm>
              <a:off x="7215456" y="2556916"/>
              <a:ext cx="739338" cy="290913"/>
            </a:xfrm>
            <a:prstGeom prst="roundRect">
              <a:avLst/>
            </a:prstGeom>
            <a:solidFill>
              <a:schemeClr val="tx1">
                <a:lumMod val="65000"/>
                <a:lumOff val="3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6188241" y="3048973"/>
              <a:ext cx="13724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회사원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남성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50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 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OO 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님</a:t>
              </a:r>
              <a:endPara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6185695" y="3195593"/>
              <a:ext cx="186782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총 </a:t>
              </a:r>
              <a:r>
                <a:rPr lang="ko-KR" altLang="en-US" sz="10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채무액</a:t>
              </a:r>
              <a:r>
                <a:rPr lang="ko-KR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0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180,626,375</a:t>
              </a:r>
              <a:r>
                <a:rPr lang="ko-KR" altLang="en-US" sz="10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원</a:t>
              </a:r>
              <a:r>
                <a:rPr lang="ko-KR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탕감</a:t>
              </a:r>
              <a:r>
                <a:rPr lang="en-US" altLang="ko-KR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!</a:t>
              </a:r>
            </a:p>
          </p:txBody>
        </p:sp>
        <p:sp>
          <p:nvSpPr>
            <p:cNvPr id="216" name="모서리가 둥근 직사각형 215"/>
            <p:cNvSpPr/>
            <p:nvPr/>
          </p:nvSpPr>
          <p:spPr>
            <a:xfrm>
              <a:off x="6249513" y="3613856"/>
              <a:ext cx="2009542" cy="1151325"/>
            </a:xfrm>
            <a:prstGeom prst="roundRect">
              <a:avLst>
                <a:gd name="adj" fmla="val 1089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6249513" y="3747110"/>
              <a:ext cx="7024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총 </a:t>
              </a:r>
              <a:r>
                <a:rPr lang="ko-KR" altLang="en-US" sz="800" dirty="0" err="1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채무액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endPara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endParaRPr lang="en-US" altLang="ko-KR" sz="8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탕감 후 원금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7236091" y="3744337"/>
              <a:ext cx="96372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193,185,479 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원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7204031" y="3960676"/>
              <a:ext cx="9957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13,189,104 </a:t>
              </a:r>
              <a:r>
                <a:rPr lang="ko-KR" altLang="en-US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원</a:t>
              </a:r>
              <a:endPara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220" name="직선 연결선 219"/>
            <p:cNvCxnSpPr>
              <a:stCxn id="218" idx="1"/>
              <a:endCxn id="218" idx="1"/>
            </p:cNvCxnSpPr>
            <p:nvPr/>
          </p:nvCxnSpPr>
          <p:spPr>
            <a:xfrm>
              <a:off x="7236091" y="3859753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1" name="그룹 220"/>
            <p:cNvGrpSpPr/>
            <p:nvPr/>
          </p:nvGrpSpPr>
          <p:grpSpPr>
            <a:xfrm>
              <a:off x="7236091" y="3847151"/>
              <a:ext cx="855393" cy="83164"/>
              <a:chOff x="1882642" y="5039196"/>
              <a:chExt cx="900000" cy="85254"/>
            </a:xfrm>
          </p:grpSpPr>
          <p:cxnSp>
            <p:nvCxnSpPr>
              <p:cNvPr id="226" name="직선 연결선 225"/>
              <p:cNvCxnSpPr/>
              <p:nvPr/>
            </p:nvCxnSpPr>
            <p:spPr>
              <a:xfrm flipH="1" flipV="1">
                <a:off x="1882642" y="5039196"/>
                <a:ext cx="900000" cy="0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직선 연결선 226"/>
              <p:cNvCxnSpPr/>
              <p:nvPr/>
            </p:nvCxnSpPr>
            <p:spPr>
              <a:xfrm>
                <a:off x="1886981" y="5039196"/>
                <a:ext cx="71366" cy="85254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2" name="TextBox 221"/>
            <p:cNvSpPr txBox="1"/>
            <p:nvPr/>
          </p:nvSpPr>
          <p:spPr>
            <a:xfrm>
              <a:off x="6285687" y="4386707"/>
              <a:ext cx="56297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 </a:t>
              </a:r>
              <a:r>
                <a:rPr lang="ko-KR" altLang="en-US" sz="800" dirty="0" err="1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변제액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7200762" y="4311589"/>
              <a:ext cx="100380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약</a:t>
              </a:r>
              <a:r>
                <a:rPr lang="ko-KR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3</a:t>
              </a:r>
              <a:r>
                <a:rPr lang="en-US" altLang="ko-KR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60,000 </a:t>
              </a:r>
              <a:r>
                <a:rPr lang="ko-KR" altLang="en-US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원</a:t>
              </a:r>
              <a:endParaRPr lang="en-US" altLang="ko-KR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224" name="직선 연결선 223"/>
            <p:cNvCxnSpPr/>
            <p:nvPr/>
          </p:nvCxnSpPr>
          <p:spPr>
            <a:xfrm>
              <a:off x="6353313" y="4311589"/>
              <a:ext cx="17970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직선 화살표 연결선 6"/>
          <p:cNvCxnSpPr/>
          <p:nvPr/>
        </p:nvCxnSpPr>
        <p:spPr>
          <a:xfrm flipH="1">
            <a:off x="1049524" y="5929460"/>
            <a:ext cx="7100828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07645" y="5806349"/>
            <a:ext cx="66842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롤링방향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35120" y="66752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344445" y="1760355"/>
            <a:ext cx="352821" cy="230832"/>
            <a:chOff x="9984557" y="3090201"/>
            <a:chExt cx="352821" cy="230832"/>
          </a:xfrm>
        </p:grpSpPr>
        <p:sp>
          <p:nvSpPr>
            <p:cNvPr id="84" name="직사각형 83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4107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37812" y="3241829"/>
            <a:ext cx="9092452" cy="349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971286"/>
              </p:ext>
            </p:extLst>
          </p:nvPr>
        </p:nvGraphicFramePr>
        <p:xfrm>
          <a:off x="9303719" y="412801"/>
          <a:ext cx="2769668" cy="32995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실시간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신청현황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신청현황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더미데이터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롤링으로 노출되나 상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하단 반대 방향으로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흘러가는 느낌의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인터럭션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아래 참고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URL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신청현황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참고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&lt;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URL&gt;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hlinkClick r:id="rId3"/>
                        </a:rPr>
                        <a:t>https://goodrichmall.com/insur_analysis01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신청현황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0557" y="1061937"/>
            <a:ext cx="2736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고객님이 신청하고 있어요</a:t>
            </a:r>
            <a:endParaRPr lang="en-US" altLang="ko-KR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0557" y="682147"/>
            <a:ext cx="3779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지금 실시간으로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707383" y="1813131"/>
            <a:ext cx="838200" cy="41083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전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46053" y="1880050"/>
            <a:ext cx="2318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7132462" y="1813131"/>
            <a:ext cx="838200" cy="41083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전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71132" y="1880050"/>
            <a:ext cx="10871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45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249108" y="1836310"/>
            <a:ext cx="838200" cy="41083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전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87778" y="1903229"/>
            <a:ext cx="2318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2657416" y="2389810"/>
            <a:ext cx="838200" cy="41083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전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96086" y="2456729"/>
            <a:ext cx="2318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5914349" y="2389810"/>
            <a:ext cx="1006346" cy="41083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23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전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21165" y="2456729"/>
            <a:ext cx="2318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45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37811" y="2479908"/>
            <a:ext cx="2318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35120" y="66752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948990"/>
              </p:ext>
            </p:extLst>
          </p:nvPr>
        </p:nvGraphicFramePr>
        <p:xfrm>
          <a:off x="598402" y="3573718"/>
          <a:ext cx="3604675" cy="2955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9655">
                  <a:extLst>
                    <a:ext uri="{9D8B030D-6E8A-4147-A177-3AD203B41FA5}">
                      <a16:colId xmlns:a16="http://schemas.microsoft.com/office/drawing/2014/main" val="3442631263"/>
                    </a:ext>
                  </a:extLst>
                </a:gridCol>
                <a:gridCol w="870867">
                  <a:extLst>
                    <a:ext uri="{9D8B030D-6E8A-4147-A177-3AD203B41FA5}">
                      <a16:colId xmlns:a16="http://schemas.microsoft.com/office/drawing/2014/main" val="3550061013"/>
                    </a:ext>
                  </a:extLst>
                </a:gridCol>
                <a:gridCol w="2234153">
                  <a:extLst>
                    <a:ext uri="{9D8B030D-6E8A-4147-A177-3AD203B41FA5}">
                      <a16:colId xmlns:a16="http://schemas.microsoft.com/office/drawing/2014/main" val="4173489551"/>
                    </a:ext>
                  </a:extLst>
                </a:gridCol>
              </a:tblGrid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구분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신청자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632565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 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30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김**님이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07752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 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50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이**님이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326723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36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 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45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김**님이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14234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41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 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37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신**님이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99953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50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 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24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변**님이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122023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30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박**님이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481551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30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28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정**님이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698328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43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장**님이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342977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35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윤**님이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845536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</a:t>
                      </a: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30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55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최**님이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34300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60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서**님이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75176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32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김**님이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395060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r>
                        <a:rPr lang="ko-KR" altLang="en-US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26</a:t>
                      </a:r>
                      <a:r>
                        <a:rPr lang="ko-KR" altLang="en-US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배**님이 </a:t>
                      </a:r>
                      <a:r>
                        <a:rPr lang="ko-KR" altLang="en-US" sz="1000" u="none" strike="noStrike" dirty="0" err="1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84629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297335"/>
              </p:ext>
            </p:extLst>
          </p:nvPr>
        </p:nvGraphicFramePr>
        <p:xfrm>
          <a:off x="4365987" y="3573718"/>
          <a:ext cx="3604675" cy="2955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9655">
                  <a:extLst>
                    <a:ext uri="{9D8B030D-6E8A-4147-A177-3AD203B41FA5}">
                      <a16:colId xmlns:a16="http://schemas.microsoft.com/office/drawing/2014/main" val="3442631263"/>
                    </a:ext>
                  </a:extLst>
                </a:gridCol>
                <a:gridCol w="870867">
                  <a:extLst>
                    <a:ext uri="{9D8B030D-6E8A-4147-A177-3AD203B41FA5}">
                      <a16:colId xmlns:a16="http://schemas.microsoft.com/office/drawing/2014/main" val="3550061013"/>
                    </a:ext>
                  </a:extLst>
                </a:gridCol>
                <a:gridCol w="2234153">
                  <a:extLst>
                    <a:ext uri="{9D8B030D-6E8A-4147-A177-3AD203B41FA5}">
                      <a16:colId xmlns:a16="http://schemas.microsoft.com/office/drawing/2014/main" val="4173489551"/>
                    </a:ext>
                  </a:extLst>
                </a:gridCol>
              </a:tblGrid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구분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신청자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632565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14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52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남**님이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07752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24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정**님이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326723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61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이**님이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14234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17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구**님이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99953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18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13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47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송**님이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122023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19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31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최**님이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481551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16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42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김**님이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698328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16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박**님이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342977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17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53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허**님이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845536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18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63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김**님이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34300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24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이**님이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75176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22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72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민**님이 상담신청했습니다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395060"/>
                  </a:ext>
                </a:extLst>
              </a:tr>
              <a:tr h="2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23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 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 심**님이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상담신청했습니다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8462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6253" y="3293625"/>
            <a:ext cx="13821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신청현황</a:t>
            </a:r>
            <a:r>
              <a:rPr lang="ko-KR" altLang="en-US" sz="1000" b="1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b="1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더미데이터</a:t>
            </a:r>
            <a:endParaRPr lang="ko-KR" altLang="en-US" sz="1000" b="1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784" y="4487158"/>
            <a:ext cx="2485032" cy="40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72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302518"/>
              </p:ext>
            </p:extLst>
          </p:nvPr>
        </p:nvGraphicFramePr>
        <p:xfrm>
          <a:off x="9303719" y="412801"/>
          <a:ext cx="2769668" cy="27385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대표변호사 소개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대표변호사 소개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변호사 사진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전문분야 증서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변호사 사진과 전문분야 증서를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롤링하여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마우스 올리면 롤링 중지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9092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대표변호사 소개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3273" y="1061937"/>
            <a:ext cx="3740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개인회생ㆍ파산</a:t>
            </a:r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전문 </a:t>
            </a:r>
            <a:r>
              <a:rPr lang="ko-KR" altLang="en-US" sz="2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황선택</a:t>
            </a:r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변호사</a:t>
            </a:r>
            <a:endParaRPr lang="en-US" altLang="ko-KR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0557" y="682147"/>
            <a:ext cx="3779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대표변호사 소개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594903" y="1841837"/>
            <a:ext cx="3017203" cy="3228568"/>
            <a:chOff x="545579" y="1771064"/>
            <a:chExt cx="3352483" cy="4277360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2073143" y="4562574"/>
            <a:ext cx="144142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황선택</a:t>
            </a:r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대표변호사</a:t>
            </a:r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4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3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도산전문</a:t>
            </a:r>
            <a:endParaRPr lang="ko-KR" alt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21482" y="1916394"/>
            <a:ext cx="4586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채무에 관련에 된 다양한 문제에 대하여</a:t>
            </a:r>
            <a:endParaRPr lang="en-US" altLang="ko-KR" sz="14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최선의 해결책을 제시하고 채무 탕감 소송의 경험이 풍부합니다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21482" y="2763562"/>
            <a:ext cx="920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학력 및 경력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15493" y="3104838"/>
            <a:ext cx="2283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화성시의회 법률고문변호사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화성시의회 윤리심사자문위원회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한국무선인터넷솔루션협회 비즈니스자문단 전문위원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영동로구청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지방세심의위원회 </a:t>
            </a:r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심의의원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977266" y="3083730"/>
            <a:ext cx="23118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성균관대학교 경상대학 졸업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원광대학교 법학전문대학원 졸업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세무사자격증 보유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에이스법률사무소 대표변호사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법무법인 밝음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법무법인 </a:t>
            </a:r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창비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황선택변호사 사무소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650422" y="5180821"/>
            <a:ext cx="634926" cy="9222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2333045" y="5180821"/>
            <a:ext cx="246058" cy="9222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t="608"/>
          <a:stretch/>
        </p:blipFill>
        <p:spPr>
          <a:xfrm>
            <a:off x="9541718" y="3567238"/>
            <a:ext cx="1723313" cy="246667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1036119" y="5534486"/>
            <a:ext cx="2390398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사진 ↔ 전문분야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등록증서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번갈아가며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롤링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35120" y="66752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1156014" y="5172932"/>
            <a:ext cx="352821" cy="230832"/>
            <a:chOff x="9984557" y="3090201"/>
            <a:chExt cx="352821" cy="230832"/>
          </a:xfrm>
        </p:grpSpPr>
        <p:sp>
          <p:nvSpPr>
            <p:cNvPr id="26" name="직사각형 25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6264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671130"/>
              </p:ext>
            </p:extLst>
          </p:nvPr>
        </p:nvGraphicFramePr>
        <p:xfrm>
          <a:off x="9303719" y="412801"/>
          <a:ext cx="2769668" cy="38877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특별한 서비스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특별한 서비스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해당영역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진입하면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가지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아래에서 위로 올라오는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바로 아래 배너의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개씩 위로 올라오는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 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산만한 느낌을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줄경우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처럼 묶어서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2"/>
                        </a:rPr>
                        <a:t>https://www.lguplus.com/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8098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특별한 서비스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0557" y="1061937"/>
            <a:ext cx="4347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법률사무소의 특별한 서비스 </a:t>
            </a:r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</a:t>
            </a:r>
            <a:endParaRPr lang="en-US" altLang="ko-KR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0557" y="682147"/>
            <a:ext cx="3779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쉽다</a:t>
            </a:r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 </a:t>
            </a: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빠르다</a:t>
            </a:r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 </a:t>
            </a:r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안전하다</a:t>
            </a:r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804810" y="1843205"/>
            <a:ext cx="1846950" cy="940635"/>
          </a:xfrm>
          <a:prstGeom prst="roundRect">
            <a:avLst>
              <a:gd name="adj" fmla="val 1577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1532367" y="1965212"/>
            <a:ext cx="423192" cy="405504"/>
            <a:chOff x="545579" y="1771064"/>
            <a:chExt cx="3352483" cy="4277360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모서리가 둥근 직사각형 14"/>
          <p:cNvSpPr/>
          <p:nvPr/>
        </p:nvSpPr>
        <p:spPr>
          <a:xfrm>
            <a:off x="2783840" y="1846999"/>
            <a:ext cx="1846950" cy="940635"/>
          </a:xfrm>
          <a:prstGeom prst="roundRect">
            <a:avLst>
              <a:gd name="adj" fmla="val 1577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4785365" y="1846999"/>
            <a:ext cx="1846950" cy="940635"/>
          </a:xfrm>
          <a:prstGeom prst="roundRect">
            <a:avLst>
              <a:gd name="adj" fmla="val 1577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786890" y="1843204"/>
            <a:ext cx="1846950" cy="940635"/>
          </a:xfrm>
          <a:prstGeom prst="roundRect">
            <a:avLst>
              <a:gd name="adj" fmla="val 1577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391154" y="2381841"/>
            <a:ext cx="766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비밀보장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17206" y="2362043"/>
            <a:ext cx="1007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채권추심관리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91927" y="2362042"/>
            <a:ext cx="1150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서류발급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대행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08849" y="2374160"/>
            <a:ext cx="1150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빠른사건접수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818432" y="2960836"/>
            <a:ext cx="1846950" cy="940635"/>
          </a:xfrm>
          <a:prstGeom prst="roundRect">
            <a:avLst>
              <a:gd name="adj" fmla="val 1577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2797462" y="2964630"/>
            <a:ext cx="1846950" cy="940635"/>
          </a:xfrm>
          <a:prstGeom prst="roundRect">
            <a:avLst>
              <a:gd name="adj" fmla="val 1577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4798987" y="2964630"/>
            <a:ext cx="1846950" cy="940635"/>
          </a:xfrm>
          <a:prstGeom prst="roundRect">
            <a:avLst>
              <a:gd name="adj" fmla="val 1577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6800512" y="2960835"/>
            <a:ext cx="1846950" cy="940635"/>
          </a:xfrm>
          <a:prstGeom prst="roundRect">
            <a:avLst>
              <a:gd name="adj" fmla="val 1577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1346409" y="3488596"/>
            <a:ext cx="766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무료상담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087341" y="3479673"/>
            <a:ext cx="1428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기각시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100% 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환불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248028" y="3479503"/>
            <a:ext cx="1150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수임료 </a:t>
            </a:r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분남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39046" y="3475787"/>
            <a:ext cx="1439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분야별 전문 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관리단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3511397" y="1965212"/>
            <a:ext cx="423192" cy="405504"/>
            <a:chOff x="545579" y="1771064"/>
            <a:chExt cx="3352483" cy="4277360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/>
          <p:cNvGrpSpPr/>
          <p:nvPr/>
        </p:nvGrpSpPr>
        <p:grpSpPr>
          <a:xfrm>
            <a:off x="5490427" y="1965212"/>
            <a:ext cx="423192" cy="405504"/>
            <a:chOff x="545579" y="1771064"/>
            <a:chExt cx="3352483" cy="4277360"/>
          </a:xfrm>
        </p:grpSpPr>
        <p:sp>
          <p:nvSpPr>
            <p:cNvPr id="54" name="모서리가 둥근 직사각형 53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그룹 56"/>
          <p:cNvGrpSpPr/>
          <p:nvPr/>
        </p:nvGrpSpPr>
        <p:grpSpPr>
          <a:xfrm>
            <a:off x="7469457" y="1965212"/>
            <a:ext cx="423192" cy="405504"/>
            <a:chOff x="545579" y="1771064"/>
            <a:chExt cx="3352483" cy="4277360"/>
          </a:xfrm>
        </p:grpSpPr>
        <p:sp>
          <p:nvSpPr>
            <p:cNvPr id="58" name="모서리가 둥근 직사각형 57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9" name="직선 연결선 58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/>
          <p:cNvGrpSpPr/>
          <p:nvPr/>
        </p:nvGrpSpPr>
        <p:grpSpPr>
          <a:xfrm>
            <a:off x="1482066" y="3071318"/>
            <a:ext cx="423192" cy="405504"/>
            <a:chOff x="545579" y="1771064"/>
            <a:chExt cx="3352483" cy="4277360"/>
          </a:xfrm>
        </p:grpSpPr>
        <p:sp>
          <p:nvSpPr>
            <p:cNvPr id="66" name="모서리가 둥근 직사각형 65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7" name="직선 연결선 66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그룹 68"/>
          <p:cNvGrpSpPr/>
          <p:nvPr/>
        </p:nvGrpSpPr>
        <p:grpSpPr>
          <a:xfrm>
            <a:off x="3461096" y="3071318"/>
            <a:ext cx="423192" cy="405504"/>
            <a:chOff x="545579" y="1771064"/>
            <a:chExt cx="3352483" cy="4277360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1" name="직선 연결선 70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그룹 72"/>
          <p:cNvGrpSpPr/>
          <p:nvPr/>
        </p:nvGrpSpPr>
        <p:grpSpPr>
          <a:xfrm>
            <a:off x="5440126" y="3071318"/>
            <a:ext cx="423192" cy="405504"/>
            <a:chOff x="545579" y="1771064"/>
            <a:chExt cx="3352483" cy="4277360"/>
          </a:xfrm>
        </p:grpSpPr>
        <p:sp>
          <p:nvSpPr>
            <p:cNvPr id="74" name="모서리가 둥근 직사각형 73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그룹 76"/>
          <p:cNvGrpSpPr/>
          <p:nvPr/>
        </p:nvGrpSpPr>
        <p:grpSpPr>
          <a:xfrm>
            <a:off x="7419156" y="3071318"/>
            <a:ext cx="423192" cy="405504"/>
            <a:chOff x="545579" y="1771064"/>
            <a:chExt cx="3352483" cy="4277360"/>
          </a:xfrm>
        </p:grpSpPr>
        <p:sp>
          <p:nvSpPr>
            <p:cNvPr id="78" name="모서리가 둥근 직사각형 77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연결선 78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/>
          <p:cNvSpPr/>
          <p:nvPr/>
        </p:nvSpPr>
        <p:spPr>
          <a:xfrm>
            <a:off x="256591" y="778507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310026" y="1563225"/>
            <a:ext cx="352821" cy="230832"/>
            <a:chOff x="9984557" y="3090201"/>
            <a:chExt cx="352821" cy="230832"/>
          </a:xfrm>
        </p:grpSpPr>
        <p:sp>
          <p:nvSpPr>
            <p:cNvPr id="64" name="직사각형 63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740774" y="1716235"/>
            <a:ext cx="1978761" cy="2431559"/>
          </a:xfrm>
          <a:prstGeom prst="rect">
            <a:avLst/>
          </a:prstGeom>
          <a:noFill/>
          <a:ln w="63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/>
          <p:cNvSpPr/>
          <p:nvPr/>
        </p:nvSpPr>
        <p:spPr>
          <a:xfrm>
            <a:off x="555147" y="4071724"/>
            <a:ext cx="320511" cy="207389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523" y="5181463"/>
            <a:ext cx="2486327" cy="109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04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861080" y="2160983"/>
            <a:ext cx="4330920" cy="46439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393235"/>
              </p:ext>
            </p:extLst>
          </p:nvPr>
        </p:nvGraphicFramePr>
        <p:xfrm>
          <a:off x="9303719" y="412801"/>
          <a:ext cx="2769668" cy="14626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자주하는 질문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자주하는 질문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디폴트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최상단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질문의 답변은 열린 상태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질문명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배너 클릭 시 아래로 답변 열림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→ 클릭 시 열리고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접힘 번갈아 가며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자주하는 질문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답변은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아래 참고 내용으로 진행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8098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자주하는 질문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9865" y="828437"/>
            <a:ext cx="1571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자주하는 질문</a:t>
            </a:r>
            <a:endParaRPr lang="en-US" altLang="ko-KR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98383" y="1644183"/>
            <a:ext cx="7001585" cy="516800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58976" y="1747600"/>
            <a:ext cx="2893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아무도 모르게 비밀로 진행가능한가요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679835" y="2193018"/>
            <a:ext cx="7001585" cy="10775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59496" y="2330498"/>
            <a:ext cx="6064481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</a:t>
            </a:r>
            <a:r>
              <a:rPr lang="en-US" altLang="ko-KR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 </a:t>
            </a:r>
            <a:r>
              <a:rPr lang="ko-KR" altLang="en-US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가능합니다</a:t>
            </a:r>
            <a:r>
              <a:rPr lang="en-US" altLang="ko-KR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3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개인회상</a:t>
            </a:r>
            <a:r>
              <a:rPr lang="ko-KR" altLang="en-US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파산 등의 도산 절차는 채무자 본인과 채권자 등 이해관계에 있을 때만 통지되며</a:t>
            </a:r>
            <a:endParaRPr lang="en-US" altLang="ko-KR" sz="13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가족이나 지인</a:t>
            </a:r>
            <a:r>
              <a:rPr lang="en-US" altLang="ko-KR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회사 등 제 </a:t>
            </a:r>
            <a:r>
              <a:rPr lang="en-US" altLang="ko-KR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자에게는 비밀을 보장합니다</a:t>
            </a:r>
            <a:r>
              <a:rPr lang="en-US" altLang="ko-KR" sz="13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679834" y="3463489"/>
            <a:ext cx="7001585" cy="516800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갈매기형 수장 18"/>
          <p:cNvSpPr/>
          <p:nvPr/>
        </p:nvSpPr>
        <p:spPr>
          <a:xfrm rot="5400000">
            <a:off x="7224524" y="3675038"/>
            <a:ext cx="109457" cy="203160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갈매기형 수장 19"/>
          <p:cNvSpPr/>
          <p:nvPr/>
        </p:nvSpPr>
        <p:spPr>
          <a:xfrm rot="16200000">
            <a:off x="7200184" y="1801002"/>
            <a:ext cx="109457" cy="203160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79834" y="4089747"/>
            <a:ext cx="7001585" cy="516800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갈매기형 수장 21"/>
          <p:cNvSpPr/>
          <p:nvPr/>
        </p:nvSpPr>
        <p:spPr>
          <a:xfrm rot="5400000">
            <a:off x="7224524" y="4301296"/>
            <a:ext cx="109457" cy="203160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679834" y="4716005"/>
            <a:ext cx="7001585" cy="516800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갈매기형 수장 23"/>
          <p:cNvSpPr/>
          <p:nvPr/>
        </p:nvSpPr>
        <p:spPr>
          <a:xfrm rot="5400000">
            <a:off x="7224524" y="4927554"/>
            <a:ext cx="109457" cy="203160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679834" y="5342263"/>
            <a:ext cx="7001585" cy="516800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갈매기형 수장 25"/>
          <p:cNvSpPr/>
          <p:nvPr/>
        </p:nvSpPr>
        <p:spPr>
          <a:xfrm rot="5400000">
            <a:off x="7224524" y="5553812"/>
            <a:ext cx="109457" cy="203160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3856" y="3597294"/>
            <a:ext cx="2691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빚 독촉이 심한데 추심을 멈출 수 있나요</a:t>
            </a: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3856" y="4234990"/>
            <a:ext cx="29722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누구나 개인회생이나 파산을 신청할 수 있나요</a:t>
            </a: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3856" y="4835905"/>
            <a:ext cx="3805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과거에 개인회생이나 파산을 진행했는데 또 진행할 수 있나요</a:t>
            </a: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76060" y="2596080"/>
            <a:ext cx="4197328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아무도 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모르게 비밀로 진행가능한가요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 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가능합니다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9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개인회상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파산 등의 도산 절차는 채무자 본인과 채권자 등 이해관계에 있을 때만 통지되며</a:t>
            </a:r>
          </a:p>
          <a:p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가족이나 지인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회사 등 제 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자에게는 비밀을 보장합니다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Q.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빚 독촉이 심한데 추심을 멈출 수 있나요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신청 시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가능합니다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개인회생이 신청하면 법원을 통해 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금지명령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발부 받는데</a:t>
            </a:r>
            <a:endParaRPr lang="en-US" altLang="ko-KR" sz="9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금지명령이 내려지면 채권자는 채무자에게 변제 요구를 할 수 없고</a:t>
            </a:r>
            <a:endParaRPr lang="en-US" altLang="ko-KR" sz="9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독촉전화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방문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문자 발송 등의 모든 채권추심 및 변제 독촉 행위가 법적으로 금지되기 때문입니다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altLang="ko-KR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Q.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누구나 개인회생이나 파산을 신청할 수 있나요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가능합니다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다만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아래의 경우에 해당한다면 어려울 수 있습니다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신청할 수 없는 경우</a:t>
            </a:r>
            <a:endParaRPr lang="en-US" altLang="ko-KR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지속적인 수입원이 없는 경우</a:t>
            </a:r>
            <a:endParaRPr lang="en-US" altLang="ko-KR" sz="9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2.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최근 개인회생 및 파산 면책을 받은 경우</a:t>
            </a:r>
            <a:endParaRPr lang="en-US" altLang="ko-KR" sz="9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빚이 너무 많은 경우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신청 조건은 담보 채무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억원 이하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무담보 채무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억원 이하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endParaRPr lang="en-US" altLang="ko-KR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Q.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과거에 개인회생이나 파산을 진행했는데 또 진행할 수 있나요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가능합니다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</a:t>
            </a:r>
            <a:r>
              <a:rPr lang="ko-KR" altLang="en-US" sz="9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재신청은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면책 확정일로부터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년이 경과하면 가능합니다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개인파산 </a:t>
            </a:r>
            <a:r>
              <a:rPr lang="ko-KR" altLang="en-US" sz="9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재신청은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면책 확정일로부터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5~7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년이 경과하면 가능합니다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Q.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가족에게 피해는 없나요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전혀없습니다</a:t>
            </a:r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가족에게 피해는 없나요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56591" y="778507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9608" y="5461911"/>
            <a:ext cx="1669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가족에게 피해는 없나요</a:t>
            </a: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76060" y="2240032"/>
            <a:ext cx="9813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자주하는 질문</a:t>
            </a:r>
            <a:endParaRPr lang="ko-KR" altLang="en-US" sz="900" b="1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7575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/>
          <p:cNvSpPr/>
          <p:nvPr/>
        </p:nvSpPr>
        <p:spPr>
          <a:xfrm>
            <a:off x="118613" y="4913449"/>
            <a:ext cx="9111651" cy="18084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546355"/>
              </p:ext>
            </p:extLst>
          </p:nvPr>
        </p:nvGraphicFramePr>
        <p:xfrm>
          <a:off x="9303719" y="412801"/>
          <a:ext cx="2769668" cy="50948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오시는길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오시는 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지도는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네이버지도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위치공유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1-3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위치공유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 뜸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1-2.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길찾기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길찾기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새창으로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열림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길찾기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은 좌측에 기재한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1-3.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위치공유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레이어 팝업으로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오시는길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텍스트박스에 자동 입력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인풋박스는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마우스로 직접 설정할 수 있도록 블록 잡으면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 다 노출되도록 처리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복사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복사됨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인풋박스를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통해서도 직접 복사 가능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취소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팝업 닫힘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오시는길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은 좌측에 기재한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9242" y="789121"/>
            <a:ext cx="896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endParaRPr lang="en-US" altLang="ko-KR" sz="16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 flipH="1">
            <a:off x="209457" y="1200795"/>
            <a:ext cx="5590574" cy="52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주소 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서울특별시 서초구 </a:t>
            </a:r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사임당로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9, 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층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명화빌딩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대표번호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4355140" y="1309444"/>
            <a:ext cx="861753" cy="311085"/>
            <a:chOff x="3757661" y="1652510"/>
            <a:chExt cx="1313099" cy="474562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3757661" y="1652510"/>
              <a:ext cx="1246059" cy="474562"/>
            </a:xfrm>
            <a:prstGeom prst="roundRect">
              <a:avLst>
                <a:gd name="adj" fmla="val 39167"/>
              </a:avLst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73551" y="1732918"/>
              <a:ext cx="284350" cy="252756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 flipH="1">
              <a:off x="4085623" y="1682962"/>
              <a:ext cx="985137" cy="375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 smtClean="0">
                  <a:solidFill>
                    <a:srgbClr val="232323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위치공유</a:t>
              </a:r>
              <a:endParaRPr lang="ko-KR" altLang="en-US" sz="1000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5256637" y="1289453"/>
            <a:ext cx="817756" cy="311085"/>
            <a:chOff x="5397809" y="1640671"/>
            <a:chExt cx="1246059" cy="474562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5397809" y="1640671"/>
              <a:ext cx="1246059" cy="474562"/>
            </a:xfrm>
            <a:prstGeom prst="roundRect">
              <a:avLst>
                <a:gd name="adj" fmla="val 39167"/>
              </a:avLst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7016" y="1737680"/>
              <a:ext cx="342813" cy="253028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 flipH="1">
              <a:off x="5724071" y="1715343"/>
              <a:ext cx="8472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 smtClean="0">
                  <a:solidFill>
                    <a:srgbClr val="232323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길찾기</a:t>
              </a:r>
              <a:endParaRPr lang="ko-KR" altLang="en-US" sz="1000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t="21282"/>
          <a:stretch/>
        </p:blipFill>
        <p:spPr>
          <a:xfrm>
            <a:off x="278334" y="1809291"/>
            <a:ext cx="5751236" cy="289540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 flipH="1">
            <a:off x="3153952" y="2687080"/>
            <a:ext cx="16271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남부터미널역 </a:t>
            </a:r>
            <a:r>
              <a:rPr lang="en-US" altLang="ko-KR" sz="9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9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 출구</a:t>
            </a:r>
            <a:endParaRPr lang="ko-KR" altLang="en-US" sz="9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09457" y="416676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9242" y="5323336"/>
            <a:ext cx="8685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https://map.naver.com/p/search/%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EC%84%9C%EC%9A%B8%ED%8A%B9%EB%B3%84%EC%8B%9C%20%EC%84%9C%EC%B4%88EA%B5%AC%20%EC%82%AC%EC%9E%84%EB%8B%B9%EB%A1%9C8%EA%B8%B8%209%2C%20%202%EC%B8%B5%20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(%EB%AA%85%ED%99%94%EB%B9%8C%EB%94%A9)/address/14139312.4602676,4507369.1271962,%EC%84%9C%EC%9A%B8%ED%8A%B9%EB%B3%84%EC%8B%9C%20%EC%84%9C%EC%B4%88%EA%B5%AC%20%EC%82%AC%EC%9E%84%EB%8B%B9%EB%A1%9C8%EA%B8%B8%209?c=15.00,0,0,0,dh&amp;isCorrectAnswer=true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6117142" y="2270727"/>
            <a:ext cx="2937080" cy="1367424"/>
            <a:chOff x="8784802" y="3123038"/>
            <a:chExt cx="2937080" cy="1367424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8784802" y="3123038"/>
              <a:ext cx="2937080" cy="1367424"/>
            </a:xfrm>
            <a:prstGeom prst="roundRect">
              <a:avLst>
                <a:gd name="adj" fmla="val 10709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902289" y="3179572"/>
              <a:ext cx="65594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오시는 길</a:t>
              </a:r>
              <a:endParaRPr lang="en-US" altLang="ko-KR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892264" y="3425793"/>
              <a:ext cx="16914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아래 보이는 링크를 복사해 주세요</a:t>
              </a:r>
              <a:endPara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8902289" y="3724368"/>
              <a:ext cx="2611224" cy="36339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24594" y="3780902"/>
              <a:ext cx="27972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4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https://map.naver.com/p/search/%</a:t>
              </a:r>
              <a:r>
                <a:rPr lang="en-US" altLang="ko-KR" sz="954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EC%84%</a:t>
              </a:r>
              <a:endParaRPr lang="ko-KR" altLang="en-US" sz="954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10308366" y="4176044"/>
              <a:ext cx="550774" cy="245097"/>
            </a:xfrm>
            <a:prstGeom prst="roundRect">
              <a:avLst>
                <a:gd name="adj" fmla="val 4359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10933754" y="4167561"/>
              <a:ext cx="550774" cy="245097"/>
            </a:xfrm>
            <a:prstGeom prst="roundRect">
              <a:avLst>
                <a:gd name="adj" fmla="val 4359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413147" y="4201046"/>
              <a:ext cx="3609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복사</a:t>
              </a:r>
              <a:endPara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024792" y="4190870"/>
              <a:ext cx="3609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취소</a:t>
              </a:r>
              <a:endPara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314543" y="6162008"/>
            <a:ext cx="7223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https://map.naver.com/p/directions/-/14139312.4568167,4507369.1284588,%EC%84%9C%EC%9A%B8%ED%8A%B9%EB%B3%84%EC%8B%9C%20%EC%84%9C%EC%B4%88%EA%B5%AC%20%EC%82%AC%EC%9E%84%EB%8B%B9%EB%A1%9C8%EA%B8%B8%209%20%EB%AA%85%ED%99%94%EB%B9%8C%EB%94%A9,,ADDRESS_POI/-/transit?c=15.00,0,0,0,dh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4441397" y="974246"/>
            <a:ext cx="352821" cy="230832"/>
            <a:chOff x="9984557" y="3090201"/>
            <a:chExt cx="352821" cy="230832"/>
          </a:xfrm>
        </p:grpSpPr>
        <p:sp>
          <p:nvSpPr>
            <p:cNvPr id="40" name="직사각형 39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5312694" y="954245"/>
            <a:ext cx="368851" cy="230832"/>
            <a:chOff x="9984557" y="3090201"/>
            <a:chExt cx="368851" cy="230832"/>
          </a:xfrm>
        </p:grpSpPr>
        <p:sp>
          <p:nvSpPr>
            <p:cNvPr id="43" name="직사각형 42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1-2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224604" y="1954279"/>
            <a:ext cx="10534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위치공유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팝업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59242" y="5127980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url</a:t>
            </a:r>
            <a:endParaRPr lang="ko-KR" altLang="en-US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14543" y="5996952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길찾기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url</a:t>
            </a:r>
            <a:endParaRPr lang="ko-KR" altLang="en-US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7" name="꺾인 연결선 56"/>
          <p:cNvCxnSpPr/>
          <p:nvPr/>
        </p:nvCxnSpPr>
        <p:spPr>
          <a:xfrm rot="16200000" flipH="1">
            <a:off x="5466058" y="934487"/>
            <a:ext cx="334293" cy="1606031"/>
          </a:xfrm>
          <a:prstGeom prst="bentConnector3">
            <a:avLst/>
          </a:prstGeom>
          <a:ln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/>
          <p:cNvGrpSpPr/>
          <p:nvPr/>
        </p:nvGrpSpPr>
        <p:grpSpPr>
          <a:xfrm>
            <a:off x="7473132" y="2096429"/>
            <a:ext cx="372057" cy="230832"/>
            <a:chOff x="9984557" y="3090201"/>
            <a:chExt cx="372057" cy="230832"/>
          </a:xfrm>
        </p:grpSpPr>
        <p:sp>
          <p:nvSpPr>
            <p:cNvPr id="47" name="직사각형 46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992412" y="3090201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1-3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72951" y="4807621"/>
            <a:ext cx="5854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&lt;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</a:t>
            </a:r>
            <a:endParaRPr lang="ko-KR" altLang="en-US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9399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86021"/>
              </p:ext>
            </p:extLst>
          </p:nvPr>
        </p:nvGraphicFramePr>
        <p:xfrm>
          <a:off x="9303719" y="412801"/>
          <a:ext cx="2769668" cy="3206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#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띠배너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띠배너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디자인시안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혹은 아래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참고하여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숫자가 돌아가는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&lt;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hlinkClick r:id="rId2"/>
                        </a:rPr>
                        <a:t>https://insurance.pay.naver.com/car?inflow=search</a:t>
                      </a:r>
                      <a:endParaRPr lang="en-US" altLang="ko-KR" sz="9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482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띠배너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8613" y="412801"/>
            <a:ext cx="9111651" cy="148544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13505" y="972606"/>
            <a:ext cx="14302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개인회생ㆍ파산</a:t>
            </a:r>
            <a:endParaRPr lang="en-US" altLang="ko-KR" sz="16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누적 </a:t>
            </a:r>
            <a:r>
              <a:rPr lang="ko-KR" altLang="en-US" sz="1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탕감액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00859" y="1034105"/>
            <a:ext cx="38811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ko-KR" sz="3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754,000,000,000</a:t>
            </a:r>
            <a:r>
              <a:rPr lang="en-US" altLang="ko-KR" sz="3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6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203162" y="636102"/>
            <a:ext cx="428669" cy="258316"/>
            <a:chOff x="8696958" y="4430297"/>
            <a:chExt cx="575310" cy="422910"/>
          </a:xfrm>
        </p:grpSpPr>
        <p:grpSp>
          <p:nvGrpSpPr>
            <p:cNvPr id="15" name="그룹 14"/>
            <p:cNvGrpSpPr/>
            <p:nvPr/>
          </p:nvGrpSpPr>
          <p:grpSpPr>
            <a:xfrm>
              <a:off x="8696958" y="4430297"/>
              <a:ext cx="575310" cy="422910"/>
              <a:chOff x="5872480" y="2412165"/>
              <a:chExt cx="575310" cy="422910"/>
            </a:xfrm>
          </p:grpSpPr>
          <p:sp>
            <p:nvSpPr>
              <p:cNvPr id="16" name="모서리가 둥근 직사각형 15"/>
              <p:cNvSpPr/>
              <p:nvPr/>
            </p:nvSpPr>
            <p:spPr>
              <a:xfrm>
                <a:off x="5872480" y="2412165"/>
                <a:ext cx="575310" cy="42291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>
                <a:off x="5908040" y="2443480"/>
                <a:ext cx="513080" cy="364925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/>
              <p:cNvCxnSpPr/>
              <p:nvPr/>
            </p:nvCxnSpPr>
            <p:spPr>
              <a:xfrm flipV="1">
                <a:off x="5889625" y="2425500"/>
                <a:ext cx="541020" cy="39624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8742970" y="4475082"/>
              <a:ext cx="401073" cy="23083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icon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631831" y="648197"/>
            <a:ext cx="2101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비교불가  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| 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탕감률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96%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신화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09457" y="53341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942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54209"/>
              </p:ext>
            </p:extLst>
          </p:nvPr>
        </p:nvGraphicFramePr>
        <p:xfrm>
          <a:off x="9303719" y="412801"/>
          <a:ext cx="2769668" cy="19264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푸터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푸터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118613" y="518160"/>
            <a:ext cx="9111651" cy="201168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83623" y="804644"/>
            <a:ext cx="38300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에이스법률사무소</a:t>
            </a:r>
            <a:endParaRPr lang="en-US" altLang="ko-KR" sz="12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1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주소 </a:t>
            </a:r>
            <a:r>
              <a:rPr lang="ko-KR" altLang="en-US" sz="11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서울특별시 서초구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사임당로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층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명화빌딩</a:t>
            </a:r>
            <a:r>
              <a:rPr lang="en-US" altLang="ko-KR" sz="11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r>
              <a:rPr lang="ko-KR" altLang="en-US" sz="11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대표번호사</a:t>
            </a:r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황선택</a:t>
            </a:r>
            <a:endParaRPr lang="en-US" altLang="ko-KR" sz="11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대표번호 </a:t>
            </a:r>
            <a:r>
              <a:rPr lang="en-US" altLang="ko-KR" sz="11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  <a:endParaRPr lang="ko-KR" alt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83623" y="1814948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Copyright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ⓒ 에이스법률사무소 All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rights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reserved</a:t>
            </a:r>
            <a:endParaRPr lang="ko-KR" alt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08610" y="8192916"/>
            <a:ext cx="9978390" cy="9739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45794" y="8362960"/>
            <a:ext cx="2766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 smtClean="0"/>
              <a:t>지금 바로 상담하고</a:t>
            </a:r>
            <a:endParaRPr lang="en-US" altLang="ko-KR" sz="1800" b="1" dirty="0" smtClean="0"/>
          </a:p>
          <a:p>
            <a:r>
              <a:rPr lang="ko-KR" altLang="en-US" sz="1800" b="1" dirty="0" smtClean="0"/>
              <a:t>숨은 혜택 받기</a:t>
            </a:r>
            <a:r>
              <a:rPr lang="en-US" altLang="ko-KR" sz="1800" b="1" dirty="0" smtClean="0"/>
              <a:t>!! </a:t>
            </a:r>
            <a:r>
              <a:rPr lang="ko-KR" altLang="en-US" sz="1800" b="1" dirty="0" smtClean="0"/>
              <a:t>  </a:t>
            </a:r>
            <a:endParaRPr lang="ko-KR" altLang="en-US" sz="1800" b="1" dirty="0"/>
          </a:p>
        </p:txBody>
      </p:sp>
      <p:sp>
        <p:nvSpPr>
          <p:cNvPr id="31" name="직사각형 30"/>
          <p:cNvSpPr/>
          <p:nvPr/>
        </p:nvSpPr>
        <p:spPr>
          <a:xfrm>
            <a:off x="2920261" y="8384458"/>
            <a:ext cx="1459233" cy="362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이름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499810" y="8384560"/>
            <a:ext cx="2575359" cy="350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dirty="0" smtClean="0">
                <a:solidFill>
                  <a:schemeClr val="tx1"/>
                </a:solidFill>
              </a:rPr>
              <a:t>010           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휴대폰</a:t>
            </a:r>
            <a:r>
              <a:rPr lang="en-US" altLang="ko-KR" sz="1200" dirty="0" smtClean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번호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                 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915920" y="8788420"/>
            <a:ext cx="248920" cy="2641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2865119" y="8724920"/>
            <a:ext cx="812800" cy="42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326130" y="8816823"/>
            <a:ext cx="3801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개인정보 수집 및 활용 동의   </a:t>
            </a:r>
            <a:r>
              <a:rPr lang="ko-KR" altLang="en-US" sz="1200" u="sng" dirty="0" err="1" smtClean="0"/>
              <a:t>내용보기</a:t>
            </a:r>
            <a:r>
              <a:rPr lang="ko-KR" altLang="en-US" sz="1200" dirty="0" smtClean="0"/>
              <a:t> </a:t>
            </a:r>
            <a:endParaRPr lang="ko-KR" altLang="en-US" sz="1200" dirty="0"/>
          </a:p>
        </p:txBody>
      </p:sp>
      <p:sp>
        <p:nvSpPr>
          <p:cNvPr id="38" name="직사각형 37"/>
          <p:cNvSpPr/>
          <p:nvPr/>
        </p:nvSpPr>
        <p:spPr>
          <a:xfrm>
            <a:off x="7269480" y="8412774"/>
            <a:ext cx="2366010" cy="5947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상담신청</a:t>
            </a:r>
            <a:endParaRPr lang="ko-KR" altLang="en-US" dirty="0"/>
          </a:p>
        </p:txBody>
      </p:sp>
      <p:sp>
        <p:nvSpPr>
          <p:cNvPr id="40" name="Drop-down Arrow"/>
          <p:cNvSpPr>
            <a:spLocks noChangeAspect="1"/>
          </p:cNvSpPr>
          <p:nvPr/>
        </p:nvSpPr>
        <p:spPr bwMode="auto">
          <a:xfrm>
            <a:off x="5225667" y="8530733"/>
            <a:ext cx="113413" cy="98827"/>
          </a:xfrm>
          <a:custGeom>
            <a:avLst/>
            <a:gdLst>
              <a:gd name="T0" fmla="*/ 0 w 353"/>
              <a:gd name="T1" fmla="*/ 0 h 176"/>
              <a:gd name="T2" fmla="*/ 176 w 353"/>
              <a:gd name="T3" fmla="*/ 176 h 176"/>
              <a:gd name="T4" fmla="*/ 353 w 353"/>
              <a:gd name="T5" fmla="*/ 0 h 176"/>
              <a:gd name="T6" fmla="*/ 0 w 353"/>
              <a:gd name="T7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3" h="176">
                <a:moveTo>
                  <a:pt x="0" y="0"/>
                </a:moveTo>
                <a:lnTo>
                  <a:pt x="176" y="176"/>
                </a:lnTo>
                <a:lnTo>
                  <a:pt x="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4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1110996" rtl="0" eaLnBrk="1" latinLnBrk="1" hangingPunct="1">
              <a:defRPr sz="21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5498" algn="l" defTabSz="1110996" rtl="0" eaLnBrk="1" latinLnBrk="1" hangingPunct="1">
              <a:defRPr sz="21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10996" algn="l" defTabSz="1110996" rtl="0" eaLnBrk="1" latinLnBrk="1" hangingPunct="1">
              <a:defRPr sz="21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66494" algn="l" defTabSz="1110996" rtl="0" eaLnBrk="1" latinLnBrk="1" hangingPunct="1">
              <a:defRPr sz="21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1992" algn="l" defTabSz="1110996" rtl="0" eaLnBrk="1" latinLnBrk="1" hangingPunct="1">
              <a:defRPr sz="21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7490" algn="l" defTabSz="1110996" rtl="0" eaLnBrk="1" latinLnBrk="1" hangingPunct="1">
              <a:defRPr sz="21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32988" algn="l" defTabSz="1110996" rtl="0" eaLnBrk="1" latinLnBrk="1" hangingPunct="1">
              <a:defRPr sz="21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8486" algn="l" defTabSz="1110996" rtl="0" eaLnBrk="1" latinLnBrk="1" hangingPunct="1">
              <a:defRPr sz="21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43984" algn="l" defTabSz="1110996" rtl="0" eaLnBrk="1" latinLnBrk="1" hangingPunct="1">
              <a:defRPr sz="21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87489" y="811290"/>
            <a:ext cx="321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</a:t>
            </a:r>
            <a:r>
              <a:rPr lang="ko-KR" altLang="en-US" sz="1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ㆍ파산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전문 상담 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전국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24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가능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/>
            <a:r>
              <a:rPr lang="en-US" altLang="ko-K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7709890" y="1363766"/>
            <a:ext cx="1148412" cy="538334"/>
            <a:chOff x="2163930" y="3985525"/>
            <a:chExt cx="1247924" cy="700985"/>
          </a:xfrm>
        </p:grpSpPr>
        <p:grpSp>
          <p:nvGrpSpPr>
            <p:cNvPr id="26" name="그룹 25"/>
            <p:cNvGrpSpPr/>
            <p:nvPr/>
          </p:nvGrpSpPr>
          <p:grpSpPr>
            <a:xfrm>
              <a:off x="2163930" y="3985525"/>
              <a:ext cx="1247924" cy="700985"/>
              <a:chOff x="545579" y="1771064"/>
              <a:chExt cx="3352483" cy="4277360"/>
            </a:xfrm>
          </p:grpSpPr>
          <p:sp>
            <p:nvSpPr>
              <p:cNvPr id="28" name="모서리가 둥근 직사각형 27"/>
              <p:cNvSpPr/>
              <p:nvPr/>
            </p:nvSpPr>
            <p:spPr>
              <a:xfrm>
                <a:off x="545579" y="1771064"/>
                <a:ext cx="3352483" cy="4277360"/>
              </a:xfrm>
              <a:prstGeom prst="roundRect">
                <a:avLst>
                  <a:gd name="adj" fmla="val 5757"/>
                </a:avLst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6" name="직선 연결선 35"/>
              <p:cNvCxnSpPr/>
              <p:nvPr/>
            </p:nvCxnSpPr>
            <p:spPr>
              <a:xfrm>
                <a:off x="650557" y="1771064"/>
                <a:ext cx="3017203" cy="42773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flipH="1">
                <a:off x="577102" y="1841837"/>
                <a:ext cx="3212578" cy="4071283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/>
            <p:cNvSpPr txBox="1"/>
            <p:nvPr/>
          </p:nvSpPr>
          <p:spPr>
            <a:xfrm>
              <a:off x="2523956" y="4192229"/>
              <a:ext cx="48122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logo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209457" y="53341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7754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380288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919925"/>
              </p:ext>
            </p:extLst>
          </p:nvPr>
        </p:nvGraphicFramePr>
        <p:xfrm>
          <a:off x="9303719" y="412801"/>
          <a:ext cx="2769668" cy="62071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하단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플로팅배너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우측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퀵배너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하단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플로팅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배너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최상단의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입력영역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벗어나는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순간부터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진행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장표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유형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 상담신청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(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디바이스정보는 필수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통과되면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유입되며 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완료팝업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(P38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 항목에서 선택 또는 입력 데이터 없이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무료상담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신청버튼을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누를 경우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얼랏문구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이름을 입력해 주세요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1-2.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카톡상담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카톡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상담창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 열림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1-3.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자세히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P37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팝업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우측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퀵배너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 진입부터 노출되며 스크롤에 발생시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같은 위치에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2-1.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카톡상담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카톡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상담창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 열림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2-2.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상담에약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P39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팝업 노출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유입은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P4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정의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2-3.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탑버튼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최상단으로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이동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우측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퀵배너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2"/>
                        </a:rPr>
                        <a:t>https://www.hwgi.kr/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778" y="11409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[PC]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14943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하단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플로팅배너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우측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퀵배너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18613" y="1135868"/>
            <a:ext cx="9111651" cy="103713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278846" y="1317220"/>
            <a:ext cx="1780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전국</a:t>
            </a:r>
            <a:r>
              <a:rPr lang="en-US" altLang="ko-KR" sz="16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365</a:t>
            </a:r>
            <a:r>
              <a:rPr lang="ko-KR" altLang="en-US" sz="16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</a:t>
            </a:r>
            <a:endParaRPr lang="en-US" altLang="ko-KR" sz="1600" dirty="0" smtClean="0">
              <a:solidFill>
                <a:schemeClr val="bg1">
                  <a:lumMod val="9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회생상담</a:t>
            </a:r>
            <a:r>
              <a:rPr lang="ko-KR" altLang="en-US" sz="16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가능</a:t>
            </a:r>
            <a:r>
              <a:rPr lang="en-US" altLang="ko-KR" sz="16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6564211" y="1308389"/>
            <a:ext cx="0" cy="52243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47"/>
          <p:cNvSpPr/>
          <p:nvPr/>
        </p:nvSpPr>
        <p:spPr>
          <a:xfrm>
            <a:off x="1954673" y="1347904"/>
            <a:ext cx="1350642" cy="432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모서리가 둥근 직사각형 48"/>
          <p:cNvSpPr/>
          <p:nvPr/>
        </p:nvSpPr>
        <p:spPr>
          <a:xfrm>
            <a:off x="3449734" y="1347904"/>
            <a:ext cx="1826053" cy="432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3435179" y="1456686"/>
            <a:ext cx="15969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연락처   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‘-’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제외하고 입력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018907" y="1448603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096059" y="1852735"/>
            <a:ext cx="17524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수집 및 이용 동의        </a:t>
            </a:r>
            <a:r>
              <a:rPr lang="ko-KR" altLang="en-US" sz="800" b="1" u="sng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자세히</a:t>
            </a:r>
            <a:endParaRPr lang="ko-KR" altLang="en-US" sz="800" b="1" u="sng" dirty="0">
              <a:solidFill>
                <a:schemeClr val="bg1">
                  <a:lumMod val="9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1936015" y="1824562"/>
            <a:ext cx="285656" cy="246220"/>
            <a:chOff x="7327723" y="5041816"/>
            <a:chExt cx="237409" cy="190410"/>
          </a:xfrm>
        </p:grpSpPr>
        <p:sp>
          <p:nvSpPr>
            <p:cNvPr id="54" name="모서리가 둥근 직사각형 53"/>
            <p:cNvSpPr/>
            <p:nvPr/>
          </p:nvSpPr>
          <p:spPr>
            <a:xfrm>
              <a:off x="7372070" y="5080924"/>
              <a:ext cx="109723" cy="10513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327723" y="5041816"/>
              <a:ext cx="237409" cy="1904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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6" name="모서리가 둥근 직사각형 55"/>
          <p:cNvSpPr/>
          <p:nvPr/>
        </p:nvSpPr>
        <p:spPr>
          <a:xfrm>
            <a:off x="5506765" y="1317220"/>
            <a:ext cx="1434809" cy="640800"/>
          </a:xfrm>
          <a:prstGeom prst="roundRect">
            <a:avLst>
              <a:gd name="adj" fmla="val 8995"/>
            </a:avLst>
          </a:prstGeom>
          <a:solidFill>
            <a:srgbClr val="FF6B4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 상담신청</a:t>
            </a:r>
            <a:endParaRPr lang="ko-KR" alt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58733" y="1332692"/>
            <a:ext cx="1436400" cy="640301"/>
          </a:xfrm>
          <a:prstGeom prst="roundRect">
            <a:avLst>
              <a:gd name="adj" fmla="val 14016"/>
            </a:avLst>
          </a:prstGeom>
          <a:solidFill>
            <a:srgbClr val="FAE1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7587358" y="1496212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카톡상담</a:t>
            </a:r>
            <a:endParaRPr lang="en-US" altLang="ko-KR" sz="14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899" y="1457556"/>
            <a:ext cx="476316" cy="447737"/>
          </a:xfrm>
          <a:prstGeom prst="rect">
            <a:avLst/>
          </a:prstGeom>
        </p:spPr>
      </p:pic>
      <p:sp>
        <p:nvSpPr>
          <p:cNvPr id="15" name="모서리가 둥근 직사각형 14"/>
          <p:cNvSpPr/>
          <p:nvPr/>
        </p:nvSpPr>
        <p:spPr>
          <a:xfrm>
            <a:off x="828183" y="2833939"/>
            <a:ext cx="1126490" cy="3178257"/>
          </a:xfrm>
          <a:prstGeom prst="roundRect">
            <a:avLst>
              <a:gd name="adj" fmla="val 5502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970423" y="3794669"/>
            <a:ext cx="9144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112281" y="3085066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전화상담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1124815" y="2977441"/>
            <a:ext cx="569678" cy="430987"/>
            <a:chOff x="545579" y="1771064"/>
            <a:chExt cx="3352483" cy="4277360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1" name="직선 연결선 70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/>
          <p:cNvSpPr txBox="1"/>
          <p:nvPr/>
        </p:nvSpPr>
        <p:spPr>
          <a:xfrm>
            <a:off x="913842" y="3409910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91180" y="4064792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카톡상담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1085403" y="3935174"/>
            <a:ext cx="569678" cy="430987"/>
            <a:chOff x="545579" y="1771064"/>
            <a:chExt cx="3352483" cy="4277360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직선 연결선 84"/>
          <p:cNvCxnSpPr/>
          <p:nvPr/>
        </p:nvCxnSpPr>
        <p:spPr>
          <a:xfrm>
            <a:off x="970423" y="4591111"/>
            <a:ext cx="9144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113242" y="4877194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상담예약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1106976" y="4760941"/>
            <a:ext cx="569678" cy="430987"/>
            <a:chOff x="545579" y="1771064"/>
            <a:chExt cx="3352483" cy="4277360"/>
          </a:xfrm>
        </p:grpSpPr>
        <p:sp>
          <p:nvSpPr>
            <p:cNvPr id="88" name="모서리가 둥근 직사각형 87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9" name="직선 연결선 88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양쪽 모서리가 둥근 사각형 17"/>
          <p:cNvSpPr/>
          <p:nvPr/>
        </p:nvSpPr>
        <p:spPr>
          <a:xfrm rot="10800000">
            <a:off x="828181" y="5383571"/>
            <a:ext cx="1126489" cy="616087"/>
          </a:xfrm>
          <a:prstGeom prst="round2SameRect">
            <a:avLst>
              <a:gd name="adj1" fmla="val 8126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1184477" y="5435758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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204788" y="5768827"/>
            <a:ext cx="409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09457" y="53341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5682667" y="1152793"/>
            <a:ext cx="352821" cy="230832"/>
            <a:chOff x="9984557" y="3090201"/>
            <a:chExt cx="352821" cy="230832"/>
          </a:xfrm>
        </p:grpSpPr>
        <p:sp>
          <p:nvSpPr>
            <p:cNvPr id="57" name="직사각형 56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7587358" y="1164076"/>
            <a:ext cx="368851" cy="230832"/>
            <a:chOff x="9984557" y="3090201"/>
            <a:chExt cx="368851" cy="230832"/>
          </a:xfrm>
        </p:grpSpPr>
        <p:sp>
          <p:nvSpPr>
            <p:cNvPr id="60" name="직사각형 59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1-2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2" name="직사각형 61"/>
          <p:cNvSpPr/>
          <p:nvPr/>
        </p:nvSpPr>
        <p:spPr>
          <a:xfrm>
            <a:off x="369712" y="2993093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2055384" y="4103358"/>
            <a:ext cx="368851" cy="230832"/>
            <a:chOff x="9984557" y="3090201"/>
            <a:chExt cx="368851" cy="230832"/>
          </a:xfrm>
        </p:grpSpPr>
        <p:sp>
          <p:nvSpPr>
            <p:cNvPr id="64" name="직사각형 63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</a:t>
              </a:r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2078843" y="4939439"/>
            <a:ext cx="384881" cy="230832"/>
            <a:chOff x="9984557" y="3090201"/>
            <a:chExt cx="384881" cy="230832"/>
          </a:xfrm>
        </p:grpSpPr>
        <p:sp>
          <p:nvSpPr>
            <p:cNvPr id="67" name="직사각형 66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992412" y="3090201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2-2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2078843" y="5660104"/>
            <a:ext cx="388087" cy="230832"/>
            <a:chOff x="9984557" y="3090201"/>
            <a:chExt cx="388087" cy="230832"/>
          </a:xfrm>
        </p:grpSpPr>
        <p:sp>
          <p:nvSpPr>
            <p:cNvPr id="76" name="직사각형 75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992412" y="3090201"/>
              <a:ext cx="38023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2-3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3479611" y="2100722"/>
            <a:ext cx="372057" cy="230832"/>
            <a:chOff x="9984557" y="3090201"/>
            <a:chExt cx="372057" cy="230832"/>
          </a:xfrm>
        </p:grpSpPr>
        <p:sp>
          <p:nvSpPr>
            <p:cNvPr id="84" name="직사각형 83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9992412" y="3090201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1-3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8998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화면설계서</a:t>
            </a:r>
            <a:endParaRPr lang="en-US" altLang="ko-KR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5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25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endParaRPr lang="en-US" altLang="ko-KR" sz="25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8889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985605"/>
              </p:ext>
            </p:extLst>
          </p:nvPr>
        </p:nvGraphicFramePr>
        <p:xfrm>
          <a:off x="9303719" y="412801"/>
          <a:ext cx="2769668" cy="516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#GNB,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햄버거 버튼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전체메뉴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[GNB]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메인화면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진입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화면포커스가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최상단일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때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햄버거 버튼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전체메뉴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2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화면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전체메뉴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메뉴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해당 컨텐츠로 포커스 이동되며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전체메뉴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닫힘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2-1.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상담예약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신청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P39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팝업 노출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유입은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P4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정의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2-2.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카톡상담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카톡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상담창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 열림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2-3.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안내전화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 전화연결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14847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GNB,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햄버거 버튼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전체메뉴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30926" y="583475"/>
            <a:ext cx="2734491" cy="535577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158066" y="583474"/>
            <a:ext cx="2734491" cy="53557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30925" y="583474"/>
            <a:ext cx="2734491" cy="4162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435104" y="652668"/>
            <a:ext cx="643888" cy="217320"/>
            <a:chOff x="412221" y="645427"/>
            <a:chExt cx="1349829" cy="400596"/>
          </a:xfrm>
        </p:grpSpPr>
        <p:grpSp>
          <p:nvGrpSpPr>
            <p:cNvPr id="13" name="그룹 12"/>
            <p:cNvGrpSpPr/>
            <p:nvPr/>
          </p:nvGrpSpPr>
          <p:grpSpPr>
            <a:xfrm>
              <a:off x="412221" y="645427"/>
              <a:ext cx="1349829" cy="400596"/>
              <a:chOff x="3537386" y="1420931"/>
              <a:chExt cx="1349829" cy="400596"/>
            </a:xfrm>
          </p:grpSpPr>
          <p:sp>
            <p:nvSpPr>
              <p:cNvPr id="15" name="직사각형 14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6" name="직선 연결선 15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762825" y="706396"/>
              <a:ext cx="360995" cy="215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로고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2780759" y="740808"/>
            <a:ext cx="144000" cy="101603"/>
            <a:chOff x="6399912" y="1704827"/>
            <a:chExt cx="191719" cy="142261"/>
          </a:xfrm>
        </p:grpSpPr>
        <p:cxnSp>
          <p:nvCxnSpPr>
            <p:cNvPr id="21" name="직선 연결선 20"/>
            <p:cNvCxnSpPr/>
            <p:nvPr/>
          </p:nvCxnSpPr>
          <p:spPr>
            <a:xfrm>
              <a:off x="6399912" y="170482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6399912" y="177595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6399912" y="1847088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직사각형 28"/>
          <p:cNvSpPr/>
          <p:nvPr/>
        </p:nvSpPr>
        <p:spPr>
          <a:xfrm>
            <a:off x="4158066" y="583474"/>
            <a:ext cx="2734491" cy="4162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/>
          <p:cNvGrpSpPr/>
          <p:nvPr/>
        </p:nvGrpSpPr>
        <p:grpSpPr>
          <a:xfrm>
            <a:off x="4262245" y="652668"/>
            <a:ext cx="643888" cy="217320"/>
            <a:chOff x="412221" y="645427"/>
            <a:chExt cx="1349829" cy="400596"/>
          </a:xfrm>
        </p:grpSpPr>
        <p:grpSp>
          <p:nvGrpSpPr>
            <p:cNvPr id="31" name="그룹 30"/>
            <p:cNvGrpSpPr/>
            <p:nvPr/>
          </p:nvGrpSpPr>
          <p:grpSpPr>
            <a:xfrm>
              <a:off x="412221" y="645427"/>
              <a:ext cx="1349829" cy="400596"/>
              <a:chOff x="3537386" y="1420931"/>
              <a:chExt cx="1349829" cy="400596"/>
            </a:xfrm>
          </p:grpSpPr>
          <p:sp>
            <p:nvSpPr>
              <p:cNvPr id="33" name="직사각형 32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4" name="직선 연결선 33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/>
            <p:cNvSpPr txBox="1"/>
            <p:nvPr/>
          </p:nvSpPr>
          <p:spPr>
            <a:xfrm>
              <a:off x="762825" y="706396"/>
              <a:ext cx="360995" cy="215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로고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4158065" y="989348"/>
            <a:ext cx="2734491" cy="30937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5081117" y="1094129"/>
            <a:ext cx="888385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8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  </a:t>
            </a:r>
            <a:endParaRPr lang="en-US" altLang="ko-KR" sz="85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성공사례      </a:t>
            </a:r>
            <a:endParaRPr lang="en-US" altLang="ko-KR" sz="85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대표변호사      </a:t>
            </a:r>
            <a:endParaRPr lang="en-US" altLang="ko-KR" sz="85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5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자주묻는질문</a:t>
            </a:r>
            <a:r>
              <a:rPr lang="ko-KR" altLang="en-US" sz="8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endParaRPr lang="en-US" altLang="ko-KR" sz="85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특별한서비스    </a:t>
            </a:r>
            <a:endParaRPr lang="en-US" altLang="ko-KR" sz="85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5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endParaRPr lang="en-US" altLang="ko-KR" sz="85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158063" y="2944733"/>
            <a:ext cx="2734491" cy="3879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5082611" y="3064138"/>
            <a:ext cx="7649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 예약 신청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4836112" y="3046272"/>
            <a:ext cx="253863" cy="231448"/>
            <a:chOff x="3537386" y="1420931"/>
            <a:chExt cx="1349829" cy="400596"/>
          </a:xfrm>
        </p:grpSpPr>
        <p:sp>
          <p:nvSpPr>
            <p:cNvPr id="48" name="직사각형 47"/>
            <p:cNvSpPr/>
            <p:nvPr/>
          </p:nvSpPr>
          <p:spPr>
            <a:xfrm>
              <a:off x="3537386" y="1420933"/>
              <a:ext cx="1349829" cy="40059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3537386" y="1420931"/>
              <a:ext cx="1349829" cy="39431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 flipV="1">
              <a:off x="3537386" y="1420932"/>
              <a:ext cx="1349829" cy="39431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5165323" y="3814183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6624588" y="722808"/>
            <a:ext cx="110625" cy="114273"/>
            <a:chOff x="6874200" y="2464910"/>
            <a:chExt cx="115200" cy="116318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6874200" y="2464910"/>
              <a:ext cx="115200" cy="11631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 flipV="1">
              <a:off x="6874200" y="2464910"/>
              <a:ext cx="114496" cy="11631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직사각형 41"/>
          <p:cNvSpPr/>
          <p:nvPr/>
        </p:nvSpPr>
        <p:spPr>
          <a:xfrm>
            <a:off x="94158" y="478354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2282701" y="664528"/>
            <a:ext cx="352821" cy="230832"/>
            <a:chOff x="9984557" y="3090201"/>
            <a:chExt cx="352821" cy="230832"/>
          </a:xfrm>
        </p:grpSpPr>
        <p:sp>
          <p:nvSpPr>
            <p:cNvPr id="56" name="직사각형 55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3786208" y="3372809"/>
            <a:ext cx="384881" cy="230832"/>
            <a:chOff x="9984557" y="3090201"/>
            <a:chExt cx="384881" cy="230832"/>
          </a:xfrm>
        </p:grpSpPr>
        <p:sp>
          <p:nvSpPr>
            <p:cNvPr id="59" name="직사각형 58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9992412" y="3090201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2-2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1" name="직사각형 60"/>
          <p:cNvSpPr/>
          <p:nvPr/>
        </p:nvSpPr>
        <p:spPr>
          <a:xfrm>
            <a:off x="4158063" y="3329722"/>
            <a:ext cx="2734491" cy="387936"/>
          </a:xfrm>
          <a:prstGeom prst="rect">
            <a:avLst/>
          </a:prstGeom>
          <a:solidFill>
            <a:srgbClr val="FEE50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97" y="3844794"/>
            <a:ext cx="175402" cy="186794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497" y="3438508"/>
            <a:ext cx="264502" cy="24863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206166" y="3429500"/>
            <a:ext cx="5629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카톡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상담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847086" y="493685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3782281" y="3013128"/>
            <a:ext cx="368851" cy="230832"/>
            <a:chOff x="9984557" y="3090201"/>
            <a:chExt cx="368851" cy="230832"/>
          </a:xfrm>
        </p:grpSpPr>
        <p:sp>
          <p:nvSpPr>
            <p:cNvPr id="67" name="직사각형 66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3791085" y="3806489"/>
            <a:ext cx="388087" cy="230832"/>
            <a:chOff x="9984557" y="3090201"/>
            <a:chExt cx="388087" cy="230832"/>
          </a:xfrm>
        </p:grpSpPr>
        <p:sp>
          <p:nvSpPr>
            <p:cNvPr id="70" name="직사각형 69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992412" y="3090201"/>
              <a:ext cx="38023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2-3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0831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175045"/>
              </p:ext>
            </p:extLst>
          </p:nvPr>
        </p:nvGraphicFramePr>
        <p:xfrm>
          <a:off x="9303719" y="412801"/>
          <a:ext cx="2769668" cy="46450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상단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플로팅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배너 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상단 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 영역을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멋어나는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시점부터 노출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→  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GNB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개념으로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최상단에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고정 노출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플로팅배너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 시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GNB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영역은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미노출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>
                        <a:buFontTx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상단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플로팅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배너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안내전화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 전화연결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1-2.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상담예약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신청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P39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팝업 노출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유입은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P4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정의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1-3.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카톡상담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카톡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상담창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 열림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탑버튼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스크롤 생기는 시점부터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화면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최상단으로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이동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18405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상단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플로팅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(GNB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개념으로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),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탑버튼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429223" y="711974"/>
            <a:ext cx="2734491" cy="535577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/>
          <p:cNvSpPr/>
          <p:nvPr/>
        </p:nvSpPr>
        <p:spPr>
          <a:xfrm>
            <a:off x="427870" y="1544538"/>
            <a:ext cx="2735167" cy="3640919"/>
          </a:xfrm>
          <a:prstGeom prst="rect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직사각형 119"/>
          <p:cNvSpPr/>
          <p:nvPr/>
        </p:nvSpPr>
        <p:spPr>
          <a:xfrm>
            <a:off x="429222" y="711973"/>
            <a:ext cx="2734491" cy="4162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1" name="그룹 120"/>
          <p:cNvGrpSpPr/>
          <p:nvPr/>
        </p:nvGrpSpPr>
        <p:grpSpPr>
          <a:xfrm>
            <a:off x="513081" y="781167"/>
            <a:ext cx="643888" cy="217320"/>
            <a:chOff x="412221" y="645427"/>
            <a:chExt cx="1349829" cy="4005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412221" y="645427"/>
              <a:ext cx="1349829" cy="400596"/>
              <a:chOff x="3537386" y="1420931"/>
              <a:chExt cx="1349829" cy="400596"/>
            </a:xfrm>
          </p:grpSpPr>
          <p:sp>
            <p:nvSpPr>
              <p:cNvPr id="124" name="직사각형 123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5" name="직선 연결선 124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TextBox 122"/>
            <p:cNvSpPr txBox="1"/>
            <p:nvPr/>
          </p:nvSpPr>
          <p:spPr>
            <a:xfrm>
              <a:off x="762825" y="706396"/>
              <a:ext cx="360995" cy="215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로고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27" name="그룹 126"/>
          <p:cNvGrpSpPr/>
          <p:nvPr/>
        </p:nvGrpSpPr>
        <p:grpSpPr>
          <a:xfrm>
            <a:off x="2879056" y="869307"/>
            <a:ext cx="144000" cy="101603"/>
            <a:chOff x="6399912" y="1704827"/>
            <a:chExt cx="191719" cy="142261"/>
          </a:xfrm>
        </p:grpSpPr>
        <p:cxnSp>
          <p:nvCxnSpPr>
            <p:cNvPr id="128" name="직선 연결선 127"/>
            <p:cNvCxnSpPr/>
            <p:nvPr/>
          </p:nvCxnSpPr>
          <p:spPr>
            <a:xfrm>
              <a:off x="6399912" y="170482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/>
            <p:nvPr/>
          </p:nvCxnSpPr>
          <p:spPr>
            <a:xfrm>
              <a:off x="6399912" y="177595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>
              <a:off x="6399912" y="1847088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직사각형 130"/>
          <p:cNvSpPr/>
          <p:nvPr/>
        </p:nvSpPr>
        <p:spPr>
          <a:xfrm>
            <a:off x="428546" y="1120855"/>
            <a:ext cx="2734491" cy="4236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/>
          <p:cNvGrpSpPr/>
          <p:nvPr/>
        </p:nvGrpSpPr>
        <p:grpSpPr>
          <a:xfrm>
            <a:off x="523560" y="1180586"/>
            <a:ext cx="823727" cy="318534"/>
            <a:chOff x="402403" y="1067327"/>
            <a:chExt cx="823727" cy="318534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402403" y="1067327"/>
              <a:ext cx="810000" cy="30383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507664" y="1170417"/>
              <a:ext cx="71846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1555-1684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135" name="그림 1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971" y="1083990"/>
              <a:ext cx="98702" cy="105112"/>
            </a:xfrm>
            <a:prstGeom prst="rect">
              <a:avLst/>
            </a:prstGeom>
          </p:spPr>
        </p:pic>
      </p:grpSp>
      <p:grpSp>
        <p:nvGrpSpPr>
          <p:cNvPr id="136" name="그룹 135"/>
          <p:cNvGrpSpPr/>
          <p:nvPr/>
        </p:nvGrpSpPr>
        <p:grpSpPr>
          <a:xfrm>
            <a:off x="2277493" y="1180586"/>
            <a:ext cx="810000" cy="303837"/>
            <a:chOff x="2156336" y="1067327"/>
            <a:chExt cx="810000" cy="303837"/>
          </a:xfrm>
        </p:grpSpPr>
        <p:sp>
          <p:nvSpPr>
            <p:cNvPr id="137" name="모서리가 둥근 직사각형 136"/>
            <p:cNvSpPr/>
            <p:nvPr/>
          </p:nvSpPr>
          <p:spPr>
            <a:xfrm>
              <a:off x="2156336" y="1067327"/>
              <a:ext cx="810000" cy="303837"/>
            </a:xfrm>
            <a:prstGeom prst="roundRect">
              <a:avLst/>
            </a:prstGeom>
            <a:solidFill>
              <a:srgbClr val="FAE1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8" name="그림 1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5942" y="1082359"/>
              <a:ext cx="135063" cy="126959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2307952" y="1142688"/>
              <a:ext cx="5373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카톡상담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40" name="그룹 139"/>
          <p:cNvGrpSpPr/>
          <p:nvPr/>
        </p:nvGrpSpPr>
        <p:grpSpPr>
          <a:xfrm>
            <a:off x="1400526" y="1180586"/>
            <a:ext cx="810000" cy="303837"/>
            <a:chOff x="1279369" y="1067327"/>
            <a:chExt cx="810000" cy="303837"/>
          </a:xfrm>
        </p:grpSpPr>
        <p:sp>
          <p:nvSpPr>
            <p:cNvPr id="141" name="모서리가 둥근 직사각형 140"/>
            <p:cNvSpPr/>
            <p:nvPr/>
          </p:nvSpPr>
          <p:spPr>
            <a:xfrm>
              <a:off x="1279369" y="1067327"/>
              <a:ext cx="810000" cy="3038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409426" y="1149688"/>
              <a:ext cx="5373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상담예약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1341894" y="1088358"/>
              <a:ext cx="120657" cy="108660"/>
              <a:chOff x="3537386" y="1420931"/>
              <a:chExt cx="1349829" cy="400596"/>
            </a:xfrm>
          </p:grpSpPr>
          <p:sp>
            <p:nvSpPr>
              <p:cNvPr id="144" name="직사각형 143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5" name="직선 연결선 144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7" name="직사각형 146"/>
          <p:cNvSpPr/>
          <p:nvPr/>
        </p:nvSpPr>
        <p:spPr>
          <a:xfrm>
            <a:off x="2558280" y="5429028"/>
            <a:ext cx="464304" cy="39514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/>
          <p:cNvSpPr txBox="1"/>
          <p:nvPr/>
        </p:nvSpPr>
        <p:spPr>
          <a:xfrm>
            <a:off x="2606090" y="5435758"/>
            <a:ext cx="344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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606090" y="5649054"/>
            <a:ext cx="3593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6425" y="1219938"/>
            <a:ext cx="2614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상단 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 영역을 벗어나는 시점부터 노출되며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흰색 투명 레이어 느낌으로 상단 고정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3087493" y="1322610"/>
            <a:ext cx="309933" cy="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화살표 연결선 203"/>
          <p:cNvCxnSpPr/>
          <p:nvPr/>
        </p:nvCxnSpPr>
        <p:spPr>
          <a:xfrm flipV="1">
            <a:off x="3092604" y="961449"/>
            <a:ext cx="309933" cy="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3425307" y="795508"/>
            <a:ext cx="40703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진입시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노출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스크롤 생성 또는 상단 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입력영역을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벗어나는 시점부터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숨김상태로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변경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32910" y="1195618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190053" y="5522907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611027" y="1603030"/>
            <a:ext cx="368851" cy="230832"/>
            <a:chOff x="9984557" y="3090201"/>
            <a:chExt cx="368851" cy="230832"/>
          </a:xfrm>
        </p:grpSpPr>
        <p:sp>
          <p:nvSpPr>
            <p:cNvPr id="46" name="직사각형 45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1-2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752149" y="1603030"/>
            <a:ext cx="352821" cy="230832"/>
            <a:chOff x="9984557" y="3090201"/>
            <a:chExt cx="352821" cy="230832"/>
          </a:xfrm>
        </p:grpSpPr>
        <p:sp>
          <p:nvSpPr>
            <p:cNvPr id="49" name="직사각형 48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2455055" y="1603030"/>
            <a:ext cx="372057" cy="230832"/>
            <a:chOff x="9984557" y="3090201"/>
            <a:chExt cx="372057" cy="230832"/>
          </a:xfrm>
        </p:grpSpPr>
        <p:sp>
          <p:nvSpPr>
            <p:cNvPr id="55" name="직사각형 54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992412" y="3090201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1-3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2135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8821" y="391345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1505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메인배너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 상담신청 팝업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15659" y="608863"/>
            <a:ext cx="2734491" cy="48021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415658" y="1016398"/>
            <a:ext cx="2734491" cy="43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415658" y="608863"/>
            <a:ext cx="2734491" cy="4162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/>
          <p:cNvGrpSpPr/>
          <p:nvPr/>
        </p:nvGrpSpPr>
        <p:grpSpPr>
          <a:xfrm>
            <a:off x="519837" y="678057"/>
            <a:ext cx="643888" cy="217320"/>
            <a:chOff x="412221" y="645427"/>
            <a:chExt cx="1349829" cy="400596"/>
          </a:xfrm>
        </p:grpSpPr>
        <p:grpSp>
          <p:nvGrpSpPr>
            <p:cNvPr id="51" name="그룹 50"/>
            <p:cNvGrpSpPr/>
            <p:nvPr/>
          </p:nvGrpSpPr>
          <p:grpSpPr>
            <a:xfrm>
              <a:off x="412221" y="645427"/>
              <a:ext cx="1349829" cy="400596"/>
              <a:chOff x="3537386" y="1420931"/>
              <a:chExt cx="1349829" cy="400596"/>
            </a:xfrm>
          </p:grpSpPr>
          <p:sp>
            <p:nvSpPr>
              <p:cNvPr id="53" name="직사각형 52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4" name="직선 연결선 53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/>
            <p:cNvSpPr txBox="1"/>
            <p:nvPr/>
          </p:nvSpPr>
          <p:spPr>
            <a:xfrm>
              <a:off x="762825" y="706396"/>
              <a:ext cx="360995" cy="215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로고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2865492" y="766197"/>
            <a:ext cx="144000" cy="101603"/>
            <a:chOff x="6399912" y="1704827"/>
            <a:chExt cx="191719" cy="142261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399912" y="170482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>
              <a:off x="6399912" y="177595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>
              <a:off x="6399912" y="1847088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/>
          <p:cNvSpPr txBox="1"/>
          <p:nvPr/>
        </p:nvSpPr>
        <p:spPr>
          <a:xfrm>
            <a:off x="1027148" y="1357280"/>
            <a:ext cx="14205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과도한 빚으로 힘드실 땐</a:t>
            </a:r>
            <a:r>
              <a:rPr lang="en-US" altLang="ko-KR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85" y="1881285"/>
            <a:ext cx="2332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7450</a:t>
            </a:r>
            <a:r>
              <a:rPr lang="ko-KR" altLang="en-US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 빚을 줄여준</a:t>
            </a:r>
            <a:endParaRPr lang="en-US" altLang="ko-KR" sz="12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전문가에게 답을 찾으세요</a:t>
            </a:r>
            <a:r>
              <a:rPr lang="en-US" altLang="ko-KR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</a:p>
        </p:txBody>
      </p:sp>
      <p:grpSp>
        <p:nvGrpSpPr>
          <p:cNvPr id="64" name="그룹 63"/>
          <p:cNvGrpSpPr/>
          <p:nvPr/>
        </p:nvGrpSpPr>
        <p:grpSpPr>
          <a:xfrm>
            <a:off x="1097037" y="1878266"/>
            <a:ext cx="812070" cy="261610"/>
            <a:chOff x="10508728" y="3290173"/>
            <a:chExt cx="812070" cy="261610"/>
          </a:xfrm>
        </p:grpSpPr>
        <p:sp>
          <p:nvSpPr>
            <p:cNvPr id="65" name="모서리가 둥근 직사각형 64"/>
            <p:cNvSpPr/>
            <p:nvPr/>
          </p:nvSpPr>
          <p:spPr>
            <a:xfrm>
              <a:off x="10559859" y="3327843"/>
              <a:ext cx="547397" cy="173433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0508728" y="3290173"/>
              <a:ext cx="8120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7450</a:t>
              </a:r>
              <a:r>
                <a:rPr lang="ko-KR" altLang="en-US" sz="11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억</a:t>
              </a:r>
              <a:endParaRPr lang="en-US" altLang="ko-KR" sz="11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59" name="그룹 158"/>
          <p:cNvGrpSpPr/>
          <p:nvPr/>
        </p:nvGrpSpPr>
        <p:grpSpPr>
          <a:xfrm>
            <a:off x="825666" y="2663265"/>
            <a:ext cx="1984641" cy="339122"/>
            <a:chOff x="3676708" y="4345504"/>
            <a:chExt cx="1823545" cy="283443"/>
          </a:xfrm>
        </p:grpSpPr>
        <p:sp>
          <p:nvSpPr>
            <p:cNvPr id="168" name="모서리가 둥근 직사각형 167"/>
            <p:cNvSpPr/>
            <p:nvPr/>
          </p:nvSpPr>
          <p:spPr>
            <a:xfrm>
              <a:off x="3676708" y="4345504"/>
              <a:ext cx="1823545" cy="28344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4019422" y="4386523"/>
              <a:ext cx="652783" cy="1601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최대 </a:t>
              </a:r>
              <a:r>
                <a:rPr lang="ko-KR" altLang="en-US" sz="90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탕감률</a:t>
              </a:r>
              <a:endPara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4659853" y="4387014"/>
              <a:ext cx="461308" cy="1815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96%</a:t>
              </a:r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842485" y="3170068"/>
            <a:ext cx="1966336" cy="339122"/>
            <a:chOff x="3676709" y="4724992"/>
            <a:chExt cx="1806726" cy="283443"/>
          </a:xfrm>
        </p:grpSpPr>
        <p:sp>
          <p:nvSpPr>
            <p:cNvPr id="165" name="모서리가 둥근 직사각형 164"/>
            <p:cNvSpPr/>
            <p:nvPr/>
          </p:nvSpPr>
          <p:spPr>
            <a:xfrm>
              <a:off x="3676709" y="4724992"/>
              <a:ext cx="1806726" cy="28344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3977032" y="4768062"/>
              <a:ext cx="652783" cy="1601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최대 </a:t>
              </a:r>
              <a:r>
                <a:rPr lang="ko-KR" altLang="en-US" sz="90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탕감률</a:t>
              </a:r>
              <a:endPara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4606913" y="4764178"/>
              <a:ext cx="608596" cy="1815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7450</a:t>
              </a:r>
              <a:r>
                <a:rPr lang="ko-KR" altLang="en-US" sz="11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억</a:t>
              </a:r>
              <a:endParaRPr lang="en-US" altLang="ko-KR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61" name="그룹 160"/>
          <p:cNvGrpSpPr/>
          <p:nvPr/>
        </p:nvGrpSpPr>
        <p:grpSpPr>
          <a:xfrm>
            <a:off x="815199" y="3727078"/>
            <a:ext cx="1966336" cy="339122"/>
            <a:chOff x="3676709" y="5104480"/>
            <a:chExt cx="1806726" cy="283443"/>
          </a:xfrm>
        </p:grpSpPr>
        <p:sp>
          <p:nvSpPr>
            <p:cNvPr id="162" name="모서리가 둥근 직사각형 161"/>
            <p:cNvSpPr/>
            <p:nvPr/>
          </p:nvSpPr>
          <p:spPr>
            <a:xfrm>
              <a:off x="3676709" y="5104480"/>
              <a:ext cx="1806726" cy="28344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718611" y="5166430"/>
              <a:ext cx="1109377" cy="1601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개인회생ㆍ파산</a:t>
              </a:r>
              <a:r>
                <a:rPr lang="ko-KR" altLang="en-US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90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소송건</a:t>
              </a:r>
              <a:endPara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724963" y="5152330"/>
              <a:ext cx="677821" cy="1815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10386</a:t>
              </a:r>
              <a:r>
                <a:rPr lang="ko-KR" altLang="en-US" sz="11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건</a:t>
              </a:r>
              <a:endParaRPr lang="en-US" altLang="ko-KR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73" name="직사각형 172"/>
          <p:cNvSpPr/>
          <p:nvPr/>
        </p:nvSpPr>
        <p:spPr>
          <a:xfrm>
            <a:off x="4408111" y="607337"/>
            <a:ext cx="2734491" cy="47903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직사각형 173"/>
          <p:cNvSpPr/>
          <p:nvPr/>
        </p:nvSpPr>
        <p:spPr>
          <a:xfrm>
            <a:off x="4401299" y="1003092"/>
            <a:ext cx="2734491" cy="307170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직사각형 174"/>
          <p:cNvSpPr/>
          <p:nvPr/>
        </p:nvSpPr>
        <p:spPr>
          <a:xfrm>
            <a:off x="4401299" y="595557"/>
            <a:ext cx="2734491" cy="4162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6" name="그룹 175"/>
          <p:cNvGrpSpPr/>
          <p:nvPr/>
        </p:nvGrpSpPr>
        <p:grpSpPr>
          <a:xfrm>
            <a:off x="4505478" y="664751"/>
            <a:ext cx="643888" cy="217320"/>
            <a:chOff x="412221" y="645427"/>
            <a:chExt cx="1349829" cy="400596"/>
          </a:xfrm>
        </p:grpSpPr>
        <p:grpSp>
          <p:nvGrpSpPr>
            <p:cNvPr id="177" name="그룹 176"/>
            <p:cNvGrpSpPr/>
            <p:nvPr/>
          </p:nvGrpSpPr>
          <p:grpSpPr>
            <a:xfrm>
              <a:off x="412221" y="645427"/>
              <a:ext cx="1349829" cy="400596"/>
              <a:chOff x="3537386" y="1420931"/>
              <a:chExt cx="1349829" cy="400596"/>
            </a:xfrm>
          </p:grpSpPr>
          <p:sp>
            <p:nvSpPr>
              <p:cNvPr id="179" name="직사각형 178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80" name="직선 연결선 179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8" name="TextBox 177"/>
            <p:cNvSpPr txBox="1"/>
            <p:nvPr/>
          </p:nvSpPr>
          <p:spPr>
            <a:xfrm>
              <a:off x="762825" y="706396"/>
              <a:ext cx="360995" cy="215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로고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82" name="TextBox 181"/>
          <p:cNvSpPr txBox="1"/>
          <p:nvPr/>
        </p:nvSpPr>
        <p:spPr>
          <a:xfrm>
            <a:off x="5316609" y="69160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3" name="그림 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045" y="678311"/>
            <a:ext cx="175402" cy="186794"/>
          </a:xfrm>
          <a:prstGeom prst="rect">
            <a:avLst/>
          </a:prstGeom>
        </p:spPr>
      </p:pic>
      <p:grpSp>
        <p:nvGrpSpPr>
          <p:cNvPr id="184" name="그룹 183"/>
          <p:cNvGrpSpPr/>
          <p:nvPr/>
        </p:nvGrpSpPr>
        <p:grpSpPr>
          <a:xfrm>
            <a:off x="6851133" y="752891"/>
            <a:ext cx="144000" cy="101603"/>
            <a:chOff x="6399912" y="1704827"/>
            <a:chExt cx="191719" cy="142261"/>
          </a:xfrm>
        </p:grpSpPr>
        <p:cxnSp>
          <p:nvCxnSpPr>
            <p:cNvPr id="185" name="직선 연결선 184"/>
            <p:cNvCxnSpPr/>
            <p:nvPr/>
          </p:nvCxnSpPr>
          <p:spPr>
            <a:xfrm>
              <a:off x="6399912" y="170482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연결선 185"/>
            <p:cNvCxnSpPr/>
            <p:nvPr/>
          </p:nvCxnSpPr>
          <p:spPr>
            <a:xfrm>
              <a:off x="6399912" y="177595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/>
            <p:nvPr/>
          </p:nvCxnSpPr>
          <p:spPr>
            <a:xfrm>
              <a:off x="6399912" y="1847088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TextBox 187"/>
          <p:cNvSpPr txBox="1"/>
          <p:nvPr/>
        </p:nvSpPr>
        <p:spPr>
          <a:xfrm>
            <a:off x="5075307" y="1343974"/>
            <a:ext cx="12955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과도한 빚으로 힘드실 땐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699583" y="1736855"/>
            <a:ext cx="21515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7450</a:t>
            </a:r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 빚을 줄여준</a:t>
            </a:r>
            <a:endParaRPr lang="en-US" altLang="ko-KR" sz="11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전문가에게 답을 찾으세요</a:t>
            </a:r>
            <a:r>
              <a:rPr lang="en-US" altLang="ko-KR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</a:p>
        </p:txBody>
      </p:sp>
      <p:grpSp>
        <p:nvGrpSpPr>
          <p:cNvPr id="190" name="그룹 189"/>
          <p:cNvGrpSpPr/>
          <p:nvPr/>
        </p:nvGrpSpPr>
        <p:grpSpPr>
          <a:xfrm>
            <a:off x="5084265" y="1733836"/>
            <a:ext cx="812070" cy="261610"/>
            <a:chOff x="10508728" y="3290173"/>
            <a:chExt cx="812070" cy="261610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10559859" y="3327843"/>
              <a:ext cx="547397" cy="173433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10508728" y="3290173"/>
              <a:ext cx="8120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7450</a:t>
              </a:r>
              <a:r>
                <a:rPr lang="ko-KR" altLang="en-US" sz="11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억</a:t>
              </a:r>
              <a:endParaRPr lang="en-US" altLang="ko-KR" sz="11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93" name="그룹 192"/>
          <p:cNvGrpSpPr/>
          <p:nvPr/>
        </p:nvGrpSpPr>
        <p:grpSpPr>
          <a:xfrm>
            <a:off x="4863585" y="2438931"/>
            <a:ext cx="1823545" cy="1045438"/>
            <a:chOff x="3676708" y="4345504"/>
            <a:chExt cx="1823545" cy="1045438"/>
          </a:xfrm>
        </p:grpSpPr>
        <p:grpSp>
          <p:nvGrpSpPr>
            <p:cNvPr id="194" name="그룹 193"/>
            <p:cNvGrpSpPr/>
            <p:nvPr/>
          </p:nvGrpSpPr>
          <p:grpSpPr>
            <a:xfrm>
              <a:off x="3676708" y="4345504"/>
              <a:ext cx="1823545" cy="283443"/>
              <a:chOff x="3676708" y="4345504"/>
              <a:chExt cx="1823545" cy="283443"/>
            </a:xfrm>
          </p:grpSpPr>
          <p:sp>
            <p:nvSpPr>
              <p:cNvPr id="203" name="모서리가 둥근 직사각형 202"/>
              <p:cNvSpPr/>
              <p:nvPr/>
            </p:nvSpPr>
            <p:spPr>
              <a:xfrm>
                <a:off x="3676708" y="4345504"/>
                <a:ext cx="1823545" cy="283443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TextBox 203"/>
              <p:cNvSpPr txBox="1"/>
              <p:nvPr/>
            </p:nvSpPr>
            <p:spPr>
              <a:xfrm>
                <a:off x="4110730" y="4386663"/>
                <a:ext cx="65114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8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최대 </a:t>
                </a:r>
                <a:r>
                  <a:rPr lang="ko-KR" altLang="en-US" sz="8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탕감률</a:t>
                </a:r>
                <a:endParaRPr lang="en-US" altLang="ko-KR" sz="8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4672396" y="4373687"/>
                <a:ext cx="47160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96%</a:t>
                </a:r>
              </a:p>
            </p:txBody>
          </p:sp>
        </p:grpSp>
        <p:grpSp>
          <p:nvGrpSpPr>
            <p:cNvPr id="195" name="그룹 194"/>
            <p:cNvGrpSpPr/>
            <p:nvPr/>
          </p:nvGrpSpPr>
          <p:grpSpPr>
            <a:xfrm>
              <a:off x="3676709" y="4724992"/>
              <a:ext cx="1806726" cy="283443"/>
              <a:chOff x="3676709" y="4724992"/>
              <a:chExt cx="1806726" cy="283443"/>
            </a:xfrm>
          </p:grpSpPr>
          <p:sp>
            <p:nvSpPr>
              <p:cNvPr id="200" name="모서리가 둥근 직사각형 199"/>
              <p:cNvSpPr/>
              <p:nvPr/>
            </p:nvSpPr>
            <p:spPr>
              <a:xfrm>
                <a:off x="3676709" y="4724992"/>
                <a:ext cx="1806726" cy="283443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TextBox 200"/>
              <p:cNvSpPr txBox="1"/>
              <p:nvPr/>
            </p:nvSpPr>
            <p:spPr>
              <a:xfrm>
                <a:off x="3977853" y="4768062"/>
                <a:ext cx="65114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8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최대 </a:t>
                </a:r>
                <a:r>
                  <a:rPr lang="ko-KR" altLang="en-US" sz="8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탕감률</a:t>
                </a:r>
                <a:endParaRPr lang="en-US" altLang="ko-KR" sz="8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02" name="TextBox 201"/>
              <p:cNvSpPr txBox="1"/>
              <p:nvPr/>
            </p:nvSpPr>
            <p:spPr>
              <a:xfrm>
                <a:off x="4564896" y="4751505"/>
                <a:ext cx="61908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7450</a:t>
                </a:r>
                <a:r>
                  <a:rPr lang="ko-KR" altLang="en-US" sz="1000" b="1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</a:t>
                </a:r>
                <a:endParaRPr lang="en-US" altLang="ko-KR" sz="10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196" name="그룹 195"/>
            <p:cNvGrpSpPr/>
            <p:nvPr/>
          </p:nvGrpSpPr>
          <p:grpSpPr>
            <a:xfrm>
              <a:off x="3676709" y="5104480"/>
              <a:ext cx="1806726" cy="286462"/>
              <a:chOff x="3676709" y="5104480"/>
              <a:chExt cx="1806726" cy="286462"/>
            </a:xfrm>
          </p:grpSpPr>
          <p:sp>
            <p:nvSpPr>
              <p:cNvPr id="197" name="모서리가 둥근 직사각형 196"/>
              <p:cNvSpPr/>
              <p:nvPr/>
            </p:nvSpPr>
            <p:spPr>
              <a:xfrm>
                <a:off x="3676709" y="5104480"/>
                <a:ext cx="1806726" cy="283443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TextBox 197"/>
              <p:cNvSpPr txBox="1"/>
              <p:nvPr/>
            </p:nvSpPr>
            <p:spPr>
              <a:xfrm>
                <a:off x="3727316" y="5166430"/>
                <a:ext cx="109196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8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개인회생ㆍ파산</a:t>
                </a:r>
                <a:r>
                  <a:rPr lang="ko-KR" altLang="en-US" sz="8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ko-KR" altLang="en-US" sz="8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소송건</a:t>
                </a:r>
                <a:endParaRPr lang="en-US" altLang="ko-KR" sz="8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4726824" y="5144721"/>
                <a:ext cx="6864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10386</a:t>
                </a:r>
                <a:r>
                  <a:rPr lang="ko-KR" altLang="en-US" sz="1000" b="1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건</a:t>
                </a:r>
                <a:endParaRPr lang="en-US" altLang="ko-KR" sz="10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sp>
        <p:nvSpPr>
          <p:cNvPr id="2" name="직사각형 1"/>
          <p:cNvSpPr/>
          <p:nvPr/>
        </p:nvSpPr>
        <p:spPr>
          <a:xfrm>
            <a:off x="4417108" y="595557"/>
            <a:ext cx="2732306" cy="4802123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모서리가 둥근 직사각형 264"/>
          <p:cNvSpPr/>
          <p:nvPr/>
        </p:nvSpPr>
        <p:spPr>
          <a:xfrm>
            <a:off x="4554320" y="1194987"/>
            <a:ext cx="2437108" cy="3167002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TextBox 281"/>
          <p:cNvSpPr txBox="1"/>
          <p:nvPr/>
        </p:nvSpPr>
        <p:spPr>
          <a:xfrm>
            <a:off x="5502876" y="1423372"/>
            <a:ext cx="9476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 상담신청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83" name="그룹 282"/>
          <p:cNvGrpSpPr/>
          <p:nvPr/>
        </p:nvGrpSpPr>
        <p:grpSpPr>
          <a:xfrm>
            <a:off x="5013615" y="1376146"/>
            <a:ext cx="459648" cy="351852"/>
            <a:chOff x="4593715" y="2002086"/>
            <a:chExt cx="572820" cy="348935"/>
          </a:xfrm>
        </p:grpSpPr>
        <p:grpSp>
          <p:nvGrpSpPr>
            <p:cNvPr id="284" name="그룹 283"/>
            <p:cNvGrpSpPr/>
            <p:nvPr/>
          </p:nvGrpSpPr>
          <p:grpSpPr>
            <a:xfrm>
              <a:off x="4593715" y="2002086"/>
              <a:ext cx="572820" cy="348935"/>
              <a:chOff x="6972301" y="3124202"/>
              <a:chExt cx="682901" cy="504825"/>
            </a:xfrm>
            <a:solidFill>
              <a:schemeClr val="bg1"/>
            </a:solidFill>
          </p:grpSpPr>
          <p:sp>
            <p:nvSpPr>
              <p:cNvPr id="286" name="모서리가 둥근 직사각형 285"/>
              <p:cNvSpPr/>
              <p:nvPr/>
            </p:nvSpPr>
            <p:spPr>
              <a:xfrm>
                <a:off x="6972301" y="3124202"/>
                <a:ext cx="682901" cy="504825"/>
              </a:xfrm>
              <a:prstGeom prst="roundRect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50"/>
              </a:p>
            </p:txBody>
          </p:sp>
          <p:cxnSp>
            <p:nvCxnSpPr>
              <p:cNvPr id="287" name="직선 연결선 286"/>
              <p:cNvCxnSpPr/>
              <p:nvPr/>
            </p:nvCxnSpPr>
            <p:spPr>
              <a:xfrm>
                <a:off x="6997586" y="3154262"/>
                <a:ext cx="617618" cy="437299"/>
              </a:xfrm>
              <a:prstGeom prst="line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/>
              <p:cNvCxnSpPr/>
              <p:nvPr/>
            </p:nvCxnSpPr>
            <p:spPr>
              <a:xfrm flipH="1">
                <a:off x="7025638" y="3152447"/>
                <a:ext cx="589566" cy="439114"/>
              </a:xfrm>
              <a:prstGeom prst="line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5" name="TextBox 284"/>
            <p:cNvSpPr txBox="1"/>
            <p:nvPr/>
          </p:nvSpPr>
          <p:spPr>
            <a:xfrm>
              <a:off x="4633046" y="2051285"/>
              <a:ext cx="499939" cy="21365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icon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52" name="그룹 251"/>
          <p:cNvGrpSpPr/>
          <p:nvPr/>
        </p:nvGrpSpPr>
        <p:grpSpPr>
          <a:xfrm>
            <a:off x="4697458" y="1926482"/>
            <a:ext cx="527259" cy="246221"/>
            <a:chOff x="1095651" y="3727608"/>
            <a:chExt cx="527259" cy="246221"/>
          </a:xfrm>
        </p:grpSpPr>
        <p:sp>
          <p:nvSpPr>
            <p:cNvPr id="253" name="TextBox 252"/>
            <p:cNvSpPr txBox="1"/>
            <p:nvPr/>
          </p:nvSpPr>
          <p:spPr>
            <a:xfrm>
              <a:off x="1095651" y="3741668"/>
              <a:ext cx="3850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이름 </a:t>
              </a:r>
              <a:endPara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1377330" y="3727608"/>
              <a:ext cx="2455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</a:t>
              </a:r>
              <a:endParaRPr lang="ko-KR" altLang="en-US" sz="1000" dirty="0">
                <a:solidFill>
                  <a:srgbClr val="FF6B4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91" name="모서리가 둥근 직사각형 290"/>
          <p:cNvSpPr/>
          <p:nvPr/>
        </p:nvSpPr>
        <p:spPr>
          <a:xfrm>
            <a:off x="5263252" y="1924007"/>
            <a:ext cx="1548000" cy="288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TextBox 291"/>
          <p:cNvSpPr txBox="1"/>
          <p:nvPr/>
        </p:nvSpPr>
        <p:spPr>
          <a:xfrm>
            <a:off x="5235384" y="1947076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</a:t>
            </a: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8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홍길동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99" name="그룹 298"/>
          <p:cNvGrpSpPr/>
          <p:nvPr/>
        </p:nvGrpSpPr>
        <p:grpSpPr>
          <a:xfrm>
            <a:off x="4660786" y="2294932"/>
            <a:ext cx="527259" cy="246221"/>
            <a:chOff x="1095651" y="3727608"/>
            <a:chExt cx="527259" cy="246221"/>
          </a:xfrm>
        </p:grpSpPr>
        <p:sp>
          <p:nvSpPr>
            <p:cNvPr id="300" name="TextBox 299"/>
            <p:cNvSpPr txBox="1"/>
            <p:nvPr/>
          </p:nvSpPr>
          <p:spPr>
            <a:xfrm>
              <a:off x="1095651" y="3741668"/>
              <a:ext cx="4732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연락처 </a:t>
              </a:r>
              <a:endPara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1377330" y="3727608"/>
              <a:ext cx="2455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</a:t>
              </a:r>
              <a:endParaRPr lang="ko-KR" altLang="en-US" sz="1000" dirty="0">
                <a:solidFill>
                  <a:srgbClr val="FF6B4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5259890" y="2295414"/>
            <a:ext cx="1551362" cy="288000"/>
            <a:chOff x="4301360" y="2353026"/>
            <a:chExt cx="1551362" cy="288000"/>
          </a:xfrm>
        </p:grpSpPr>
        <p:sp>
          <p:nvSpPr>
            <p:cNvPr id="303" name="모서리가 둥근 직사각형 302"/>
            <p:cNvSpPr/>
            <p:nvPr/>
          </p:nvSpPr>
          <p:spPr>
            <a:xfrm>
              <a:off x="4304722" y="2353026"/>
              <a:ext cx="1548000" cy="288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4301360" y="2400562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‘-’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는 제외하고 입력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06" name="TextBox 305"/>
          <p:cNvSpPr txBox="1"/>
          <p:nvPr/>
        </p:nvSpPr>
        <p:spPr>
          <a:xfrm>
            <a:off x="4666665" y="2670023"/>
            <a:ext cx="5373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채무금액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4660786" y="3022992"/>
            <a:ext cx="4732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월소득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5259890" y="2649518"/>
            <a:ext cx="1551362" cy="288000"/>
            <a:chOff x="4301360" y="2707130"/>
            <a:chExt cx="1551362" cy="288000"/>
          </a:xfrm>
        </p:grpSpPr>
        <p:sp>
          <p:nvSpPr>
            <p:cNvPr id="309" name="모서리가 둥근 직사각형 308"/>
            <p:cNvSpPr/>
            <p:nvPr/>
          </p:nvSpPr>
          <p:spPr>
            <a:xfrm>
              <a:off x="4304722" y="2707130"/>
              <a:ext cx="1548000" cy="288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4301360" y="2730730"/>
              <a:ext cx="73930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선택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59" name="갈매기형 수장 258"/>
            <p:cNvSpPr/>
            <p:nvPr/>
          </p:nvSpPr>
          <p:spPr>
            <a:xfrm rot="5400000">
              <a:off x="5657467" y="2797678"/>
              <a:ext cx="79437" cy="104066"/>
            </a:xfrm>
            <a:prstGeom prst="chevron">
              <a:avLst>
                <a:gd name="adj" fmla="val 7302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259890" y="3008284"/>
            <a:ext cx="1551362" cy="288000"/>
            <a:chOff x="4301360" y="3065896"/>
            <a:chExt cx="1551362" cy="288000"/>
          </a:xfrm>
        </p:grpSpPr>
        <p:sp>
          <p:nvSpPr>
            <p:cNvPr id="315" name="모서리가 둥근 직사각형 314"/>
            <p:cNvSpPr/>
            <p:nvPr/>
          </p:nvSpPr>
          <p:spPr>
            <a:xfrm>
              <a:off x="4304722" y="3065896"/>
              <a:ext cx="1548000" cy="288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4301360" y="3092727"/>
              <a:ext cx="6767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월소득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선택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7" name="갈매기형 수장 316"/>
            <p:cNvSpPr/>
            <p:nvPr/>
          </p:nvSpPr>
          <p:spPr>
            <a:xfrm rot="5400000">
              <a:off x="5655957" y="3166061"/>
              <a:ext cx="79437" cy="104066"/>
            </a:xfrm>
            <a:prstGeom prst="chevron">
              <a:avLst>
                <a:gd name="adj" fmla="val 7302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5208688" y="3387510"/>
            <a:ext cx="1643293" cy="276999"/>
            <a:chOff x="7895037" y="4228222"/>
            <a:chExt cx="1643293" cy="276999"/>
          </a:xfrm>
        </p:grpSpPr>
        <p:sp>
          <p:nvSpPr>
            <p:cNvPr id="260" name="TextBox 259"/>
            <p:cNvSpPr txBox="1"/>
            <p:nvPr/>
          </p:nvSpPr>
          <p:spPr>
            <a:xfrm>
              <a:off x="8072864" y="4264770"/>
              <a:ext cx="1465466" cy="1923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개인정보 수집 및 이용 동의        </a:t>
              </a:r>
              <a:r>
                <a:rPr lang="ko-KR" altLang="en-US" sz="650" u="sng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자세히</a:t>
              </a:r>
              <a:endParaRPr lang="ko-KR" altLang="en-US" sz="65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261" name="그룹 260"/>
            <p:cNvGrpSpPr/>
            <p:nvPr/>
          </p:nvGrpSpPr>
          <p:grpSpPr>
            <a:xfrm>
              <a:off x="7895037" y="4228222"/>
              <a:ext cx="304892" cy="276999"/>
              <a:chOff x="7331796" y="5034071"/>
              <a:chExt cx="244372" cy="215287"/>
            </a:xfrm>
          </p:grpSpPr>
          <p:sp>
            <p:nvSpPr>
              <p:cNvPr id="262" name="모서리가 둥근 직사각형 261"/>
              <p:cNvSpPr/>
              <p:nvPr/>
            </p:nvSpPr>
            <p:spPr>
              <a:xfrm>
                <a:off x="7372069" y="5080924"/>
                <a:ext cx="126000" cy="12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63" name="TextBox 262"/>
              <p:cNvSpPr txBox="1"/>
              <p:nvPr/>
            </p:nvSpPr>
            <p:spPr>
              <a:xfrm>
                <a:off x="7331796" y="5034071"/>
                <a:ext cx="244372" cy="215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dirty="0">
                    <a:solidFill>
                      <a:schemeClr val="bg1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Wingdings" panose="05000000000000000000" pitchFamily="2" charset="2"/>
                  </a:rPr>
                  <a:t></a:t>
                </a:r>
                <a:endPara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sp>
        <p:nvSpPr>
          <p:cNvPr id="264" name="모서리가 둥근 직사각형 263"/>
          <p:cNvSpPr/>
          <p:nvPr/>
        </p:nvSpPr>
        <p:spPr>
          <a:xfrm>
            <a:off x="4822422" y="3813436"/>
            <a:ext cx="1988830" cy="402375"/>
          </a:xfrm>
          <a:prstGeom prst="roundRect">
            <a:avLst>
              <a:gd name="adj" fmla="val 17109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신청하기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687130" y="1348373"/>
            <a:ext cx="144000" cy="144000"/>
            <a:chOff x="6874200" y="2464910"/>
            <a:chExt cx="115200" cy="116318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74200" y="2464910"/>
              <a:ext cx="115200" cy="116318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flipV="1">
              <a:off x="6874200" y="2464910"/>
              <a:ext cx="114496" cy="116318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모서리가 둥근 직사각형 16"/>
          <p:cNvSpPr/>
          <p:nvPr/>
        </p:nvSpPr>
        <p:spPr>
          <a:xfrm>
            <a:off x="859280" y="4688670"/>
            <a:ext cx="1825399" cy="447705"/>
          </a:xfrm>
          <a:prstGeom prst="roundRect">
            <a:avLst>
              <a:gd name="adj" fmla="val 25668"/>
            </a:avLst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 상담신청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5" name="직사각형 324"/>
          <p:cNvSpPr/>
          <p:nvPr/>
        </p:nvSpPr>
        <p:spPr>
          <a:xfrm>
            <a:off x="9230264" y="0"/>
            <a:ext cx="2961736" cy="412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타입 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1006333" y="5566190"/>
            <a:ext cx="160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메인화면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진입부터 하단 고정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556487"/>
              </p:ext>
            </p:extLst>
          </p:nvPr>
        </p:nvGraphicFramePr>
        <p:xfrm>
          <a:off x="9303719" y="412801"/>
          <a:ext cx="2769668" cy="45946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703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dirty="0" smtClean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 상담신청 팝업</a:t>
                      </a:r>
                    </a:p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메인화면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진입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첫 화면에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PC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동일한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 상담신청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2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팝업이 뜸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 상담신청 팝업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딤처리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되며 팝업 뜸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진행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장표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유입은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P4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장의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유형 中 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정책 적용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디바이스 정보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→ 디바이스 정보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PC,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모바일로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유입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채무금액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월소득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→ 리스트박스는 예시와 같이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미 선택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NULL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신청하기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통과되면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유입되며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완료팝업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(P38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 항목에서 선택 또는 입력 데이터 없이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신청하기버튼을 누를 경우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얼랏문구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이름을 입력해 주세요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 수집 및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이용동의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P37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팝업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</a:tbl>
          </a:graphicData>
        </a:graphic>
      </p:graphicFrame>
      <p:cxnSp>
        <p:nvCxnSpPr>
          <p:cNvPr id="6" name="직선 화살표 연결선 5"/>
          <p:cNvCxnSpPr/>
          <p:nvPr/>
        </p:nvCxnSpPr>
        <p:spPr>
          <a:xfrm>
            <a:off x="2345236" y="5043229"/>
            <a:ext cx="0" cy="516354"/>
          </a:xfrm>
          <a:prstGeom prst="straightConnector1">
            <a:avLst/>
          </a:prstGeom>
          <a:ln>
            <a:solidFill>
              <a:schemeClr val="accent5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-9792" y="1030501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16" name="그룹 115"/>
          <p:cNvGrpSpPr/>
          <p:nvPr/>
        </p:nvGrpSpPr>
        <p:grpSpPr>
          <a:xfrm>
            <a:off x="420359" y="4812397"/>
            <a:ext cx="352821" cy="230832"/>
            <a:chOff x="9984557" y="3090201"/>
            <a:chExt cx="352821" cy="230832"/>
          </a:xfrm>
        </p:grpSpPr>
        <p:sp>
          <p:nvSpPr>
            <p:cNvPr id="117" name="직사각형 116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14" name="직선 연결선 13"/>
          <p:cNvCxnSpPr/>
          <p:nvPr/>
        </p:nvCxnSpPr>
        <p:spPr>
          <a:xfrm>
            <a:off x="2865492" y="1040568"/>
            <a:ext cx="737227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>
            <a:off x="2781535" y="5384017"/>
            <a:ext cx="737227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/>
          <p:nvPr/>
        </p:nvCxnSpPr>
        <p:spPr>
          <a:xfrm>
            <a:off x="3339478" y="1149662"/>
            <a:ext cx="4026" cy="4021639"/>
          </a:xfrm>
          <a:prstGeom prst="line">
            <a:avLst/>
          </a:prstGeom>
          <a:ln>
            <a:solidFill>
              <a:schemeClr val="accent5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3190864" y="2961148"/>
            <a:ext cx="80182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 진입 시</a:t>
            </a:r>
            <a:endParaRPr lang="en-US" altLang="ko-KR" sz="10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노출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4329200" y="1156872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6698892" y="3581742"/>
            <a:ext cx="368851" cy="230832"/>
            <a:chOff x="9984557" y="3090201"/>
            <a:chExt cx="368851" cy="230832"/>
          </a:xfrm>
        </p:grpSpPr>
        <p:sp>
          <p:nvSpPr>
            <p:cNvPr id="131" name="직사각형 130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9323088" y="5053953"/>
            <a:ext cx="2842645" cy="1688344"/>
            <a:chOff x="9230742" y="4229008"/>
            <a:chExt cx="2842645" cy="1688344"/>
          </a:xfrm>
        </p:grpSpPr>
        <p:grpSp>
          <p:nvGrpSpPr>
            <p:cNvPr id="134" name="그룹 133"/>
            <p:cNvGrpSpPr/>
            <p:nvPr/>
          </p:nvGrpSpPr>
          <p:grpSpPr>
            <a:xfrm>
              <a:off x="9287547" y="4494484"/>
              <a:ext cx="1300371" cy="1422868"/>
              <a:chOff x="9671613" y="3602431"/>
              <a:chExt cx="1300371" cy="1422868"/>
            </a:xfrm>
          </p:grpSpPr>
          <p:sp>
            <p:nvSpPr>
              <p:cNvPr id="140" name="모서리가 둥근 직사각형 139"/>
              <p:cNvSpPr/>
              <p:nvPr/>
            </p:nvSpPr>
            <p:spPr>
              <a:xfrm>
                <a:off x="9671613" y="3602431"/>
                <a:ext cx="1300371" cy="1422868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TextBox 140"/>
              <p:cNvSpPr txBox="1"/>
              <p:nvPr/>
            </p:nvSpPr>
            <p:spPr>
              <a:xfrm>
                <a:off x="9734710" y="3671719"/>
                <a:ext cx="1061509" cy="1338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채무금액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135" name="그룹 134"/>
            <p:cNvGrpSpPr/>
            <p:nvPr/>
          </p:nvGrpSpPr>
          <p:grpSpPr>
            <a:xfrm>
              <a:off x="10679226" y="4494484"/>
              <a:ext cx="1300371" cy="1281989"/>
              <a:chOff x="11063292" y="3602431"/>
              <a:chExt cx="1300371" cy="1281989"/>
            </a:xfrm>
          </p:grpSpPr>
          <p:sp>
            <p:nvSpPr>
              <p:cNvPr id="138" name="모서리가 둥근 직사각형 137"/>
              <p:cNvSpPr/>
              <p:nvPr/>
            </p:nvSpPr>
            <p:spPr>
              <a:xfrm>
                <a:off x="11063292" y="3602431"/>
                <a:ext cx="1300371" cy="1281989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TextBox 138"/>
              <p:cNvSpPr txBox="1"/>
              <p:nvPr/>
            </p:nvSpPr>
            <p:spPr>
              <a:xfrm>
                <a:off x="11077204" y="3671719"/>
                <a:ext cx="1082348" cy="1131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월소득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36" name="TextBox 135"/>
            <p:cNvSpPr txBox="1"/>
            <p:nvPr/>
          </p:nvSpPr>
          <p:spPr>
            <a:xfrm>
              <a:off x="9230742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err="1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0606554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 소득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8024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065044"/>
              </p:ext>
            </p:extLst>
          </p:nvPr>
        </p:nvGraphicFramePr>
        <p:xfrm>
          <a:off x="9303719" y="412801"/>
          <a:ext cx="2769668" cy="6023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err="1" smtClean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r>
                        <a:rPr lang="ko-KR" altLang="en-US" sz="900" dirty="0" smtClean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 +DB</a:t>
                      </a:r>
                      <a:r>
                        <a:rPr lang="ko-KR" altLang="en-US" sz="900" dirty="0" err="1" smtClean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유입영역</a:t>
                      </a:r>
                      <a:r>
                        <a:rPr lang="en-US" altLang="ko-KR" sz="900" dirty="0" smtClean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900" dirty="0" smtClean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A: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메인화면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진입 시 디폴트 상태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B: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무료상담신청역이 모두 열린 상태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→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인풋박스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또는 버튼 클릭 시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아래로 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신청영역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열림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첫 화면 진입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DB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입력영역의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일부는 노출되게 처리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→ 디자인 시안 참고하여 작업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PC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동일한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상담신청하기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영역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영역 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인풋박스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또는 버튼 클릭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딤처리되며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토스트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팝업창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열림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장표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유입은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P4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장의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유형 中 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정책 적용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디바이스 정보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→ 디바이스 정보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PC,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모바일로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유입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채무금액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월소득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→ 리스트박스는 예시와 같이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미 선택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NULL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 상담신청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통과되면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유입되며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완료팝업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(P38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 항목에서 선택 또는 입력 데이터 없이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무료상담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신청버튼을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누를 경우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얼랏문구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이름을 입력해 주세요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 수집 및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이용동의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P37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팝업 노출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2-2.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텍스트박스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텍스트박스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클릭 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참고처럼 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플레이스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홀더 노출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13692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메인배너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 +DB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유입영역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30926" y="929964"/>
            <a:ext cx="2734491" cy="467725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/>
          <p:cNvSpPr/>
          <p:nvPr/>
        </p:nvSpPr>
        <p:spPr>
          <a:xfrm>
            <a:off x="330925" y="1337498"/>
            <a:ext cx="2734491" cy="267573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330925" y="929963"/>
            <a:ext cx="2734491" cy="4162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/>
          <p:cNvGrpSpPr/>
          <p:nvPr/>
        </p:nvGrpSpPr>
        <p:grpSpPr>
          <a:xfrm>
            <a:off x="435104" y="999157"/>
            <a:ext cx="643888" cy="217320"/>
            <a:chOff x="412221" y="645427"/>
            <a:chExt cx="1349829" cy="400596"/>
          </a:xfrm>
        </p:grpSpPr>
        <p:grpSp>
          <p:nvGrpSpPr>
            <p:cNvPr id="112" name="그룹 111"/>
            <p:cNvGrpSpPr/>
            <p:nvPr/>
          </p:nvGrpSpPr>
          <p:grpSpPr>
            <a:xfrm>
              <a:off x="412221" y="645427"/>
              <a:ext cx="1349829" cy="400596"/>
              <a:chOff x="3537386" y="1420931"/>
              <a:chExt cx="1349829" cy="400596"/>
            </a:xfrm>
          </p:grpSpPr>
          <p:sp>
            <p:nvSpPr>
              <p:cNvPr id="118" name="직사각형 117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9" name="직선 연결선 118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TextBox 116"/>
            <p:cNvSpPr txBox="1"/>
            <p:nvPr/>
          </p:nvSpPr>
          <p:spPr>
            <a:xfrm>
              <a:off x="762825" y="706396"/>
              <a:ext cx="360995" cy="215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로고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23" name="그룹 122"/>
          <p:cNvGrpSpPr/>
          <p:nvPr/>
        </p:nvGrpSpPr>
        <p:grpSpPr>
          <a:xfrm>
            <a:off x="2780759" y="1087297"/>
            <a:ext cx="144000" cy="101603"/>
            <a:chOff x="6399912" y="1704827"/>
            <a:chExt cx="191719" cy="142261"/>
          </a:xfrm>
        </p:grpSpPr>
        <p:cxnSp>
          <p:nvCxnSpPr>
            <p:cNvPr id="124" name="직선 연결선 123"/>
            <p:cNvCxnSpPr/>
            <p:nvPr/>
          </p:nvCxnSpPr>
          <p:spPr>
            <a:xfrm>
              <a:off x="6399912" y="170482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/>
            <p:cNvCxnSpPr/>
            <p:nvPr/>
          </p:nvCxnSpPr>
          <p:spPr>
            <a:xfrm>
              <a:off x="6399912" y="177595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>
              <a:off x="6399912" y="1847088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TextBox 126"/>
          <p:cNvSpPr txBox="1"/>
          <p:nvPr/>
        </p:nvSpPr>
        <p:spPr>
          <a:xfrm>
            <a:off x="926807" y="1656698"/>
            <a:ext cx="12955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과도한 빚으로 힘드실 땐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9209" y="2026900"/>
            <a:ext cx="21515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7450</a:t>
            </a:r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 빚을 줄여준</a:t>
            </a:r>
            <a:endParaRPr lang="en-US" altLang="ko-KR" sz="11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전문가에게 답을 찾으세요</a:t>
            </a:r>
            <a:r>
              <a:rPr lang="en-US" altLang="ko-KR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</a:p>
        </p:txBody>
      </p:sp>
      <p:grpSp>
        <p:nvGrpSpPr>
          <p:cNvPr id="129" name="그룹 128"/>
          <p:cNvGrpSpPr/>
          <p:nvPr/>
        </p:nvGrpSpPr>
        <p:grpSpPr>
          <a:xfrm>
            <a:off x="1011024" y="2012630"/>
            <a:ext cx="812070" cy="261610"/>
            <a:chOff x="10508728" y="3290173"/>
            <a:chExt cx="812070" cy="261610"/>
          </a:xfrm>
        </p:grpSpPr>
        <p:sp>
          <p:nvSpPr>
            <p:cNvPr id="130" name="모서리가 둥근 직사각형 129"/>
            <p:cNvSpPr/>
            <p:nvPr/>
          </p:nvSpPr>
          <p:spPr>
            <a:xfrm>
              <a:off x="10559859" y="3327843"/>
              <a:ext cx="547397" cy="173433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0508728" y="3290173"/>
              <a:ext cx="8120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7450</a:t>
              </a:r>
              <a:r>
                <a:rPr lang="ko-KR" altLang="en-US" sz="11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억</a:t>
              </a:r>
              <a:endParaRPr lang="en-US" altLang="ko-KR" sz="11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32" name="모서리가 둥근 직사각형 131"/>
          <p:cNvSpPr/>
          <p:nvPr/>
        </p:nvSpPr>
        <p:spPr>
          <a:xfrm>
            <a:off x="435104" y="3823172"/>
            <a:ext cx="2483356" cy="988637"/>
          </a:xfrm>
          <a:prstGeom prst="roundRect">
            <a:avLst>
              <a:gd name="adj" fmla="val 6695"/>
            </a:avLst>
          </a:prstGeom>
          <a:solidFill>
            <a:schemeClr val="bg1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545934" y="3948809"/>
            <a:ext cx="1080000" cy="270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567534" y="4334473"/>
            <a:ext cx="2226298" cy="33366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 상담신청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1713832" y="3948809"/>
            <a:ext cx="1080000" cy="270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9" name="그룹 138"/>
          <p:cNvGrpSpPr/>
          <p:nvPr/>
        </p:nvGrpSpPr>
        <p:grpSpPr>
          <a:xfrm>
            <a:off x="1692614" y="3956105"/>
            <a:ext cx="489672" cy="237336"/>
            <a:chOff x="1056728" y="3715859"/>
            <a:chExt cx="489672" cy="237336"/>
          </a:xfrm>
        </p:grpSpPr>
        <p:sp>
          <p:nvSpPr>
            <p:cNvPr id="140" name="TextBox 139"/>
            <p:cNvSpPr txBox="1"/>
            <p:nvPr/>
          </p:nvSpPr>
          <p:spPr>
            <a:xfrm>
              <a:off x="1056728" y="3737751"/>
              <a:ext cx="4732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연락처 </a:t>
              </a:r>
              <a:endParaRPr lang="ko-KR" altLang="en-US" sz="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320056" y="3715859"/>
              <a:ext cx="22634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 smtClean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</a:t>
              </a:r>
              <a:endParaRPr lang="ko-KR" altLang="en-US" sz="700" dirty="0">
                <a:solidFill>
                  <a:srgbClr val="FF6B4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788807" y="2606384"/>
            <a:ext cx="1728433" cy="853117"/>
            <a:chOff x="4120888" y="3312165"/>
            <a:chExt cx="1728433" cy="853117"/>
          </a:xfrm>
        </p:grpSpPr>
        <p:sp>
          <p:nvSpPr>
            <p:cNvPr id="143" name="모서리가 둥근 직사각형 142"/>
            <p:cNvSpPr/>
            <p:nvPr/>
          </p:nvSpPr>
          <p:spPr>
            <a:xfrm>
              <a:off x="4120888" y="3312165"/>
              <a:ext cx="1728433" cy="25156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모서리가 둥근 직사각형 143"/>
            <p:cNvSpPr/>
            <p:nvPr/>
          </p:nvSpPr>
          <p:spPr>
            <a:xfrm>
              <a:off x="4120888" y="3612943"/>
              <a:ext cx="1728433" cy="25156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모서리가 둥근 직사각형 144"/>
            <p:cNvSpPr/>
            <p:nvPr/>
          </p:nvSpPr>
          <p:spPr>
            <a:xfrm>
              <a:off x="4120888" y="3913721"/>
              <a:ext cx="1728433" cy="25156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4193594" y="3958510"/>
              <a:ext cx="926857" cy="1923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62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개인회생ㆍ파산</a:t>
              </a:r>
              <a:r>
                <a:rPr lang="ko-KR" altLang="en-US" sz="62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62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소송건</a:t>
              </a:r>
              <a:endParaRPr lang="en-US" altLang="ko-KR" sz="62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5100210" y="3924085"/>
              <a:ext cx="63671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10386</a:t>
              </a:r>
              <a:r>
                <a:rPr lang="ko-KR" altLang="en-US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건</a:t>
              </a:r>
              <a:endParaRPr lang="en-US" altLang="ko-KR" sz="85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4432196" y="3362334"/>
              <a:ext cx="688255" cy="18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2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최대 </a:t>
              </a:r>
              <a:r>
                <a:rPr lang="ko-KR" altLang="en-US" sz="62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탕감률</a:t>
              </a:r>
              <a:endParaRPr lang="en-US" altLang="ko-KR" sz="62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5100210" y="3326940"/>
              <a:ext cx="558527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96%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4568566" y="3656261"/>
              <a:ext cx="548547" cy="1877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62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누적 </a:t>
              </a:r>
              <a:r>
                <a:rPr lang="ko-KR" altLang="en-US" sz="62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탕감액</a:t>
              </a:r>
              <a:endParaRPr lang="en-US" altLang="ko-KR" sz="62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100210" y="3644036"/>
              <a:ext cx="57419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7450</a:t>
              </a:r>
              <a:r>
                <a:rPr lang="ko-KR" altLang="en-US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억</a:t>
              </a:r>
              <a:endParaRPr lang="en-US" altLang="ko-KR" sz="85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74" name="직사각형 173"/>
          <p:cNvSpPr/>
          <p:nvPr/>
        </p:nvSpPr>
        <p:spPr>
          <a:xfrm>
            <a:off x="3659556" y="961680"/>
            <a:ext cx="2734491" cy="46246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직사각형 174"/>
          <p:cNvSpPr/>
          <p:nvPr/>
        </p:nvSpPr>
        <p:spPr>
          <a:xfrm>
            <a:off x="3659556" y="1328763"/>
            <a:ext cx="2734491" cy="267573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직사각형 175"/>
          <p:cNvSpPr/>
          <p:nvPr/>
        </p:nvSpPr>
        <p:spPr>
          <a:xfrm>
            <a:off x="3659556" y="921228"/>
            <a:ext cx="2734491" cy="4162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7" name="그룹 176"/>
          <p:cNvGrpSpPr/>
          <p:nvPr/>
        </p:nvGrpSpPr>
        <p:grpSpPr>
          <a:xfrm>
            <a:off x="3763735" y="990422"/>
            <a:ext cx="643888" cy="217320"/>
            <a:chOff x="412221" y="645427"/>
            <a:chExt cx="1349829" cy="400596"/>
          </a:xfrm>
        </p:grpSpPr>
        <p:grpSp>
          <p:nvGrpSpPr>
            <p:cNvPr id="178" name="그룹 177"/>
            <p:cNvGrpSpPr/>
            <p:nvPr/>
          </p:nvGrpSpPr>
          <p:grpSpPr>
            <a:xfrm>
              <a:off x="412221" y="645427"/>
              <a:ext cx="1349829" cy="400596"/>
              <a:chOff x="3537386" y="1420931"/>
              <a:chExt cx="1349829" cy="400596"/>
            </a:xfrm>
          </p:grpSpPr>
          <p:sp>
            <p:nvSpPr>
              <p:cNvPr id="180" name="직사각형 179"/>
              <p:cNvSpPr/>
              <p:nvPr/>
            </p:nvSpPr>
            <p:spPr>
              <a:xfrm>
                <a:off x="3537386" y="1420933"/>
                <a:ext cx="1349829" cy="4005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81" name="직선 연결선 180"/>
              <p:cNvCxnSpPr/>
              <p:nvPr/>
            </p:nvCxnSpPr>
            <p:spPr>
              <a:xfrm>
                <a:off x="3537386" y="1420931"/>
                <a:ext cx="1349829" cy="394317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flipV="1">
                <a:off x="3537386" y="1420932"/>
                <a:ext cx="1349829" cy="394316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9" name="TextBox 178"/>
            <p:cNvSpPr txBox="1"/>
            <p:nvPr/>
          </p:nvSpPr>
          <p:spPr>
            <a:xfrm>
              <a:off x="762825" y="706396"/>
              <a:ext cx="360995" cy="215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로고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85" name="그룹 184"/>
          <p:cNvGrpSpPr/>
          <p:nvPr/>
        </p:nvGrpSpPr>
        <p:grpSpPr>
          <a:xfrm>
            <a:off x="6109390" y="1078562"/>
            <a:ext cx="144000" cy="101603"/>
            <a:chOff x="6399912" y="1704827"/>
            <a:chExt cx="191719" cy="142261"/>
          </a:xfrm>
        </p:grpSpPr>
        <p:cxnSp>
          <p:nvCxnSpPr>
            <p:cNvPr id="186" name="직선 연결선 185"/>
            <p:cNvCxnSpPr/>
            <p:nvPr/>
          </p:nvCxnSpPr>
          <p:spPr>
            <a:xfrm>
              <a:off x="6399912" y="170482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/>
            <p:nvPr/>
          </p:nvCxnSpPr>
          <p:spPr>
            <a:xfrm>
              <a:off x="6399912" y="1775957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/>
            <p:cNvCxnSpPr/>
            <p:nvPr/>
          </p:nvCxnSpPr>
          <p:spPr>
            <a:xfrm>
              <a:off x="6399912" y="1847088"/>
              <a:ext cx="1917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9" name="TextBox 188"/>
          <p:cNvSpPr txBox="1"/>
          <p:nvPr/>
        </p:nvSpPr>
        <p:spPr>
          <a:xfrm>
            <a:off x="4255438" y="1647963"/>
            <a:ext cx="12955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과도한 빚으로 힘드실 땐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957840" y="2018165"/>
            <a:ext cx="21515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7450</a:t>
            </a:r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 빚을 줄여준</a:t>
            </a:r>
            <a:endParaRPr lang="en-US" altLang="ko-KR" sz="11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전문가에게 답을 찾으세요</a:t>
            </a:r>
            <a:r>
              <a:rPr lang="en-US" altLang="ko-KR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</a:p>
        </p:txBody>
      </p:sp>
      <p:grpSp>
        <p:nvGrpSpPr>
          <p:cNvPr id="191" name="그룹 190"/>
          <p:cNvGrpSpPr/>
          <p:nvPr/>
        </p:nvGrpSpPr>
        <p:grpSpPr>
          <a:xfrm>
            <a:off x="4339655" y="2003895"/>
            <a:ext cx="812070" cy="261610"/>
            <a:chOff x="10508728" y="3290173"/>
            <a:chExt cx="812070" cy="261610"/>
          </a:xfrm>
        </p:grpSpPr>
        <p:sp>
          <p:nvSpPr>
            <p:cNvPr id="192" name="모서리가 둥근 직사각형 191"/>
            <p:cNvSpPr/>
            <p:nvPr/>
          </p:nvSpPr>
          <p:spPr>
            <a:xfrm>
              <a:off x="10559859" y="3327843"/>
              <a:ext cx="547397" cy="173433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10508728" y="3290173"/>
              <a:ext cx="8120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7450</a:t>
              </a:r>
              <a:r>
                <a:rPr lang="ko-KR" altLang="en-US" sz="1100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억</a:t>
              </a:r>
              <a:endParaRPr lang="en-US" altLang="ko-KR" sz="11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04" name="그룹 203"/>
          <p:cNvGrpSpPr/>
          <p:nvPr/>
        </p:nvGrpSpPr>
        <p:grpSpPr>
          <a:xfrm>
            <a:off x="4117438" y="2597649"/>
            <a:ext cx="1728433" cy="853117"/>
            <a:chOff x="4120888" y="3312165"/>
            <a:chExt cx="1728433" cy="853117"/>
          </a:xfrm>
        </p:grpSpPr>
        <p:sp>
          <p:nvSpPr>
            <p:cNvPr id="205" name="모서리가 둥근 직사각형 204"/>
            <p:cNvSpPr/>
            <p:nvPr/>
          </p:nvSpPr>
          <p:spPr>
            <a:xfrm>
              <a:off x="4120888" y="3312165"/>
              <a:ext cx="1728433" cy="25156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6" name="모서리가 둥근 직사각형 205"/>
            <p:cNvSpPr/>
            <p:nvPr/>
          </p:nvSpPr>
          <p:spPr>
            <a:xfrm>
              <a:off x="4120888" y="3612943"/>
              <a:ext cx="1728433" cy="25156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4120888" y="3913721"/>
              <a:ext cx="1728433" cy="25156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4193594" y="3958510"/>
              <a:ext cx="926857" cy="1923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62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개인회생ㆍ파산</a:t>
              </a:r>
              <a:r>
                <a:rPr lang="ko-KR" altLang="en-US" sz="62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62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소송건</a:t>
              </a:r>
              <a:endParaRPr lang="en-US" altLang="ko-KR" sz="62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5100210" y="3924085"/>
              <a:ext cx="63671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10386</a:t>
              </a:r>
              <a:r>
                <a:rPr lang="ko-KR" altLang="en-US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건</a:t>
              </a:r>
              <a:endParaRPr lang="en-US" altLang="ko-KR" sz="85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4432196" y="3362334"/>
              <a:ext cx="688255" cy="18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2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최대 </a:t>
              </a:r>
              <a:r>
                <a:rPr lang="ko-KR" altLang="en-US" sz="62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탕감률</a:t>
              </a:r>
              <a:endParaRPr lang="en-US" altLang="ko-KR" sz="62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5100210" y="3326940"/>
              <a:ext cx="558527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96%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4568566" y="3656261"/>
              <a:ext cx="548547" cy="1877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62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누적 </a:t>
              </a:r>
              <a:r>
                <a:rPr lang="ko-KR" altLang="en-US" sz="620" dirty="0" err="1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탕감액</a:t>
              </a:r>
              <a:endParaRPr lang="en-US" altLang="ko-KR" sz="62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5100210" y="3644036"/>
              <a:ext cx="57419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7450</a:t>
              </a:r>
              <a:r>
                <a:rPr lang="ko-KR" altLang="en-US" sz="85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억</a:t>
              </a:r>
              <a:endParaRPr lang="en-US" altLang="ko-KR" sz="85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19" name="그룹 218"/>
          <p:cNvGrpSpPr/>
          <p:nvPr/>
        </p:nvGrpSpPr>
        <p:grpSpPr>
          <a:xfrm>
            <a:off x="530445" y="3952577"/>
            <a:ext cx="401508" cy="234053"/>
            <a:chOff x="1095651" y="3723059"/>
            <a:chExt cx="401508" cy="234053"/>
          </a:xfrm>
        </p:grpSpPr>
        <p:sp>
          <p:nvSpPr>
            <p:cNvPr id="220" name="TextBox 219"/>
            <p:cNvSpPr txBox="1"/>
            <p:nvPr/>
          </p:nvSpPr>
          <p:spPr>
            <a:xfrm>
              <a:off x="1095651" y="3741668"/>
              <a:ext cx="3850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이름 </a:t>
              </a:r>
              <a:endParaRPr lang="ko-KR" altLang="en-US" sz="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1270815" y="3723059"/>
              <a:ext cx="22634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 smtClean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</a:t>
              </a:r>
              <a:endParaRPr lang="ko-KR" altLang="en-US" sz="700" dirty="0">
                <a:solidFill>
                  <a:srgbClr val="FF6B4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58" name="TextBox 257"/>
          <p:cNvSpPr txBox="1"/>
          <p:nvPr/>
        </p:nvSpPr>
        <p:spPr>
          <a:xfrm>
            <a:off x="2063746" y="3959659"/>
            <a:ext cx="56618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75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‘-’</a:t>
            </a:r>
            <a:r>
              <a:rPr lang="ko-KR" altLang="en-US" sz="75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제외</a:t>
            </a:r>
            <a:endParaRPr lang="ko-KR" altLang="en-US" sz="75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832601" y="3959660"/>
            <a:ext cx="59824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75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</a:t>
            </a:r>
            <a:r>
              <a:rPr lang="en-US" altLang="ko-KR" sz="75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75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홍길동</a:t>
            </a:r>
            <a:endParaRPr lang="ko-KR" altLang="en-US" sz="75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6639558" y="3826560"/>
            <a:ext cx="2412000" cy="1771924"/>
            <a:chOff x="7882344" y="3445321"/>
            <a:chExt cx="2412000" cy="1771924"/>
          </a:xfrm>
        </p:grpSpPr>
        <p:sp>
          <p:nvSpPr>
            <p:cNvPr id="234" name="모서리가 둥근 직사각형 233"/>
            <p:cNvSpPr/>
            <p:nvPr/>
          </p:nvSpPr>
          <p:spPr>
            <a:xfrm>
              <a:off x="7882344" y="3445321"/>
              <a:ext cx="2412000" cy="1771924"/>
            </a:xfrm>
            <a:prstGeom prst="roundRect">
              <a:avLst>
                <a:gd name="adj" fmla="val 5823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5" name="모서리가 둥근 직사각형 234"/>
            <p:cNvSpPr/>
            <p:nvPr/>
          </p:nvSpPr>
          <p:spPr>
            <a:xfrm>
              <a:off x="8021197" y="3567531"/>
              <a:ext cx="995300" cy="26751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6" name="그룹 235"/>
            <p:cNvGrpSpPr/>
            <p:nvPr/>
          </p:nvGrpSpPr>
          <p:grpSpPr>
            <a:xfrm>
              <a:off x="8002324" y="3543788"/>
              <a:ext cx="335568" cy="175898"/>
              <a:chOff x="1091633" y="3674075"/>
              <a:chExt cx="335568" cy="175898"/>
            </a:xfrm>
          </p:grpSpPr>
          <p:sp>
            <p:nvSpPr>
              <p:cNvPr id="237" name="TextBox 236"/>
              <p:cNvSpPr txBox="1"/>
              <p:nvPr/>
            </p:nvSpPr>
            <p:spPr>
              <a:xfrm>
                <a:off x="1091633" y="3680696"/>
                <a:ext cx="311304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5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이름 </a:t>
                </a:r>
                <a:endParaRPr lang="ko-KR" altLang="en-US" sz="5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38" name="TextBox 237"/>
              <p:cNvSpPr txBox="1"/>
              <p:nvPr/>
            </p:nvSpPr>
            <p:spPr>
              <a:xfrm>
                <a:off x="1212078" y="3674075"/>
                <a:ext cx="215123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500" dirty="0" smtClean="0">
                    <a:solidFill>
                      <a:srgbClr val="FF6B4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*</a:t>
                </a:r>
                <a:endParaRPr lang="ko-KR" altLang="en-US" sz="500" dirty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239" name="모서리가 둥근 직사각형 238"/>
            <p:cNvSpPr/>
            <p:nvPr/>
          </p:nvSpPr>
          <p:spPr>
            <a:xfrm>
              <a:off x="8002324" y="4649704"/>
              <a:ext cx="2116592" cy="3903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무료 상담신청</a:t>
              </a:r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40" name="모서리가 둥근 직사각형 239"/>
            <p:cNvSpPr/>
            <p:nvPr/>
          </p:nvSpPr>
          <p:spPr>
            <a:xfrm>
              <a:off x="9104395" y="3567531"/>
              <a:ext cx="995300" cy="26751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1" name="그룹 240"/>
            <p:cNvGrpSpPr/>
            <p:nvPr/>
          </p:nvGrpSpPr>
          <p:grpSpPr>
            <a:xfrm>
              <a:off x="9089657" y="3586290"/>
              <a:ext cx="490100" cy="232840"/>
              <a:chOff x="1104337" y="3739362"/>
              <a:chExt cx="490100" cy="232840"/>
            </a:xfrm>
          </p:grpSpPr>
          <p:sp>
            <p:nvSpPr>
              <p:cNvPr id="242" name="TextBox 241"/>
              <p:cNvSpPr txBox="1"/>
              <p:nvPr/>
            </p:nvSpPr>
            <p:spPr>
              <a:xfrm>
                <a:off x="1104337" y="3756758"/>
                <a:ext cx="47320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연락처 </a:t>
                </a:r>
                <a:endParaRPr lang="ko-KR" altLang="en-US" sz="7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43" name="TextBox 242"/>
              <p:cNvSpPr txBox="1"/>
              <p:nvPr/>
            </p:nvSpPr>
            <p:spPr>
              <a:xfrm>
                <a:off x="1368093" y="3739362"/>
                <a:ext cx="22634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700" dirty="0" smtClean="0">
                    <a:solidFill>
                      <a:srgbClr val="FF6B4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*</a:t>
                </a:r>
                <a:endParaRPr lang="ko-KR" altLang="en-US" sz="700" dirty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244" name="모서리가 둥근 직사각형 243"/>
            <p:cNvSpPr/>
            <p:nvPr/>
          </p:nvSpPr>
          <p:spPr>
            <a:xfrm>
              <a:off x="8021197" y="3924529"/>
              <a:ext cx="995300" cy="26751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모서리가 둥근 직사각형 244"/>
            <p:cNvSpPr/>
            <p:nvPr/>
          </p:nvSpPr>
          <p:spPr>
            <a:xfrm>
              <a:off x="9104395" y="3924529"/>
              <a:ext cx="995300" cy="26751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8013348" y="3953720"/>
              <a:ext cx="707245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75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선택</a:t>
              </a:r>
              <a:endParaRPr lang="ko-KR" altLang="en-US" sz="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9084519" y="3957504"/>
              <a:ext cx="623889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월소득</a:t>
              </a:r>
              <a:r>
                <a:rPr lang="ko-KR" altLang="en-US" sz="75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선택</a:t>
              </a:r>
              <a:endParaRPr lang="ko-KR" altLang="en-US" sz="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48" name="갈매기형 수장 247"/>
            <p:cNvSpPr/>
            <p:nvPr/>
          </p:nvSpPr>
          <p:spPr>
            <a:xfrm rot="5400000">
              <a:off x="9975046" y="4028314"/>
              <a:ext cx="53813" cy="89524"/>
            </a:xfrm>
            <a:prstGeom prst="chevron">
              <a:avLst>
                <a:gd name="adj" fmla="val 7302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49" name="그룹 248"/>
            <p:cNvGrpSpPr/>
            <p:nvPr/>
          </p:nvGrpSpPr>
          <p:grpSpPr>
            <a:xfrm>
              <a:off x="8002324" y="4299921"/>
              <a:ext cx="2190183" cy="246221"/>
              <a:chOff x="6952461" y="5687865"/>
              <a:chExt cx="2190183" cy="246221"/>
            </a:xfrm>
          </p:grpSpPr>
          <p:sp>
            <p:nvSpPr>
              <p:cNvPr id="250" name="TextBox 249"/>
              <p:cNvSpPr txBox="1"/>
              <p:nvPr/>
            </p:nvSpPr>
            <p:spPr>
              <a:xfrm>
                <a:off x="7095289" y="5723311"/>
                <a:ext cx="2047355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개인정보 수집 및 이용 동의                                             </a:t>
                </a:r>
                <a:r>
                  <a:rPr lang="ko-KR" altLang="en-US" sz="600" u="sng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자세히</a:t>
                </a:r>
                <a:endParaRPr lang="ko-KR" altLang="en-US" sz="600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grpSp>
            <p:nvGrpSpPr>
              <p:cNvPr id="251" name="그룹 250"/>
              <p:cNvGrpSpPr/>
              <p:nvPr/>
            </p:nvGrpSpPr>
            <p:grpSpPr>
              <a:xfrm>
                <a:off x="6952461" y="5687865"/>
                <a:ext cx="285656" cy="246221"/>
                <a:chOff x="7311241" y="5007678"/>
                <a:chExt cx="285656" cy="246221"/>
              </a:xfrm>
            </p:grpSpPr>
            <p:sp>
              <p:nvSpPr>
                <p:cNvPr id="252" name="모서리가 둥근 직사각형 251"/>
                <p:cNvSpPr/>
                <p:nvPr/>
              </p:nvSpPr>
              <p:spPr>
                <a:xfrm>
                  <a:off x="7372069" y="5080924"/>
                  <a:ext cx="126000" cy="1260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253" name="TextBox 252"/>
                <p:cNvSpPr txBox="1"/>
                <p:nvPr/>
              </p:nvSpPr>
              <p:spPr>
                <a:xfrm>
                  <a:off x="7311241" y="5007678"/>
                  <a:ext cx="28565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  <a:sym typeface="Wingdings" panose="05000000000000000000" pitchFamily="2" charset="2"/>
                    </a:rPr>
                    <a:t></a:t>
                  </a:r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</p:grpSp>
        <p:sp>
          <p:nvSpPr>
            <p:cNvPr id="254" name="갈매기형 수장 253"/>
            <p:cNvSpPr/>
            <p:nvPr/>
          </p:nvSpPr>
          <p:spPr>
            <a:xfrm rot="5400000">
              <a:off x="8888318" y="4028333"/>
              <a:ext cx="53813" cy="89524"/>
            </a:xfrm>
            <a:prstGeom prst="chevron">
              <a:avLst>
                <a:gd name="adj" fmla="val 7302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8116673" y="3681247"/>
              <a:ext cx="0" cy="129600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0" name="직사각형 259"/>
          <p:cNvSpPr/>
          <p:nvPr/>
        </p:nvSpPr>
        <p:spPr>
          <a:xfrm>
            <a:off x="9230264" y="0"/>
            <a:ext cx="2961736" cy="412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타입 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52" name="직선 연결선 151"/>
          <p:cNvCxnSpPr/>
          <p:nvPr/>
        </p:nvCxnSpPr>
        <p:spPr>
          <a:xfrm>
            <a:off x="2822250" y="1340426"/>
            <a:ext cx="540000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/>
          <p:cNvCxnSpPr/>
          <p:nvPr/>
        </p:nvCxnSpPr>
        <p:spPr>
          <a:xfrm>
            <a:off x="2918460" y="4404784"/>
            <a:ext cx="540000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H="1">
            <a:off x="3281095" y="1449025"/>
            <a:ext cx="19777" cy="2847161"/>
          </a:xfrm>
          <a:prstGeom prst="line">
            <a:avLst/>
          </a:prstGeom>
          <a:ln>
            <a:solidFill>
              <a:schemeClr val="accent5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2984723" y="2569971"/>
            <a:ext cx="582211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 </a:t>
            </a:r>
            <a:endParaRPr lang="en-US" altLang="ko-KR" sz="9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진입 시</a:t>
            </a:r>
            <a:endParaRPr lang="en-US" altLang="ko-KR" sz="900" dirty="0" smtClean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노출영역</a:t>
            </a:r>
            <a:endParaRPr lang="ko-KR" altLang="en-US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45158" y="1354912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74591" y="3845215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33898" y="3515313"/>
            <a:ext cx="2496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인풋박스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입력 시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플레이스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홀더 상태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659556" y="586977"/>
            <a:ext cx="55499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디폴트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 상담신청 영역 모두 열린 상태 →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인풋박스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상담신청 버튼 클릭 시 아래로 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신청영역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열림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395102" y="566652"/>
            <a:ext cx="1592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디폴트</a:t>
            </a:r>
            <a:r>
              <a:rPr lang="en-US" altLang="ko-KR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메인화면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진입 시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6468308" y="3914779"/>
            <a:ext cx="384881" cy="230832"/>
            <a:chOff x="9984557" y="3090201"/>
            <a:chExt cx="384881" cy="230832"/>
          </a:xfrm>
        </p:grpSpPr>
        <p:sp>
          <p:nvSpPr>
            <p:cNvPr id="164" name="직사각형 163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9992412" y="3090201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2-2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66" name="직사각형 165"/>
          <p:cNvSpPr/>
          <p:nvPr/>
        </p:nvSpPr>
        <p:spPr>
          <a:xfrm>
            <a:off x="74591" y="547927"/>
            <a:ext cx="320511" cy="207389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3348490" y="551891"/>
            <a:ext cx="320511" cy="207389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290170" y="3784498"/>
            <a:ext cx="2759451" cy="1156362"/>
          </a:xfrm>
          <a:prstGeom prst="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0" name="그룹 169"/>
          <p:cNvGrpSpPr/>
          <p:nvPr/>
        </p:nvGrpSpPr>
        <p:grpSpPr>
          <a:xfrm>
            <a:off x="6438750" y="1169914"/>
            <a:ext cx="2842645" cy="1688344"/>
            <a:chOff x="9230742" y="4229008"/>
            <a:chExt cx="2842645" cy="1688344"/>
          </a:xfrm>
        </p:grpSpPr>
        <p:grpSp>
          <p:nvGrpSpPr>
            <p:cNvPr id="171" name="그룹 170"/>
            <p:cNvGrpSpPr/>
            <p:nvPr/>
          </p:nvGrpSpPr>
          <p:grpSpPr>
            <a:xfrm>
              <a:off x="9287547" y="4494484"/>
              <a:ext cx="1300371" cy="1422868"/>
              <a:chOff x="9671613" y="3602431"/>
              <a:chExt cx="1300371" cy="1422868"/>
            </a:xfrm>
          </p:grpSpPr>
          <p:sp>
            <p:nvSpPr>
              <p:cNvPr id="217" name="모서리가 둥근 직사각형 216"/>
              <p:cNvSpPr/>
              <p:nvPr/>
            </p:nvSpPr>
            <p:spPr>
              <a:xfrm>
                <a:off x="9671613" y="3602431"/>
                <a:ext cx="1300371" cy="1422868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" name="TextBox 217"/>
              <p:cNvSpPr txBox="1"/>
              <p:nvPr/>
            </p:nvSpPr>
            <p:spPr>
              <a:xfrm>
                <a:off x="9734710" y="3671719"/>
                <a:ext cx="1061509" cy="1338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채무금액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172" name="그룹 171"/>
            <p:cNvGrpSpPr/>
            <p:nvPr/>
          </p:nvGrpSpPr>
          <p:grpSpPr>
            <a:xfrm>
              <a:off x="10679226" y="4494484"/>
              <a:ext cx="1300371" cy="1281989"/>
              <a:chOff x="11063292" y="3602431"/>
              <a:chExt cx="1300371" cy="1281989"/>
            </a:xfrm>
          </p:grpSpPr>
          <p:sp>
            <p:nvSpPr>
              <p:cNvPr id="184" name="모서리가 둥근 직사각형 183"/>
              <p:cNvSpPr/>
              <p:nvPr/>
            </p:nvSpPr>
            <p:spPr>
              <a:xfrm>
                <a:off x="11063292" y="3602431"/>
                <a:ext cx="1300371" cy="1281989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" name="TextBox 215"/>
              <p:cNvSpPr txBox="1"/>
              <p:nvPr/>
            </p:nvSpPr>
            <p:spPr>
              <a:xfrm>
                <a:off x="11077204" y="3671719"/>
                <a:ext cx="1082348" cy="1131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월소득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9230742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err="1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10606554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 소득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669001" y="934404"/>
            <a:ext cx="2725046" cy="465195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/>
          <p:cNvGrpSpPr/>
          <p:nvPr/>
        </p:nvGrpSpPr>
        <p:grpSpPr>
          <a:xfrm>
            <a:off x="3654845" y="3266565"/>
            <a:ext cx="2735138" cy="2318327"/>
            <a:chOff x="3654845" y="3266565"/>
            <a:chExt cx="2735138" cy="2318327"/>
          </a:xfrm>
        </p:grpSpPr>
        <p:sp>
          <p:nvSpPr>
            <p:cNvPr id="12" name="양쪽 모서리가 둥근 사각형 11"/>
            <p:cNvSpPr/>
            <p:nvPr/>
          </p:nvSpPr>
          <p:spPr>
            <a:xfrm>
              <a:off x="3654845" y="3266565"/>
              <a:ext cx="2735138" cy="2318327"/>
            </a:xfrm>
            <a:prstGeom prst="round2SameRect">
              <a:avLst>
                <a:gd name="adj1" fmla="val 5711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0" name="모서리가 둥근 직사각형 299"/>
            <p:cNvSpPr/>
            <p:nvPr/>
          </p:nvSpPr>
          <p:spPr>
            <a:xfrm>
              <a:off x="3741530" y="3859062"/>
              <a:ext cx="1239180" cy="27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1" name="그룹 300"/>
            <p:cNvGrpSpPr/>
            <p:nvPr/>
          </p:nvGrpSpPr>
          <p:grpSpPr>
            <a:xfrm>
              <a:off x="3722146" y="3880630"/>
              <a:ext cx="466702" cy="218059"/>
              <a:chOff x="1095651" y="3731358"/>
              <a:chExt cx="406752" cy="218059"/>
            </a:xfrm>
          </p:grpSpPr>
          <p:sp>
            <p:nvSpPr>
              <p:cNvPr id="302" name="TextBox 301"/>
              <p:cNvSpPr txBox="1"/>
              <p:nvPr/>
            </p:nvSpPr>
            <p:spPr>
              <a:xfrm>
                <a:off x="1095651" y="3741668"/>
                <a:ext cx="373820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이름 </a:t>
                </a:r>
                <a:endParaRPr lang="ko-KR" altLang="en-US" sz="7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303" name="TextBox 302"/>
              <p:cNvSpPr txBox="1"/>
              <p:nvPr/>
            </p:nvSpPr>
            <p:spPr>
              <a:xfrm>
                <a:off x="1276059" y="3731358"/>
                <a:ext cx="22634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700" dirty="0" smtClean="0">
                    <a:solidFill>
                      <a:srgbClr val="FF6B4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*</a:t>
                </a:r>
                <a:endParaRPr lang="ko-KR" altLang="en-US" sz="700" dirty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304" name="모서리가 둥근 직사각형 303"/>
            <p:cNvSpPr/>
            <p:nvPr/>
          </p:nvSpPr>
          <p:spPr>
            <a:xfrm>
              <a:off x="3852921" y="4992800"/>
              <a:ext cx="2428554" cy="3903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무료 상담신청</a:t>
              </a:r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05" name="모서리가 둥근 직사각형 304"/>
            <p:cNvSpPr/>
            <p:nvPr/>
          </p:nvSpPr>
          <p:spPr>
            <a:xfrm>
              <a:off x="5047631" y="3859062"/>
              <a:ext cx="1239180" cy="27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6" name="그룹 305"/>
            <p:cNvGrpSpPr/>
            <p:nvPr/>
          </p:nvGrpSpPr>
          <p:grpSpPr>
            <a:xfrm>
              <a:off x="5030721" y="3877821"/>
              <a:ext cx="562335" cy="232840"/>
              <a:chOff x="1104337" y="3739362"/>
              <a:chExt cx="490100" cy="232840"/>
            </a:xfrm>
          </p:grpSpPr>
          <p:sp>
            <p:nvSpPr>
              <p:cNvPr id="307" name="TextBox 306"/>
              <p:cNvSpPr txBox="1"/>
              <p:nvPr/>
            </p:nvSpPr>
            <p:spPr>
              <a:xfrm>
                <a:off x="1104337" y="3756758"/>
                <a:ext cx="47320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연락처 </a:t>
                </a:r>
                <a:endParaRPr lang="ko-KR" altLang="en-US" sz="7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1368093" y="3739362"/>
                <a:ext cx="22634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700" dirty="0" smtClean="0">
                    <a:solidFill>
                      <a:srgbClr val="FF6B4E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*</a:t>
                </a:r>
                <a:endParaRPr lang="ko-KR" altLang="en-US" sz="700" dirty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309" name="모서리가 둥근 직사각형 308"/>
            <p:cNvSpPr/>
            <p:nvPr/>
          </p:nvSpPr>
          <p:spPr>
            <a:xfrm>
              <a:off x="3741530" y="4216060"/>
              <a:ext cx="1239180" cy="27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모서리가 둥근 직사각형 309"/>
            <p:cNvSpPr/>
            <p:nvPr/>
          </p:nvSpPr>
          <p:spPr>
            <a:xfrm>
              <a:off x="5047631" y="4216060"/>
              <a:ext cx="1239180" cy="27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3732524" y="4245251"/>
              <a:ext cx="811485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75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선택</a:t>
              </a:r>
              <a:endParaRPr lang="ko-KR" altLang="en-US" sz="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2" name="TextBox 311"/>
            <p:cNvSpPr txBox="1"/>
            <p:nvPr/>
          </p:nvSpPr>
          <p:spPr>
            <a:xfrm>
              <a:off x="5024826" y="4249035"/>
              <a:ext cx="715843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월소득</a:t>
              </a:r>
              <a:r>
                <a:rPr lang="ko-KR" altLang="en-US" sz="75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선택</a:t>
              </a:r>
              <a:endParaRPr lang="ko-KR" altLang="en-US" sz="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3" name="갈매기형 수장 312"/>
            <p:cNvSpPr/>
            <p:nvPr/>
          </p:nvSpPr>
          <p:spPr>
            <a:xfrm rot="5400000">
              <a:off x="6145426" y="4321185"/>
              <a:ext cx="53813" cy="102719"/>
            </a:xfrm>
            <a:prstGeom prst="chevron">
              <a:avLst>
                <a:gd name="adj" fmla="val 7302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14" name="그룹 313"/>
            <p:cNvGrpSpPr/>
            <p:nvPr/>
          </p:nvGrpSpPr>
          <p:grpSpPr>
            <a:xfrm>
              <a:off x="3783128" y="4591452"/>
              <a:ext cx="2512991" cy="246221"/>
              <a:chOff x="6952461" y="5687865"/>
              <a:chExt cx="2190183" cy="246221"/>
            </a:xfrm>
          </p:grpSpPr>
          <p:sp>
            <p:nvSpPr>
              <p:cNvPr id="315" name="TextBox 314"/>
              <p:cNvSpPr txBox="1"/>
              <p:nvPr/>
            </p:nvSpPr>
            <p:spPr>
              <a:xfrm>
                <a:off x="7095289" y="5723311"/>
                <a:ext cx="2047355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개인정보 수집 및 이용 동의                                             </a:t>
                </a:r>
                <a:r>
                  <a:rPr lang="ko-KR" altLang="en-US" sz="600" u="sng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자세히</a:t>
                </a:r>
                <a:endParaRPr lang="ko-KR" altLang="en-US" sz="600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grpSp>
            <p:nvGrpSpPr>
              <p:cNvPr id="316" name="그룹 315"/>
              <p:cNvGrpSpPr/>
              <p:nvPr/>
            </p:nvGrpSpPr>
            <p:grpSpPr>
              <a:xfrm>
                <a:off x="6952461" y="5687865"/>
                <a:ext cx="285656" cy="246221"/>
                <a:chOff x="7311241" y="5007678"/>
                <a:chExt cx="285656" cy="246221"/>
              </a:xfrm>
            </p:grpSpPr>
            <p:sp>
              <p:nvSpPr>
                <p:cNvPr id="317" name="모서리가 둥근 직사각형 316"/>
                <p:cNvSpPr/>
                <p:nvPr/>
              </p:nvSpPr>
              <p:spPr>
                <a:xfrm>
                  <a:off x="7372069" y="5080924"/>
                  <a:ext cx="126000" cy="1260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318" name="TextBox 317"/>
                <p:cNvSpPr txBox="1"/>
                <p:nvPr/>
              </p:nvSpPr>
              <p:spPr>
                <a:xfrm>
                  <a:off x="7311241" y="5007678"/>
                  <a:ext cx="28565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  <a:sym typeface="Wingdings" panose="05000000000000000000" pitchFamily="2" charset="2"/>
                    </a:rPr>
                    <a:t></a:t>
                  </a:r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p:grpSp>
        </p:grpSp>
        <p:sp>
          <p:nvSpPr>
            <p:cNvPr id="319" name="갈매기형 수장 318"/>
            <p:cNvSpPr/>
            <p:nvPr/>
          </p:nvSpPr>
          <p:spPr>
            <a:xfrm rot="5400000">
              <a:off x="4826640" y="4302747"/>
              <a:ext cx="53813" cy="102719"/>
            </a:xfrm>
            <a:prstGeom prst="chevron">
              <a:avLst>
                <a:gd name="adj" fmla="val 7302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5494767" y="3894503"/>
              <a:ext cx="649630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5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75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‘-’</a:t>
              </a:r>
              <a:r>
                <a:rPr lang="ko-KR" altLang="en-US" sz="75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는 제외</a:t>
              </a:r>
              <a:endParaRPr lang="ko-KR" altLang="en-US" sz="75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21" name="TextBox 320"/>
            <p:cNvSpPr txBox="1"/>
            <p:nvPr/>
          </p:nvSpPr>
          <p:spPr>
            <a:xfrm>
              <a:off x="4082164" y="3894504"/>
              <a:ext cx="686415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5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75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예</a:t>
              </a:r>
              <a:r>
                <a:rPr lang="en-US" altLang="ko-KR" sz="75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 </a:t>
              </a:r>
              <a:r>
                <a:rPr lang="ko-KR" altLang="en-US" sz="75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홍길동</a:t>
              </a:r>
              <a:endParaRPr lang="ko-KR" altLang="en-US" sz="75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322" name="그룹 321"/>
            <p:cNvGrpSpPr/>
            <p:nvPr/>
          </p:nvGrpSpPr>
          <p:grpSpPr>
            <a:xfrm>
              <a:off x="5494767" y="4596350"/>
              <a:ext cx="423216" cy="230832"/>
              <a:chOff x="9984557" y="3090201"/>
              <a:chExt cx="368851" cy="230832"/>
            </a:xfrm>
          </p:grpSpPr>
          <p:sp>
            <p:nvSpPr>
              <p:cNvPr id="323" name="직사각형 322"/>
              <p:cNvSpPr/>
              <p:nvPr/>
            </p:nvSpPr>
            <p:spPr>
              <a:xfrm>
                <a:off x="9984557" y="3102990"/>
                <a:ext cx="320511" cy="207389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324" name="TextBox 323"/>
              <p:cNvSpPr txBox="1"/>
              <p:nvPr/>
            </p:nvSpPr>
            <p:spPr>
              <a:xfrm>
                <a:off x="9992412" y="3090201"/>
                <a:ext cx="36099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en-US" altLang="ko-KR" sz="900" b="1" dirty="0" smtClean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-1</a:t>
                </a:r>
                <a:endParaRPr lang="ko-KR" altLang="en-US" sz="9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325" name="TextBox 324"/>
            <p:cNvSpPr txBox="1"/>
            <p:nvPr/>
          </p:nvSpPr>
          <p:spPr>
            <a:xfrm>
              <a:off x="4466991" y="3398328"/>
              <a:ext cx="122341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무료 상담 신청하기</a:t>
              </a:r>
              <a:endPara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326" name="그룹 325"/>
            <p:cNvGrpSpPr/>
            <p:nvPr/>
          </p:nvGrpSpPr>
          <p:grpSpPr>
            <a:xfrm>
              <a:off x="4176523" y="3443288"/>
              <a:ext cx="326263" cy="212532"/>
              <a:chOff x="4573699" y="2002085"/>
              <a:chExt cx="592843" cy="348935"/>
            </a:xfrm>
          </p:grpSpPr>
          <p:grpSp>
            <p:nvGrpSpPr>
              <p:cNvPr id="327" name="그룹 326"/>
              <p:cNvGrpSpPr/>
              <p:nvPr/>
            </p:nvGrpSpPr>
            <p:grpSpPr>
              <a:xfrm>
                <a:off x="4593721" y="2002085"/>
                <a:ext cx="572821" cy="348935"/>
                <a:chOff x="6972307" y="3124200"/>
                <a:chExt cx="682902" cy="504825"/>
              </a:xfrm>
              <a:solidFill>
                <a:schemeClr val="bg1"/>
              </a:solidFill>
            </p:grpSpPr>
            <p:sp>
              <p:nvSpPr>
                <p:cNvPr id="329" name="모서리가 둥근 직사각형 328"/>
                <p:cNvSpPr/>
                <p:nvPr/>
              </p:nvSpPr>
              <p:spPr>
                <a:xfrm>
                  <a:off x="6972307" y="3124200"/>
                  <a:ext cx="682902" cy="504825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50"/>
                </a:p>
              </p:txBody>
            </p:sp>
            <p:cxnSp>
              <p:nvCxnSpPr>
                <p:cNvPr id="330" name="직선 연결선 329"/>
                <p:cNvCxnSpPr/>
                <p:nvPr/>
              </p:nvCxnSpPr>
              <p:spPr>
                <a:xfrm>
                  <a:off x="6997586" y="3154262"/>
                  <a:ext cx="617618" cy="437299"/>
                </a:xfrm>
                <a:prstGeom prst="line">
                  <a:avLst/>
                </a:prstGeom>
                <a:grp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직선 연결선 330"/>
                <p:cNvCxnSpPr/>
                <p:nvPr/>
              </p:nvCxnSpPr>
              <p:spPr>
                <a:xfrm flipH="1">
                  <a:off x="7025638" y="3152447"/>
                  <a:ext cx="589566" cy="439114"/>
                </a:xfrm>
                <a:prstGeom prst="line">
                  <a:avLst/>
                </a:prstGeom>
                <a:grp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8" name="TextBox 327"/>
              <p:cNvSpPr txBox="1"/>
              <p:nvPr/>
            </p:nvSpPr>
            <p:spPr>
              <a:xfrm>
                <a:off x="4573699" y="2031012"/>
                <a:ext cx="592843" cy="3031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icon</a:t>
                </a:r>
                <a:endParaRPr lang="ko-KR" altLang="en-US" sz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cxnSp>
          <p:nvCxnSpPr>
            <p:cNvPr id="333" name="직선 연결선 332"/>
            <p:cNvCxnSpPr/>
            <p:nvPr/>
          </p:nvCxnSpPr>
          <p:spPr>
            <a:xfrm>
              <a:off x="6080613" y="3383448"/>
              <a:ext cx="125897" cy="11386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직선 연결선 333"/>
            <p:cNvCxnSpPr/>
            <p:nvPr/>
          </p:nvCxnSpPr>
          <p:spPr>
            <a:xfrm flipV="1">
              <a:off x="6080613" y="3383448"/>
              <a:ext cx="125128" cy="113860"/>
            </a:xfrm>
            <a:prstGeom prst="line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직사각형 14"/>
          <p:cNvSpPr/>
          <p:nvPr/>
        </p:nvSpPr>
        <p:spPr>
          <a:xfrm>
            <a:off x="3566934" y="3055005"/>
            <a:ext cx="2870010" cy="2648238"/>
          </a:xfrm>
          <a:prstGeom prst="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168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494667"/>
              </p:ext>
            </p:extLst>
          </p:nvPr>
        </p:nvGraphicFramePr>
        <p:xfrm>
          <a:off x="9303719" y="412801"/>
          <a:ext cx="2769668" cy="4393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276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AI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[AI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 탕감 방식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디폴트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파산면책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배너위에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마우스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오버되면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진하게 표시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혹은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색반전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처리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2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진단 팝업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[AI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팝업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딤처리되며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시작하기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진단 진행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어떤 채무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탕감방식을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선택하나 노출되는 컨텐츠 동일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 탕감 방식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선택한 채무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탕감방식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1800" y="619527"/>
            <a:ext cx="2734491" cy="535577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64040" y="940835"/>
            <a:ext cx="16049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자가진단으로 알아보기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4040" y="739187"/>
            <a:ext cx="25863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 빛은 </a:t>
            </a:r>
            <a:r>
              <a:rPr lang="ko-KR" altLang="en-US" sz="1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탕감받을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 있을까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4040" y="1285099"/>
            <a:ext cx="37792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원하시는 빛 탕감 방식을 선택해 주세요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779800" y="1687425"/>
            <a:ext cx="2299730" cy="905431"/>
            <a:chOff x="524751" y="1692023"/>
            <a:chExt cx="2299730" cy="998084"/>
          </a:xfrm>
        </p:grpSpPr>
        <p:grpSp>
          <p:nvGrpSpPr>
            <p:cNvPr id="3" name="그룹 2"/>
            <p:cNvGrpSpPr/>
            <p:nvPr/>
          </p:nvGrpSpPr>
          <p:grpSpPr>
            <a:xfrm>
              <a:off x="524751" y="1692023"/>
              <a:ext cx="2299730" cy="998084"/>
              <a:chOff x="3904865" y="2803524"/>
              <a:chExt cx="3159760" cy="1357195"/>
            </a:xfrm>
          </p:grpSpPr>
          <p:sp>
            <p:nvSpPr>
              <p:cNvPr id="23" name="모서리가 둥근 직사각형 22"/>
              <p:cNvSpPr/>
              <p:nvPr/>
            </p:nvSpPr>
            <p:spPr>
              <a:xfrm>
                <a:off x="3904865" y="2803524"/>
                <a:ext cx="3159760" cy="1357195"/>
              </a:xfrm>
              <a:prstGeom prst="roundRect">
                <a:avLst>
                  <a:gd name="adj" fmla="val 12182"/>
                </a:avLst>
              </a:prstGeom>
              <a:solidFill>
                <a:schemeClr val="bg1"/>
              </a:solidFill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3943170" y="2866251"/>
                <a:ext cx="3019855" cy="1273602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/>
              <p:cNvCxnSpPr/>
              <p:nvPr/>
            </p:nvCxnSpPr>
            <p:spPr>
              <a:xfrm flipV="1">
                <a:off x="4026785" y="2843501"/>
                <a:ext cx="2936240" cy="1296352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 flipH="1">
              <a:off x="1391353" y="2390230"/>
              <a:ext cx="782064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100" b="1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개인회생</a:t>
              </a:r>
              <a:endPara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27300" y="1875096"/>
              <a:ext cx="191017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일정한 소득이 </a:t>
              </a:r>
              <a:r>
                <a:rPr lang="en-US" altLang="ko-KR" sz="8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8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있으나 여유가 </a:t>
              </a:r>
              <a:r>
                <a:rPr lang="ko-KR" altLang="en-US" sz="85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없는분</a:t>
              </a:r>
              <a:endParaRPr lang="en-US" altLang="ko-KR" sz="8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779800" y="2808531"/>
            <a:ext cx="2299730" cy="905431"/>
            <a:chOff x="524751" y="2813129"/>
            <a:chExt cx="2299730" cy="998084"/>
          </a:xfrm>
        </p:grpSpPr>
        <p:grpSp>
          <p:nvGrpSpPr>
            <p:cNvPr id="17" name="그룹 16"/>
            <p:cNvGrpSpPr/>
            <p:nvPr/>
          </p:nvGrpSpPr>
          <p:grpSpPr>
            <a:xfrm>
              <a:off x="524751" y="2813129"/>
              <a:ext cx="2299730" cy="998084"/>
              <a:chOff x="741680" y="2412165"/>
              <a:chExt cx="3159760" cy="1359079"/>
            </a:xfrm>
          </p:grpSpPr>
          <p:sp>
            <p:nvSpPr>
              <p:cNvPr id="18" name="모서리가 둥근 직사각형 17"/>
              <p:cNvSpPr/>
              <p:nvPr/>
            </p:nvSpPr>
            <p:spPr>
              <a:xfrm>
                <a:off x="741680" y="2412165"/>
                <a:ext cx="3159760" cy="1359079"/>
              </a:xfrm>
              <a:prstGeom prst="roundRect">
                <a:avLst>
                  <a:gd name="adj" fmla="val 12182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" name="직선 연결선 18"/>
              <p:cNvCxnSpPr/>
              <p:nvPr/>
            </p:nvCxnSpPr>
            <p:spPr>
              <a:xfrm>
                <a:off x="779985" y="2474892"/>
                <a:ext cx="3019855" cy="1273601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/>
              <p:cNvCxnSpPr/>
              <p:nvPr/>
            </p:nvCxnSpPr>
            <p:spPr>
              <a:xfrm flipV="1">
                <a:off x="863600" y="2452142"/>
                <a:ext cx="2936240" cy="1296352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/>
            <p:cNvSpPr txBox="1"/>
            <p:nvPr/>
          </p:nvSpPr>
          <p:spPr>
            <a:xfrm flipH="1">
              <a:off x="1318994" y="3514760"/>
              <a:ext cx="66517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파산면책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3197" y="2988277"/>
              <a:ext cx="1735854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5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과도한 빚으로 변제 능력이 </a:t>
              </a:r>
              <a:r>
                <a:rPr lang="ko-KR" altLang="en-US" sz="85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어려운분</a:t>
              </a:r>
              <a:endParaRPr lang="en-US" altLang="ko-KR" sz="8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4" name="직사각형 33"/>
          <p:cNvSpPr/>
          <p:nvPr/>
        </p:nvSpPr>
        <p:spPr>
          <a:xfrm>
            <a:off x="3783450" y="628579"/>
            <a:ext cx="2734491" cy="5355772"/>
          </a:xfrm>
          <a:prstGeom prst="rect">
            <a:avLst/>
          </a:prstGeom>
          <a:solidFill>
            <a:schemeClr val="tx1">
              <a:alpha val="2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3938845" y="1067288"/>
            <a:ext cx="2432104" cy="3559966"/>
          </a:xfrm>
          <a:prstGeom prst="roundRect">
            <a:avLst>
              <a:gd name="adj" fmla="val 3449"/>
            </a:avLst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046932" y="1294151"/>
            <a:ext cx="13612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진단으로 알아보기</a:t>
            </a: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046932" y="1555761"/>
            <a:ext cx="23150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에이스법률사무소가 진행한 개인회생 법률에 근거하여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회생 가능성을 진단해 드려요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6045763" y="1267835"/>
            <a:ext cx="162000" cy="162000"/>
            <a:chOff x="10576560" y="4734560"/>
            <a:chExt cx="355600" cy="346484"/>
          </a:xfrm>
        </p:grpSpPr>
        <p:cxnSp>
          <p:nvCxnSpPr>
            <p:cNvPr id="51" name="직선 연결선 50"/>
            <p:cNvCxnSpPr/>
            <p:nvPr/>
          </p:nvCxnSpPr>
          <p:spPr>
            <a:xfrm>
              <a:off x="10576560" y="4734560"/>
              <a:ext cx="355600" cy="346484"/>
            </a:xfrm>
            <a:prstGeom prst="line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V="1">
              <a:off x="10576560" y="4734560"/>
              <a:ext cx="355600" cy="346484"/>
            </a:xfrm>
            <a:prstGeom prst="line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모서리가 둥근 직사각형 52"/>
          <p:cNvSpPr/>
          <p:nvPr/>
        </p:nvSpPr>
        <p:spPr>
          <a:xfrm>
            <a:off x="4215922" y="3883848"/>
            <a:ext cx="1910841" cy="408126"/>
          </a:xfrm>
          <a:prstGeom prst="roundRect">
            <a:avLst>
              <a:gd name="adj" fmla="val 19502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시작하기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4523897" y="2163155"/>
            <a:ext cx="1115948" cy="1028584"/>
            <a:chOff x="741680" y="2412165"/>
            <a:chExt cx="3159760" cy="1359079"/>
          </a:xfrm>
        </p:grpSpPr>
        <p:sp>
          <p:nvSpPr>
            <p:cNvPr id="55" name="모서리가 둥근 직사각형 54"/>
            <p:cNvSpPr/>
            <p:nvPr/>
          </p:nvSpPr>
          <p:spPr>
            <a:xfrm>
              <a:off x="741680" y="2412165"/>
              <a:ext cx="3159760" cy="1359079"/>
            </a:xfrm>
            <a:prstGeom prst="roundRect">
              <a:avLst>
                <a:gd name="adj" fmla="val 12182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연결선 55"/>
            <p:cNvCxnSpPr/>
            <p:nvPr/>
          </p:nvCxnSpPr>
          <p:spPr>
            <a:xfrm>
              <a:off x="779985" y="2474892"/>
              <a:ext cx="3019855" cy="12736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 flipV="1">
              <a:off x="863600" y="2452142"/>
              <a:ext cx="2936240" cy="12963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>
          <a:xfrm>
            <a:off x="4246121" y="3382398"/>
            <a:ext cx="18806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  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진단을 시작합니다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4284322" y="3345470"/>
            <a:ext cx="483987" cy="284978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60" name="직사각형 59"/>
          <p:cNvSpPr/>
          <p:nvPr/>
        </p:nvSpPr>
        <p:spPr>
          <a:xfrm>
            <a:off x="521800" y="5695537"/>
            <a:ext cx="2728623" cy="2949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우측 연결 →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798049" y="5695537"/>
            <a:ext cx="2728623" cy="2949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다음장</a:t>
            </a:r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연결 ↓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15493" y="107994"/>
            <a:ext cx="20281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자가진단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AI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진단으로 알아보기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팝업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82912" y="707099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3" name="그룹 42"/>
          <p:cNvGrpSpPr/>
          <p:nvPr/>
        </p:nvGrpSpPr>
        <p:grpSpPr>
          <a:xfrm>
            <a:off x="358191" y="1553041"/>
            <a:ext cx="352821" cy="230832"/>
            <a:chOff x="9984557" y="3090201"/>
            <a:chExt cx="352821" cy="230832"/>
          </a:xfrm>
        </p:grpSpPr>
        <p:sp>
          <p:nvSpPr>
            <p:cNvPr id="44" name="직사각형 43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3658272" y="67709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3896642" y="3245330"/>
            <a:ext cx="368851" cy="230832"/>
            <a:chOff x="9984557" y="3090201"/>
            <a:chExt cx="368851" cy="230832"/>
          </a:xfrm>
        </p:grpSpPr>
        <p:sp>
          <p:nvSpPr>
            <p:cNvPr id="65" name="직사각형 64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</a:t>
              </a:r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484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7778" y="114090"/>
            <a:ext cx="12763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493" y="107994"/>
            <a:ext cx="17027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알아보기 팝업 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진단시작하기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931" y="686358"/>
            <a:ext cx="2503867" cy="270579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070" y="686358"/>
            <a:ext cx="2479268" cy="2725862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19" y="3921200"/>
            <a:ext cx="2533048" cy="281603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4931" y="3921200"/>
            <a:ext cx="2453814" cy="27878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791" y="686358"/>
            <a:ext cx="2503867" cy="275768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109" y="3921200"/>
            <a:ext cx="2547956" cy="2782728"/>
          </a:xfrm>
          <a:prstGeom prst="rect">
            <a:avLst/>
          </a:prstGeom>
        </p:spPr>
      </p:pic>
      <p:cxnSp>
        <p:nvCxnSpPr>
          <p:cNvPr id="12" name="직선 화살표 연결선 11"/>
          <p:cNvCxnSpPr/>
          <p:nvPr/>
        </p:nvCxnSpPr>
        <p:spPr>
          <a:xfrm>
            <a:off x="629920" y="558800"/>
            <a:ext cx="8175145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629920" y="3688080"/>
            <a:ext cx="8175145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613" y="465986"/>
            <a:ext cx="102616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팝업 진행 순서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760210" y="412801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4752855" y="412801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745500" y="412801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1801511" y="3571598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4674438" y="3556000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7547365" y="3540402"/>
            <a:ext cx="262800" cy="26416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72043"/>
              </p:ext>
            </p:extLst>
          </p:nvPr>
        </p:nvGraphicFramePr>
        <p:xfrm>
          <a:off x="9303719" y="412801"/>
          <a:ext cx="2769668" cy="489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팝업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[AI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진단 시작하기 팝업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팝업 진행순서대로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 검사 진행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(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장표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유입은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P4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장의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유형 中 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AI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정책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유형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AI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자가진단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채무금액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월소득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본인명의 부동산 유무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부양가족 유무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통과되면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유입되며 </a:t>
                      </a:r>
                      <a:endParaRPr lang="en-US" altLang="ko-KR" sz="900" b="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완료팝업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(P38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 항목에서 선택 또는 입력 데이터 없이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무료상담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신청버튼을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누를 경우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얼랏문구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이름을 입력해 주세요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377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730744"/>
              </p:ext>
            </p:extLst>
          </p:nvPr>
        </p:nvGraphicFramePr>
        <p:xfrm>
          <a:off x="9303719" y="412801"/>
          <a:ext cx="2769668" cy="4454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성공사례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신청현황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성공사례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우측에서 좌측으로 롤링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롤링속도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3~5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데이터는 별도 문서로 전달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성공사레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종류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디폴트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 데이터 노출 기준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개인파산 사례가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한개씩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교차하여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개인파산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사례만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신청현황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더미데이터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PC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와 동일한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더미데이터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사용 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(P15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참고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1~2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초 단위로 최근 데이터가 아래로 내려가면서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변경되는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인터럭션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인터럭션은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참고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URL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확인해 주세요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.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아래로 내려갈수록 점점 흐려지는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그라데이션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&lt;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URL&gt;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hlinkClick r:id="rId2"/>
                        </a:rPr>
                        <a:t>https://m.goodrichmall.com/MOBILE/mobile_main/view_html_f/insur_analysis_new?no=1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10390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성공사례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신청현황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19836" y="859382"/>
            <a:ext cx="2734491" cy="44658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564086" y="898846"/>
            <a:ext cx="2734491" cy="445151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97531" y="1277206"/>
            <a:ext cx="18325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개인회생ㆍ파산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탕감 성공사례</a:t>
            </a:r>
            <a:endParaRPr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7531" y="1015596"/>
            <a:ext cx="21932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10,386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건의 노하우가 보여주는 결과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033447" y="1669198"/>
            <a:ext cx="471033" cy="230832"/>
            <a:chOff x="546237" y="1378996"/>
            <a:chExt cx="471033" cy="230832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546237" y="1380023"/>
              <a:ext cx="471033" cy="21257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5032" y="1378996"/>
              <a:ext cx="38343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50" b="1" dirty="0" smtClean="0">
                  <a:solidFill>
                    <a:schemeClr val="bg1">
                      <a:lumMod val="9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전체</a:t>
              </a:r>
              <a:endParaRPr lang="ko-KR" altLang="en-US" sz="850" b="1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592086" y="1664319"/>
            <a:ext cx="680132" cy="230832"/>
            <a:chOff x="1104876" y="1374117"/>
            <a:chExt cx="680132" cy="230832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1104876" y="1380023"/>
              <a:ext cx="646774" cy="21257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05015" y="1374117"/>
              <a:ext cx="67999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5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# </a:t>
              </a:r>
              <a:r>
                <a:rPr lang="ko-KR" altLang="en-US" sz="85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개인회생</a:t>
              </a:r>
              <a:endParaRPr lang="ko-KR" altLang="en-US" sz="85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292175" y="1664942"/>
            <a:ext cx="655949" cy="223138"/>
            <a:chOff x="1804965" y="1374740"/>
            <a:chExt cx="655949" cy="223138"/>
          </a:xfrm>
        </p:grpSpPr>
        <p:sp>
          <p:nvSpPr>
            <p:cNvPr id="17" name="모서리가 둥근 직사각형 16"/>
            <p:cNvSpPr/>
            <p:nvPr/>
          </p:nvSpPr>
          <p:spPr>
            <a:xfrm>
              <a:off x="1812523" y="1380023"/>
              <a:ext cx="646774" cy="21257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04965" y="1374740"/>
              <a:ext cx="655949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5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# </a:t>
              </a:r>
              <a:r>
                <a:rPr lang="ko-KR" altLang="en-US" sz="850" dirty="0" smtClean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개인파산</a:t>
              </a:r>
              <a:endParaRPr lang="ko-KR" altLang="en-US" sz="85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1" name="모서리가 둥근 직사각형 20"/>
          <p:cNvSpPr/>
          <p:nvPr/>
        </p:nvSpPr>
        <p:spPr>
          <a:xfrm>
            <a:off x="1033447" y="2110372"/>
            <a:ext cx="2199128" cy="2390005"/>
          </a:xfrm>
          <a:prstGeom prst="roundRect">
            <a:avLst>
              <a:gd name="adj" fmla="val 4557"/>
            </a:avLst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양쪽 모서리가 둥근 사각형 21"/>
          <p:cNvSpPr/>
          <p:nvPr/>
        </p:nvSpPr>
        <p:spPr>
          <a:xfrm rot="16200000">
            <a:off x="2284175" y="3230225"/>
            <a:ext cx="2390007" cy="1502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198765" y="2036057"/>
            <a:ext cx="432000" cy="43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rcRect l="62140" t="14060" r="6583" b="175"/>
          <a:stretch/>
        </p:blipFill>
        <p:spPr>
          <a:xfrm>
            <a:off x="1290515" y="2080018"/>
            <a:ext cx="248500" cy="3440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37377" y="2544155"/>
            <a:ext cx="12987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   </a:t>
            </a:r>
            <a:r>
              <a:rPr lang="en-US" altLang="ko-K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|   96% </a:t>
            </a:r>
            <a:r>
              <a:rPr lang="ko-KR" altLang="en-US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</a:t>
            </a:r>
            <a:endParaRPr lang="ko-KR" altLang="en-US" sz="9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2187081" y="2497902"/>
            <a:ext cx="649048" cy="268463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128316" y="2863982"/>
            <a:ext cx="11400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주부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여성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50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김 </a:t>
            </a:r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OO 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</a:t>
            </a:r>
            <a:endParaRPr lang="en-US" altLang="ko-KR" sz="700" dirty="0" smtClean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05766" y="2970220"/>
            <a:ext cx="1669047" cy="27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</a:t>
            </a:r>
            <a:r>
              <a:rPr lang="ko-KR" altLang="en-US" sz="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채무액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162,678,791</a:t>
            </a:r>
            <a:r>
              <a:rPr lang="ko-KR" altLang="en-US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탕감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169389" y="3274379"/>
            <a:ext cx="1936611" cy="1096876"/>
          </a:xfrm>
          <a:prstGeom prst="roundRect">
            <a:avLst>
              <a:gd name="adj" fmla="val 856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183784" y="3403768"/>
            <a:ext cx="61427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</a:t>
            </a:r>
            <a:r>
              <a:rPr lang="ko-KR" altLang="en-US" sz="700" dirty="0" err="1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채무액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700" dirty="0" smtClean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 후 원금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52710" y="3403768"/>
            <a:ext cx="7793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168,770,819 </a:t>
            </a:r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45987" y="3560056"/>
            <a:ext cx="8947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6,092,028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5" name="직선 연결선 34"/>
          <p:cNvCxnSpPr>
            <a:stCxn id="33" idx="1"/>
            <a:endCxn id="33" idx="1"/>
          </p:cNvCxnSpPr>
          <p:nvPr/>
        </p:nvCxnSpPr>
        <p:spPr>
          <a:xfrm>
            <a:off x="2252710" y="350379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/>
          <p:cNvGrpSpPr/>
          <p:nvPr/>
        </p:nvGrpSpPr>
        <p:grpSpPr>
          <a:xfrm>
            <a:off x="2244016" y="3507401"/>
            <a:ext cx="729663" cy="96421"/>
            <a:chOff x="1882643" y="5039196"/>
            <a:chExt cx="900000" cy="85254"/>
          </a:xfrm>
        </p:grpSpPr>
        <p:cxnSp>
          <p:nvCxnSpPr>
            <p:cNvPr id="40" name="직선 연결선 39"/>
            <p:cNvCxnSpPr/>
            <p:nvPr/>
          </p:nvCxnSpPr>
          <p:spPr>
            <a:xfrm flipH="1" flipV="1">
              <a:off x="1882643" y="5039196"/>
              <a:ext cx="900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/>
            <p:nvPr/>
          </p:nvCxnSpPr>
          <p:spPr>
            <a:xfrm>
              <a:off x="1886981" y="5039196"/>
              <a:ext cx="71366" cy="85254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직선 연결선 36"/>
          <p:cNvCxnSpPr/>
          <p:nvPr/>
        </p:nvCxnSpPr>
        <p:spPr>
          <a:xfrm flipV="1">
            <a:off x="1245987" y="3894319"/>
            <a:ext cx="180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122868" y="3899277"/>
            <a:ext cx="909223" cy="27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160,000 </a:t>
            </a:r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  <a:endParaRPr lang="en-US" altLang="ko-KR" sz="9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83784" y="3979420"/>
            <a:ext cx="51488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 </a:t>
            </a:r>
            <a:r>
              <a:rPr lang="ko-KR" altLang="en-US" sz="700" dirty="0" err="1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변제액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621628" y="1301423"/>
            <a:ext cx="1588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고객님이 신청하고 있어요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9805" y="1040766"/>
            <a:ext cx="37792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지금 실시간으로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4709575" y="1816480"/>
            <a:ext cx="752752" cy="27941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전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65562" y="1853607"/>
            <a:ext cx="17411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</a:t>
            </a:r>
            <a:r>
              <a:rPr lang="ko-KR" alt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900" dirty="0" smtClean="0">
              <a:solidFill>
                <a:schemeClr val="tx1">
                  <a:lumMod val="95000"/>
                  <a:lumOff val="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4709575" y="2276607"/>
            <a:ext cx="752752" cy="27941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</a:t>
            </a:r>
            <a:r>
              <a:rPr lang="ko-KR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전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65562" y="2311764"/>
            <a:ext cx="1739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709575" y="2736734"/>
            <a:ext cx="752752" cy="27941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25</a:t>
            </a:r>
            <a:r>
              <a:rPr lang="ko-KR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전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65562" y="2769922"/>
            <a:ext cx="1742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45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90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4709575" y="3196861"/>
            <a:ext cx="752752" cy="27941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전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65562" y="3212779"/>
            <a:ext cx="1742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36</a:t>
            </a:r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900" dirty="0" smtClean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4709575" y="3656988"/>
            <a:ext cx="752752" cy="27941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전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65562" y="3712217"/>
            <a:ext cx="1739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29</a:t>
            </a:r>
            <a:r>
              <a:rPr lang="ko-KR" altLang="en-US" sz="9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9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9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9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900" dirty="0" smtClean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4703987" y="4076555"/>
            <a:ext cx="752752" cy="27941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23</a:t>
            </a:r>
            <a:r>
              <a:rPr lang="ko-KR" altLang="en-US" sz="900" dirty="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전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465562" y="4125137"/>
            <a:ext cx="1739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dirty="0" smtClean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32</a:t>
            </a:r>
            <a:r>
              <a:rPr lang="ko-KR" altLang="en-US" sz="900" dirty="0" smtClean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김</a:t>
            </a:r>
            <a:r>
              <a:rPr lang="en-US" altLang="ko-KR" sz="900" dirty="0" smtClean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900" dirty="0" smtClean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님이 상담신청 했습니다</a:t>
            </a:r>
            <a:r>
              <a:rPr lang="en-US" altLang="ko-KR" sz="900" dirty="0" smtClean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900" dirty="0" smtClean="0">
              <a:solidFill>
                <a:schemeClr val="bg1">
                  <a:lumMod val="8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08969" y="691457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501654" y="1622775"/>
            <a:ext cx="352821" cy="230832"/>
            <a:chOff x="9984557" y="3090201"/>
            <a:chExt cx="352821" cy="230832"/>
          </a:xfrm>
        </p:grpSpPr>
        <p:sp>
          <p:nvSpPr>
            <p:cNvPr id="62" name="직사각형 61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4" name="직사각형 63"/>
          <p:cNvSpPr/>
          <p:nvPr/>
        </p:nvSpPr>
        <p:spPr>
          <a:xfrm>
            <a:off x="4100518" y="894474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>
            <a:off x="7758260" y="1816480"/>
            <a:ext cx="0" cy="294405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474484" y="1530290"/>
            <a:ext cx="138111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롤링방향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591" y="4934916"/>
            <a:ext cx="1865831" cy="153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30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652169"/>
              </p:ext>
            </p:extLst>
          </p:nvPr>
        </p:nvGraphicFramePr>
        <p:xfrm>
          <a:off x="9303719" y="412801"/>
          <a:ext cx="2769668" cy="3672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대표변호사 소개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대표변호사 소개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변호사 사진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전문분야 증서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변호사 사진과 전문분야 증서를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롤링하여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마우스 올리면 롤링 중지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1-2.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펼치기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접기 버튼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상태가 디폴트 상태이며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펼치기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화면 아래로 열리며 학력 및 경력사항 모두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학력 및 경력 펼친 상태 참고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접기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디폴트 상태로 변경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9092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대표변호사 소개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30926" y="583474"/>
            <a:ext cx="2734491" cy="58751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602161" y="565063"/>
            <a:ext cx="2734491" cy="34790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48787" y="900050"/>
            <a:ext cx="21082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개인회생ㆍ파산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전문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황선택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변호사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209" y="693722"/>
            <a:ext cx="37792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대표변호사 소개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525454" y="1332333"/>
            <a:ext cx="2368217" cy="1804188"/>
            <a:chOff x="545579" y="1771064"/>
            <a:chExt cx="3352483" cy="4277360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연결선 13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933209" y="2749559"/>
            <a:ext cx="9717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황선택</a:t>
            </a:r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7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대표변호사</a:t>
            </a:r>
            <a:r>
              <a:rPr lang="ko-KR" altLang="en-US" sz="7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7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7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도산전문</a:t>
            </a:r>
            <a:endParaRPr lang="ko-KR" altLang="en-US" sz="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1364952" y="3261084"/>
            <a:ext cx="634926" cy="9222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2047575" y="3261084"/>
            <a:ext cx="246058" cy="9222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60131" y="3554674"/>
            <a:ext cx="238109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채무에 관련에 된 다양한 문제에 대하여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최선의 해결책을 제시하고 채무 탕감 소송의 경험이 풍부합니다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0131" y="4244725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학력 및 경력</a:t>
            </a:r>
            <a:endParaRPr lang="ko-KR" altLang="en-US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0131" y="4496676"/>
            <a:ext cx="165301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성균관대학교 경상대학 졸업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원광대학교 법학전문대학원 졸업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세무사자격증 보유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에이스법률사무소 대표변호사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법무법인 밝음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법무법인 </a:t>
            </a:r>
            <a:r>
              <a:rPr lang="ko-KR" altLang="en-US" sz="8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창비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황선택변호사 사무소</a:t>
            </a:r>
            <a:endParaRPr lang="en-US" altLang="ko-KR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86572" y="2320415"/>
            <a:ext cx="2283067" cy="1363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화성시의회 법률고문변호사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화성시의회 윤리심사자문위원회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한국무선인터넷솔루션협회 비즈니스자문단 전문위원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영동로구청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지방세심의위원회 </a:t>
            </a:r>
            <a:r>
              <a:rPr lang="ko-KR" altLang="en-US" sz="8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심의의원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883981" y="6016404"/>
            <a:ext cx="1528622" cy="210644"/>
          </a:xfrm>
          <a:prstGeom prst="roundRect">
            <a:avLst>
              <a:gd name="adj" fmla="val 40923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펼치기  ↓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71187" y="752713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학력 및 경력</a:t>
            </a:r>
            <a:endParaRPr lang="ko-KR" altLang="en-US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71187" y="1004664"/>
            <a:ext cx="165301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성균관대학교 경상대학 졸업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원광대학교 법학전문대학원 졸업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세무사자격증 보유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에이스법률사무소 대표변호사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법무법인 밝음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법무법인 </a:t>
            </a:r>
            <a:r>
              <a:rPr lang="ko-KR" altLang="en-US" sz="8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창비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황선택변호사 사무소</a:t>
            </a:r>
            <a:endParaRPr lang="en-US" altLang="ko-KR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4039236" y="3430941"/>
            <a:ext cx="1528622" cy="210644"/>
          </a:xfrm>
          <a:prstGeom prst="roundRect">
            <a:avLst>
              <a:gd name="adj" fmla="val 40923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접기  ↑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87778" y="6515676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디폴트</a:t>
            </a:r>
            <a:endParaRPr lang="ko-KR" altLang="en-US" sz="1000" b="1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35070" y="4111838"/>
            <a:ext cx="1755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</a:t>
            </a:r>
            <a:r>
              <a:rPr lang="en-US" altLang="ko-KR" sz="1000" b="1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000" b="1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학력 및 경력 펼친 상태</a:t>
            </a:r>
            <a:endParaRPr lang="ko-KR" altLang="en-US" sz="1000" b="1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rcRect t="608"/>
          <a:stretch/>
        </p:blipFill>
        <p:spPr>
          <a:xfrm>
            <a:off x="9493354" y="4062505"/>
            <a:ext cx="1715137" cy="245496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9493354" y="6392565"/>
            <a:ext cx="2390398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사진 ↔ 전문분야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등록증서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번갈아가며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롤링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22734" y="472487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913589" y="3155576"/>
            <a:ext cx="352821" cy="230832"/>
            <a:chOff x="9984557" y="3090201"/>
            <a:chExt cx="352821" cy="230832"/>
          </a:xfrm>
        </p:grpSpPr>
        <p:sp>
          <p:nvSpPr>
            <p:cNvPr id="36" name="직사각형 35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2538915" y="5995859"/>
            <a:ext cx="368851" cy="230832"/>
            <a:chOff x="9984557" y="3090201"/>
            <a:chExt cx="368851" cy="230832"/>
          </a:xfrm>
        </p:grpSpPr>
        <p:sp>
          <p:nvSpPr>
            <p:cNvPr id="39" name="직사각형 38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1-2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5685199" y="3420847"/>
            <a:ext cx="368851" cy="230832"/>
            <a:chOff x="9984557" y="3090201"/>
            <a:chExt cx="368851" cy="230832"/>
          </a:xfrm>
        </p:grpSpPr>
        <p:sp>
          <p:nvSpPr>
            <p:cNvPr id="42" name="직사각형 41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1-2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334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003420"/>
              </p:ext>
            </p:extLst>
          </p:nvPr>
        </p:nvGraphicFramePr>
        <p:xfrm>
          <a:off x="9303719" y="412801"/>
          <a:ext cx="2769668" cy="3610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5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특별한 서비스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특별한 서비스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해당영역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진입하면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가지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아래에서 위로 올라오는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적용하되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A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처럼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개씩 묶어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메인배너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바로 아래 배너의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2"/>
                        </a:rPr>
                        <a:t>https://www.lguplus.com/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8098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특별한 서비스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97186" y="667357"/>
            <a:ext cx="2734491" cy="46260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71815" y="1039961"/>
            <a:ext cx="24753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법률사무소의 특별한 서비스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4639" y="809826"/>
            <a:ext cx="37792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쉽다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 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빠르다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 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안전하다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449580" y="1476168"/>
            <a:ext cx="1148420" cy="743300"/>
          </a:xfrm>
          <a:prstGeom prst="roundRect">
            <a:avLst>
              <a:gd name="adj" fmla="val 1372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40" name="그룹 39"/>
          <p:cNvGrpSpPr/>
          <p:nvPr/>
        </p:nvGrpSpPr>
        <p:grpSpPr>
          <a:xfrm>
            <a:off x="718866" y="1543832"/>
            <a:ext cx="617564" cy="323068"/>
            <a:chOff x="545579" y="1771064"/>
            <a:chExt cx="3352483" cy="4277360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cxnSp>
          <p:nvCxnSpPr>
            <p:cNvPr id="42" name="직선 연결선 41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692134" y="1935578"/>
            <a:ext cx="7666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비밀보장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1716700" y="1476167"/>
            <a:ext cx="1148420" cy="743300"/>
          </a:xfrm>
          <a:prstGeom prst="roundRect">
            <a:avLst>
              <a:gd name="adj" fmla="val 1372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88" name="그룹 87"/>
          <p:cNvGrpSpPr/>
          <p:nvPr/>
        </p:nvGrpSpPr>
        <p:grpSpPr>
          <a:xfrm>
            <a:off x="2001478" y="1553330"/>
            <a:ext cx="617564" cy="323068"/>
            <a:chOff x="545579" y="1771064"/>
            <a:chExt cx="3352483" cy="4277360"/>
          </a:xfrm>
        </p:grpSpPr>
        <p:sp>
          <p:nvSpPr>
            <p:cNvPr id="89" name="모서리가 둥근 직사각형 88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cxnSp>
          <p:nvCxnSpPr>
            <p:cNvPr id="90" name="직선 연결선 89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1892554" y="1935578"/>
            <a:ext cx="1007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채권추심관리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모서리가 둥근 직사각형 92"/>
          <p:cNvSpPr/>
          <p:nvPr/>
        </p:nvSpPr>
        <p:spPr>
          <a:xfrm>
            <a:off x="449580" y="2288615"/>
            <a:ext cx="1148420" cy="743300"/>
          </a:xfrm>
          <a:prstGeom prst="roundRect">
            <a:avLst>
              <a:gd name="adj" fmla="val 1372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94" name="그룹 93"/>
          <p:cNvGrpSpPr/>
          <p:nvPr/>
        </p:nvGrpSpPr>
        <p:grpSpPr>
          <a:xfrm>
            <a:off x="718866" y="2356279"/>
            <a:ext cx="617564" cy="323068"/>
            <a:chOff x="545579" y="1771064"/>
            <a:chExt cx="3352483" cy="4277360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cxnSp>
          <p:nvCxnSpPr>
            <p:cNvPr id="96" name="직선 연결선 95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모서리가 둥근 직사각형 98"/>
          <p:cNvSpPr/>
          <p:nvPr/>
        </p:nvSpPr>
        <p:spPr>
          <a:xfrm>
            <a:off x="1716700" y="2288614"/>
            <a:ext cx="1148420" cy="743300"/>
          </a:xfrm>
          <a:prstGeom prst="roundRect">
            <a:avLst>
              <a:gd name="adj" fmla="val 1372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100" name="그룹 99"/>
          <p:cNvGrpSpPr/>
          <p:nvPr/>
        </p:nvGrpSpPr>
        <p:grpSpPr>
          <a:xfrm>
            <a:off x="2001478" y="2365777"/>
            <a:ext cx="617564" cy="323068"/>
            <a:chOff x="545579" y="1771064"/>
            <a:chExt cx="3352483" cy="4277360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cxnSp>
          <p:nvCxnSpPr>
            <p:cNvPr id="102" name="직선 연결선 101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모서리가 둥근 직사각형 104"/>
          <p:cNvSpPr/>
          <p:nvPr/>
        </p:nvSpPr>
        <p:spPr>
          <a:xfrm>
            <a:off x="449580" y="3101062"/>
            <a:ext cx="1148420" cy="743300"/>
          </a:xfrm>
          <a:prstGeom prst="roundRect">
            <a:avLst>
              <a:gd name="adj" fmla="val 1372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106" name="그룹 105"/>
          <p:cNvGrpSpPr/>
          <p:nvPr/>
        </p:nvGrpSpPr>
        <p:grpSpPr>
          <a:xfrm>
            <a:off x="718866" y="3168726"/>
            <a:ext cx="617564" cy="323068"/>
            <a:chOff x="545579" y="1771064"/>
            <a:chExt cx="3352483" cy="4277360"/>
          </a:xfrm>
        </p:grpSpPr>
        <p:sp>
          <p:nvSpPr>
            <p:cNvPr id="107" name="모서리가 둥근 직사각형 106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cxnSp>
          <p:nvCxnSpPr>
            <p:cNvPr id="108" name="직선 연결선 107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모서리가 둥근 직사각형 110"/>
          <p:cNvSpPr/>
          <p:nvPr/>
        </p:nvSpPr>
        <p:spPr>
          <a:xfrm>
            <a:off x="1716700" y="3101061"/>
            <a:ext cx="1148420" cy="743300"/>
          </a:xfrm>
          <a:prstGeom prst="roundRect">
            <a:avLst>
              <a:gd name="adj" fmla="val 1372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112" name="그룹 111"/>
          <p:cNvGrpSpPr/>
          <p:nvPr/>
        </p:nvGrpSpPr>
        <p:grpSpPr>
          <a:xfrm>
            <a:off x="2001478" y="3178224"/>
            <a:ext cx="617564" cy="323068"/>
            <a:chOff x="545579" y="1771064"/>
            <a:chExt cx="3352483" cy="4277360"/>
          </a:xfrm>
        </p:grpSpPr>
        <p:sp>
          <p:nvSpPr>
            <p:cNvPr id="113" name="모서리가 둥근 직사각형 112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cxnSp>
          <p:nvCxnSpPr>
            <p:cNvPr id="114" name="직선 연결선 113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모서리가 둥근 직사각형 116"/>
          <p:cNvSpPr/>
          <p:nvPr/>
        </p:nvSpPr>
        <p:spPr>
          <a:xfrm>
            <a:off x="449580" y="3913509"/>
            <a:ext cx="1148420" cy="743300"/>
          </a:xfrm>
          <a:prstGeom prst="roundRect">
            <a:avLst>
              <a:gd name="adj" fmla="val 1372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118" name="그룹 117"/>
          <p:cNvGrpSpPr/>
          <p:nvPr/>
        </p:nvGrpSpPr>
        <p:grpSpPr>
          <a:xfrm>
            <a:off x="718866" y="3981173"/>
            <a:ext cx="617564" cy="323068"/>
            <a:chOff x="545579" y="1771064"/>
            <a:chExt cx="3352483" cy="4277360"/>
          </a:xfrm>
        </p:grpSpPr>
        <p:sp>
          <p:nvSpPr>
            <p:cNvPr id="119" name="모서리가 둥근 직사각형 118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cxnSp>
          <p:nvCxnSpPr>
            <p:cNvPr id="120" name="직선 연결선 119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모서리가 둥근 직사각형 122"/>
          <p:cNvSpPr/>
          <p:nvPr/>
        </p:nvSpPr>
        <p:spPr>
          <a:xfrm>
            <a:off x="1716700" y="3913508"/>
            <a:ext cx="1148420" cy="743300"/>
          </a:xfrm>
          <a:prstGeom prst="roundRect">
            <a:avLst>
              <a:gd name="adj" fmla="val 13724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grpSp>
        <p:nvGrpSpPr>
          <p:cNvPr id="124" name="그룹 123"/>
          <p:cNvGrpSpPr/>
          <p:nvPr/>
        </p:nvGrpSpPr>
        <p:grpSpPr>
          <a:xfrm>
            <a:off x="2001478" y="3990671"/>
            <a:ext cx="617564" cy="323068"/>
            <a:chOff x="545579" y="1771064"/>
            <a:chExt cx="3352483" cy="4277360"/>
          </a:xfrm>
        </p:grpSpPr>
        <p:sp>
          <p:nvSpPr>
            <p:cNvPr id="125" name="모서리가 둥근 직사각형 124"/>
            <p:cNvSpPr/>
            <p:nvPr/>
          </p:nvSpPr>
          <p:spPr>
            <a:xfrm>
              <a:off x="545579" y="1771064"/>
              <a:ext cx="3352483" cy="4277360"/>
            </a:xfrm>
            <a:prstGeom prst="roundRect">
              <a:avLst>
                <a:gd name="adj" fmla="val 5757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cxnSp>
          <p:nvCxnSpPr>
            <p:cNvPr id="126" name="직선 연결선 125"/>
            <p:cNvCxnSpPr/>
            <p:nvPr/>
          </p:nvCxnSpPr>
          <p:spPr>
            <a:xfrm>
              <a:off x="650557" y="1771064"/>
              <a:ext cx="3017203" cy="427736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 flipH="1">
              <a:off x="577102" y="1841837"/>
              <a:ext cx="3212578" cy="407128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614534" y="2742952"/>
            <a:ext cx="1150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서류발급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대행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2134" y="3549238"/>
            <a:ext cx="7666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무료상담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81664" y="3532165"/>
            <a:ext cx="14280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기각시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100%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환불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92134" y="4366491"/>
            <a:ext cx="1150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수임료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분남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36784" y="2734267"/>
            <a:ext cx="1150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빠른사건접수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770257" y="4377524"/>
            <a:ext cx="14394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분야별 전문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관리단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22785" y="726431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176220" y="1511149"/>
            <a:ext cx="352821" cy="230832"/>
            <a:chOff x="9984557" y="3090201"/>
            <a:chExt cx="352821" cy="230832"/>
          </a:xfrm>
        </p:grpSpPr>
        <p:sp>
          <p:nvSpPr>
            <p:cNvPr id="61" name="직사각형 60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336474" y="1386802"/>
            <a:ext cx="2808313" cy="888113"/>
          </a:xfrm>
          <a:prstGeom prst="rect">
            <a:avLst/>
          </a:prstGeom>
          <a:noFill/>
          <a:ln w="63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3093562" y="1785341"/>
            <a:ext cx="320511" cy="207389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9023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911504"/>
              </p:ext>
            </p:extLst>
          </p:nvPr>
        </p:nvGraphicFramePr>
        <p:xfrm>
          <a:off x="9303719" y="412801"/>
          <a:ext cx="2769668" cy="39501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703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자주하는 질문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자주하는 질문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디폴트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최상단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질문의 답변은 열린 상태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질문명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배너 클릭 시 아래로 답변 열림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→ 클릭 시 열리고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접힘 번갈아 가며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자주하는 질문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답변 포함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은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PC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동일라며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P18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질문 글자수 줄임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디폴트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20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자까지 전체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 넘어가면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…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줄임형태로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토출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마우스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오버시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 질문 노출되며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질문영역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세로영역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가변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8098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자주하는 질문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98020" y="596325"/>
            <a:ext cx="2734491" cy="388140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13721" y="735838"/>
            <a:ext cx="9476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자주하는 질문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32270" y="1149812"/>
            <a:ext cx="2503099" cy="355865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58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432269" y="1559156"/>
            <a:ext cx="2503099" cy="74756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32270" y="1196266"/>
            <a:ext cx="19191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아무도 모르게 비밀로 진행가능한가요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2268" y="1600614"/>
            <a:ext cx="2484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가능합니다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8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개인회상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파산 등의 도산 절차는 채무자 본인과 채권자 등 이해관계에 있을 때만 통지되며</a:t>
            </a:r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가족이나 지인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회사 등 제 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자에게는 비밀을 보장합니다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413717" y="2363336"/>
            <a:ext cx="2503099" cy="355865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58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413719" y="2775818"/>
            <a:ext cx="2503099" cy="355865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58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13718" y="3188300"/>
            <a:ext cx="2503099" cy="355865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58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413717" y="3600782"/>
            <a:ext cx="2503099" cy="355865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58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432268" y="2417546"/>
            <a:ext cx="20008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빚 독촉이 심한데 추심을 멈출 수 있나요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2268" y="2846043"/>
            <a:ext cx="22717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누구나 개인회생이나 파산을 신청할 수 있나요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3717" y="3239858"/>
            <a:ext cx="2079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과거에 개인회생이나 파산을 진행했는데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…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3717" y="3669508"/>
            <a:ext cx="1295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가족에게 피해는 없나요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3262651" y="3186315"/>
            <a:ext cx="2503099" cy="459558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58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갈매기형 수장 29"/>
          <p:cNvSpPr/>
          <p:nvPr/>
        </p:nvSpPr>
        <p:spPr>
          <a:xfrm rot="5400000">
            <a:off x="2740824" y="2498772"/>
            <a:ext cx="72500" cy="96308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갈매기형 수장 30"/>
          <p:cNvSpPr/>
          <p:nvPr/>
        </p:nvSpPr>
        <p:spPr>
          <a:xfrm rot="16200000">
            <a:off x="2732706" y="1274742"/>
            <a:ext cx="62014" cy="106301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갈매기형 수장 31"/>
          <p:cNvSpPr/>
          <p:nvPr/>
        </p:nvSpPr>
        <p:spPr>
          <a:xfrm rot="5400000">
            <a:off x="2735176" y="3335385"/>
            <a:ext cx="72500" cy="96308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갈매기형 수장 32"/>
          <p:cNvSpPr/>
          <p:nvPr/>
        </p:nvSpPr>
        <p:spPr>
          <a:xfrm rot="5400000">
            <a:off x="2739975" y="2912077"/>
            <a:ext cx="72500" cy="96308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갈매기형 수장 33"/>
          <p:cNvSpPr/>
          <p:nvPr/>
        </p:nvSpPr>
        <p:spPr>
          <a:xfrm rot="5400000">
            <a:off x="2722466" y="3766810"/>
            <a:ext cx="72500" cy="96308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07872" y="3239858"/>
            <a:ext cx="23013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과거에 개인회생이나 파산을 진행했는데 또 진행할 수 있나요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3231152" y="2306719"/>
            <a:ext cx="2503099" cy="355865"/>
          </a:xfrm>
          <a:prstGeom prst="roundRect">
            <a:avLst>
              <a:gd name="adj" fmla="val 16786"/>
            </a:avLst>
          </a:prstGeom>
          <a:solidFill>
            <a:schemeClr val="bg1"/>
          </a:solidFill>
          <a:ln w="158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3231151" y="2358277"/>
            <a:ext cx="2079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과거에 개인회생이나 파산을 진행했는데 </a:t>
            </a:r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…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갈매기형 수장 42"/>
          <p:cNvSpPr/>
          <p:nvPr/>
        </p:nvSpPr>
        <p:spPr>
          <a:xfrm rot="5400000">
            <a:off x="5552610" y="2453804"/>
            <a:ext cx="72500" cy="96308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922185" y="2722918"/>
            <a:ext cx="230138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디폴트 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(20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 넘어가면 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줄임형태로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변경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91148" y="3725815"/>
            <a:ext cx="361258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마우스 </a:t>
            </a:r>
            <a:r>
              <a:rPr lang="ko-KR" altLang="en-US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오버시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텍스트 노출 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텍스트 길이에 따라 세로 가변 </a:t>
            </a:r>
            <a:r>
              <a:rPr lang="en-US" altLang="ko-KR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endParaRPr lang="ko-KR" altLang="en-US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80010" y="53702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3246549" y="2123560"/>
            <a:ext cx="352821" cy="230832"/>
            <a:chOff x="9984557" y="3090201"/>
            <a:chExt cx="352821" cy="230832"/>
          </a:xfrm>
        </p:grpSpPr>
        <p:sp>
          <p:nvSpPr>
            <p:cNvPr id="37" name="직사각형 36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5954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15199"/>
              </p:ext>
            </p:extLst>
          </p:nvPr>
        </p:nvGraphicFramePr>
        <p:xfrm>
          <a:off x="9303719" y="412801"/>
          <a:ext cx="2769668" cy="6086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오시는길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오시는 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지도는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네이버지도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위치공유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1-3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위치공유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 뜸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1-2.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길찾기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길찾기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새창으로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열림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길찾기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은 좌측에 기재한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1-3.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위치공유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레이어 팝업으로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오시는길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텍스트박스에 자동 입력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인풋박스는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마우스로 직접 설정할 수 있도록 블록 잡으면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전체 다 노출되도록 처리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복사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복사됨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인풋박스를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통해서도 직접 복사 가능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취소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팝업 닫힘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오시는길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은 좌측에 기재한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띠배너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디자인시안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혹은 아래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참고하여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숫자가 돌아가는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PC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동일한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인터럭션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적용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</a:t>
                      </a:r>
                      <a:r>
                        <a:rPr lang="en-US" altLang="ko-KR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url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3"/>
                        </a:rPr>
                        <a:t>https://insurance.pay.naver.com/car?inflow=search</a:t>
                      </a:r>
                      <a:endParaRPr lang="en-US" altLang="ko-KR" sz="900" dirty="0" smtClean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9396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띠배너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64831" y="676784"/>
            <a:ext cx="2734491" cy="498872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47713" y="780212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 flipH="1">
            <a:off x="747713" y="1041822"/>
            <a:ext cx="273449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주소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서울특별시 서초구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사임당로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9,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층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명화빌딩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대표번호</a:t>
            </a:r>
            <a:endParaRPr lang="en-US" altLang="ko-KR" sz="9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071446" y="3373299"/>
            <a:ext cx="814828" cy="297296"/>
            <a:chOff x="3775463" y="1652510"/>
            <a:chExt cx="853029" cy="324174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3775463" y="1652510"/>
              <a:ext cx="853029" cy="324174"/>
            </a:xfrm>
            <a:prstGeom prst="roundRect">
              <a:avLst>
                <a:gd name="adj" fmla="val 39167"/>
              </a:avLst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9857" y="1715573"/>
              <a:ext cx="201154" cy="178803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 flipH="1">
              <a:off x="3949316" y="1699181"/>
              <a:ext cx="6358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 err="1" smtClean="0">
                  <a:solidFill>
                    <a:srgbClr val="232323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위치공유</a:t>
              </a:r>
              <a:endParaRPr lang="ko-KR" altLang="en-US" sz="900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74292" y="3373299"/>
            <a:ext cx="814828" cy="297296"/>
            <a:chOff x="1340239" y="1884968"/>
            <a:chExt cx="814828" cy="312132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1340239" y="1884968"/>
              <a:ext cx="814828" cy="312132"/>
            </a:xfrm>
            <a:prstGeom prst="roundRect">
              <a:avLst>
                <a:gd name="adj" fmla="val 39167"/>
              </a:avLst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 flipH="1">
              <a:off x="1535774" y="1916351"/>
              <a:ext cx="60741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 err="1" smtClean="0">
                  <a:solidFill>
                    <a:srgbClr val="232323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길찾기</a:t>
              </a:r>
              <a:endParaRPr lang="ko-KR" altLang="en-US" sz="900" dirty="0">
                <a:solidFill>
                  <a:srgbClr val="2323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05649" y="1957226"/>
              <a:ext cx="201984" cy="149083"/>
            </a:xfrm>
            <a:prstGeom prst="rect">
              <a:avLst/>
            </a:prstGeom>
          </p:spPr>
        </p:pic>
      </p:grp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6"/>
          <a:srcRect t="21282"/>
          <a:stretch/>
        </p:blipFill>
        <p:spPr>
          <a:xfrm>
            <a:off x="733059" y="1972614"/>
            <a:ext cx="2518640" cy="1267985"/>
          </a:xfrm>
          <a:prstGeom prst="rect">
            <a:avLst/>
          </a:prstGeom>
        </p:spPr>
      </p:pic>
      <p:sp>
        <p:nvSpPr>
          <p:cNvPr id="26" name="타원형 설명선 25"/>
          <p:cNvSpPr/>
          <p:nvPr/>
        </p:nvSpPr>
        <p:spPr>
          <a:xfrm rot="21277408">
            <a:off x="1721753" y="2304951"/>
            <a:ext cx="454584" cy="354278"/>
          </a:xfrm>
          <a:prstGeom prst="wedgeEllipseCallou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 flipH="1">
            <a:off x="1673635" y="2380214"/>
            <a:ext cx="12954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" b="1" dirty="0" smtClean="0">
                <a:solidFill>
                  <a:srgbClr val="FF6B4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400" b="1" dirty="0">
              <a:solidFill>
                <a:srgbClr val="FF6B4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 flipH="1">
            <a:off x="1673635" y="2480117"/>
            <a:ext cx="1627188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남부터미널역 </a:t>
            </a:r>
            <a:r>
              <a:rPr lang="en-US" altLang="ko-KR" sz="3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3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 출구</a:t>
            </a:r>
            <a:endParaRPr lang="ko-KR" altLang="en-US" sz="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54749" y="3951423"/>
            <a:ext cx="2744573" cy="88783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774145" y="4364852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개인회생ㆍ파산</a:t>
            </a:r>
            <a:endParaRPr lang="en-US" altLang="ko-KR" sz="8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누적 </a:t>
            </a:r>
            <a:r>
              <a:rPr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탕감액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02879" y="4418694"/>
            <a:ext cx="15969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ko-KR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754,000,000,000</a:t>
            </a:r>
            <a:r>
              <a:rPr lang="en-US" altLang="ko-KR" sz="11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1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  <a:endParaRPr lang="ko-KR" alt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827601" y="4055609"/>
            <a:ext cx="229928" cy="206738"/>
            <a:chOff x="5872480" y="2412165"/>
            <a:chExt cx="575310" cy="422910"/>
          </a:xfrm>
        </p:grpSpPr>
        <p:sp>
          <p:nvSpPr>
            <p:cNvPr id="35" name="모서리가 둥근 직사각형 34"/>
            <p:cNvSpPr/>
            <p:nvPr/>
          </p:nvSpPr>
          <p:spPr>
            <a:xfrm>
              <a:off x="5872480" y="2412165"/>
              <a:ext cx="575310" cy="42291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6" name="직선 연결선 35"/>
            <p:cNvCxnSpPr/>
            <p:nvPr/>
          </p:nvCxnSpPr>
          <p:spPr>
            <a:xfrm>
              <a:off x="5908040" y="2443480"/>
              <a:ext cx="513080" cy="36492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 flipV="1">
              <a:off x="5889625" y="2425500"/>
              <a:ext cx="541020" cy="39624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1071446" y="4059684"/>
            <a:ext cx="15007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비교불가  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| 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탕감률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96%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신화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40389" y="755532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1748724" y="4185103"/>
            <a:ext cx="368851" cy="230832"/>
            <a:chOff x="9984557" y="3090201"/>
            <a:chExt cx="368851" cy="230832"/>
          </a:xfrm>
        </p:grpSpPr>
        <p:sp>
          <p:nvSpPr>
            <p:cNvPr id="39" name="직사각형 38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417803" y="394926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3945540" y="1046248"/>
            <a:ext cx="2937080" cy="1367424"/>
            <a:chOff x="8784802" y="3123038"/>
            <a:chExt cx="2937080" cy="1367424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8784802" y="3123038"/>
              <a:ext cx="2937080" cy="1367424"/>
            </a:xfrm>
            <a:prstGeom prst="roundRect">
              <a:avLst>
                <a:gd name="adj" fmla="val 10709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902289" y="3179572"/>
              <a:ext cx="65594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오시는 길</a:t>
              </a:r>
              <a:endParaRPr lang="en-US" altLang="ko-KR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892264" y="3425793"/>
              <a:ext cx="16914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아래 보이는 링크를 복사해 주세요</a:t>
              </a:r>
              <a:endPara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8902289" y="3724368"/>
              <a:ext cx="2611224" cy="36339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924594" y="3780902"/>
              <a:ext cx="27972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4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https://map.naver.com/p/search/%</a:t>
              </a:r>
              <a:r>
                <a:rPr lang="en-US" altLang="ko-KR" sz="954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EC%84%</a:t>
              </a:r>
              <a:endParaRPr lang="ko-KR" altLang="en-US" sz="954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8" name="모서리가 둥근 직사각형 47"/>
            <p:cNvSpPr/>
            <p:nvPr/>
          </p:nvSpPr>
          <p:spPr>
            <a:xfrm>
              <a:off x="10308366" y="4176044"/>
              <a:ext cx="550774" cy="245097"/>
            </a:xfrm>
            <a:prstGeom prst="roundRect">
              <a:avLst>
                <a:gd name="adj" fmla="val 4359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10933754" y="4167561"/>
              <a:ext cx="550774" cy="245097"/>
            </a:xfrm>
            <a:prstGeom prst="roundRect">
              <a:avLst>
                <a:gd name="adj" fmla="val 4359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403255" y="4182387"/>
              <a:ext cx="3609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복사</a:t>
              </a:r>
              <a:endPara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1024792" y="4190870"/>
              <a:ext cx="3609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취소</a:t>
              </a:r>
              <a:endPara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997304" y="674400"/>
            <a:ext cx="10534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위치공유</a:t>
            </a: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팝업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730051" y="3384457"/>
            <a:ext cx="352821" cy="230832"/>
            <a:chOff x="9984557" y="3090201"/>
            <a:chExt cx="352821" cy="230832"/>
          </a:xfrm>
        </p:grpSpPr>
        <p:sp>
          <p:nvSpPr>
            <p:cNvPr id="54" name="직사각형 53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2825275" y="3370718"/>
            <a:ext cx="368851" cy="230832"/>
            <a:chOff x="9984557" y="3090201"/>
            <a:chExt cx="368851" cy="230832"/>
          </a:xfrm>
        </p:grpSpPr>
        <p:sp>
          <p:nvSpPr>
            <p:cNvPr id="57" name="직사각형 56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992412" y="309020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1-2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5229654" y="848006"/>
            <a:ext cx="372057" cy="230832"/>
            <a:chOff x="9984557" y="3090201"/>
            <a:chExt cx="372057" cy="230832"/>
          </a:xfrm>
        </p:grpSpPr>
        <p:sp>
          <p:nvSpPr>
            <p:cNvPr id="60" name="직사각형 59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992412" y="3090201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1-3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2" name="직사각형 61"/>
          <p:cNvSpPr/>
          <p:nvPr/>
        </p:nvSpPr>
        <p:spPr>
          <a:xfrm>
            <a:off x="3562091" y="3861880"/>
            <a:ext cx="5647036" cy="2888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3656071" y="4405281"/>
            <a:ext cx="5377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https://map.naver.com/p/search/%</a:t>
            </a:r>
            <a:r>
              <a:rPr lang="en-US" altLang="ko-KR" sz="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EC%84%9C%EC%9A%B8%ED%8A%B9%EB%B3%84%EC%8B%9C%20%EC%84%9C%EC%B4%88EA%B5%AC%20%EC%82%AC%EC%9E%84%EB%8B%B9%EB%A1%9C8%EA%B8%B8%209%2C%20%202%EC%B8%B5%20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(%EB%AA%85%ED%99%94%EB%B9%8C%EB%94%A9)/address/14139312.4602676,4507369.1271962,%EC%84%9C%EC%9A%B8%ED%8A%B9%EB%B3%84%EC%8B%9C%20%EC%84%9C%EC%B4%88%EA%B5%AC%20%EC%82%AC%EC%9E%84%EB%8B%B9%EB%A1%9C8%EA%B8%B8%209?c=15.00,0,0,0,dh&amp;isCorrectAnswer=true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656072" y="5682953"/>
            <a:ext cx="4472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https://map.naver.com/p/directions/-/14139312.4568167,4507369.1284588,%EC%84%9C%EC%9A%B8%ED%8A%B9%EB%B3%84%EC%8B%9C%20%EC%84%9C%EC%B4%88%EA%B5%AC%20%EC%82%AC%EC%9E%84%EB%8B%B9%EB%A1%9C8%EA%B8%B8%209%20%EB%AA%85%ED%99%94%EB%B9%8C%EB%94%A9,,ADDRESS_POI/-/transit?c=15.00,0,0,0,dh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656071" y="4159657"/>
            <a:ext cx="10877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오시는길</a:t>
            </a:r>
            <a:r>
              <a: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url</a:t>
            </a:r>
            <a:endParaRPr lang="ko-KR" altLang="en-US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656071" y="5517897"/>
            <a:ext cx="1488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길찾기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err="1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url</a:t>
            </a:r>
            <a:endParaRPr lang="ko-KR" altLang="en-US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623764" y="3759581"/>
            <a:ext cx="10877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</a:t>
            </a:r>
            <a:r>
              <a:rPr lang="ko-KR" altLang="en-US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</a:t>
            </a:r>
            <a:r>
              <a:rPr lang="en-US" altLang="ko-KR" sz="9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</a:t>
            </a:r>
            <a:endParaRPr lang="ko-KR" altLang="en-US" sz="9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0543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83241"/>
              </p:ext>
            </p:extLst>
          </p:nvPr>
        </p:nvGraphicFramePr>
        <p:xfrm>
          <a:off x="9303719" y="412801"/>
          <a:ext cx="2769668" cy="199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푸터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778" y="114090"/>
            <a:ext cx="1415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법률사무소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5493" y="107994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푸터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06623" y="620221"/>
            <a:ext cx="2734491" cy="469649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514243" y="636888"/>
            <a:ext cx="2726871" cy="292785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41630" y="1664392"/>
            <a:ext cx="2664475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에이스법률사무소</a:t>
            </a:r>
            <a:endParaRPr lang="en-US" altLang="ko-KR" sz="11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1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주소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서울특별시 서초구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사임당로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9,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층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명화빌딩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r>
              <a:rPr lang="ko-KR" altLang="en-US" sz="9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대표번호사</a:t>
            </a:r>
            <a:r>
              <a:rPr lang="ko-KR" altLang="en-US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황선택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대표번호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6623" y="723651"/>
            <a:ext cx="3212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</a:t>
            </a:r>
            <a:r>
              <a:rPr lang="ko-KR" altLang="en-US" sz="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ㆍ파산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전문 상담 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전국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24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가능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1555-1684</a:t>
            </a:r>
          </a:p>
        </p:txBody>
      </p:sp>
      <p:grpSp>
        <p:nvGrpSpPr>
          <p:cNvPr id="43" name="그룹 42"/>
          <p:cNvGrpSpPr/>
          <p:nvPr/>
        </p:nvGrpSpPr>
        <p:grpSpPr>
          <a:xfrm>
            <a:off x="591904" y="1104937"/>
            <a:ext cx="910642" cy="362860"/>
            <a:chOff x="2163930" y="3985525"/>
            <a:chExt cx="1247924" cy="700985"/>
          </a:xfrm>
        </p:grpSpPr>
        <p:grpSp>
          <p:nvGrpSpPr>
            <p:cNvPr id="44" name="그룹 43"/>
            <p:cNvGrpSpPr/>
            <p:nvPr/>
          </p:nvGrpSpPr>
          <p:grpSpPr>
            <a:xfrm>
              <a:off x="2163930" y="3985525"/>
              <a:ext cx="1247924" cy="700985"/>
              <a:chOff x="545579" y="1771064"/>
              <a:chExt cx="3352483" cy="4277360"/>
            </a:xfrm>
          </p:grpSpPr>
          <p:sp>
            <p:nvSpPr>
              <p:cNvPr id="46" name="모서리가 둥근 직사각형 45"/>
              <p:cNvSpPr/>
              <p:nvPr/>
            </p:nvSpPr>
            <p:spPr>
              <a:xfrm>
                <a:off x="545579" y="1771064"/>
                <a:ext cx="3352483" cy="4277360"/>
              </a:xfrm>
              <a:prstGeom prst="roundRect">
                <a:avLst>
                  <a:gd name="adj" fmla="val 5757"/>
                </a:avLst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7" name="직선 연결선 46"/>
              <p:cNvCxnSpPr/>
              <p:nvPr/>
            </p:nvCxnSpPr>
            <p:spPr>
              <a:xfrm>
                <a:off x="650557" y="1771064"/>
                <a:ext cx="3017203" cy="427736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>
              <a:xfrm flipH="1">
                <a:off x="577102" y="1841837"/>
                <a:ext cx="3212578" cy="4071283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/>
            <p:cNvSpPr txBox="1"/>
            <p:nvPr/>
          </p:nvSpPr>
          <p:spPr>
            <a:xfrm>
              <a:off x="2523954" y="4135673"/>
              <a:ext cx="481222" cy="277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logo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5" name="직사각형 54"/>
          <p:cNvSpPr/>
          <p:nvPr/>
        </p:nvSpPr>
        <p:spPr>
          <a:xfrm>
            <a:off x="524382" y="2510778"/>
            <a:ext cx="2681723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Copyright</a:t>
            </a:r>
            <a:r>
              <a:rPr lang="ko-KR" altLang="en-US" sz="7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75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ⓒ 에이스법률사무소 All </a:t>
            </a:r>
            <a:r>
              <a:rPr lang="ko-KR" altLang="en-US" sz="7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rights</a:t>
            </a:r>
            <a:r>
              <a:rPr lang="ko-KR" altLang="en-US" sz="7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7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reserved</a:t>
            </a:r>
            <a:endParaRPr lang="ko-KR" alt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80010" y="53702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9285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264160"/>
            <a:ext cx="12192000" cy="6858000"/>
          </a:xfrm>
          <a:prstGeom prst="rect">
            <a:avLst/>
          </a:prstGeom>
          <a:solidFill>
            <a:srgbClr val="0030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공통사용</a:t>
            </a:r>
            <a:endParaRPr lang="en-US" altLang="ko-KR" sz="25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9468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949453"/>
              </p:ext>
            </p:extLst>
          </p:nvPr>
        </p:nvGraphicFramePr>
        <p:xfrm>
          <a:off x="9303719" y="412801"/>
          <a:ext cx="2769668" cy="3945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 수집 및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활용동의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 수집 및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활용동의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팝업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유입된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정보는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년간 보관되며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이후 폐기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 버튼 클릭 시 팝업 닫힘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동의 체크박스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디폴트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체크상태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체크 해제 시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팝업 영역 안에서만 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딤처리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되며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 수집 및 이용에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동의하셔야만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신청하실 수 있습니다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15493" y="107994"/>
            <a:ext cx="15921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수집 및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활용동의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팝업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644381" y="814548"/>
            <a:ext cx="3780791" cy="4662020"/>
          </a:xfrm>
          <a:prstGeom prst="roundRect">
            <a:avLst>
              <a:gd name="adj" fmla="val 431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인정보</a:t>
            </a:r>
            <a:r>
              <a:rPr lang="ko-KR" altLang="en-US" dirty="0"/>
              <a:t> 수집</a:t>
            </a:r>
            <a:r>
              <a:rPr lang="en-US" altLang="ko-KR" dirty="0"/>
              <a:t>/</a:t>
            </a:r>
            <a:r>
              <a:rPr lang="ko-KR" altLang="en-US" dirty="0"/>
              <a:t>이용 목적 </a:t>
            </a:r>
            <a:r>
              <a:rPr lang="en-US" altLang="ko-KR" dirty="0"/>
              <a:t>: </a:t>
            </a:r>
            <a:r>
              <a:rPr lang="ko-KR" altLang="en-US" dirty="0"/>
              <a:t>문의에 대한 다양한 정보 제공</a:t>
            </a:r>
            <a:br>
              <a:rPr lang="ko-KR" altLang="en-US" dirty="0"/>
            </a:br>
            <a:r>
              <a:rPr lang="ko-KR" altLang="en-US" dirty="0"/>
              <a:t>○ 수집하는 개인정보의 항목 </a:t>
            </a:r>
            <a:r>
              <a:rPr lang="en-US" altLang="ko-KR" dirty="0"/>
              <a:t>: </a:t>
            </a:r>
            <a:r>
              <a:rPr lang="ko-KR" altLang="en-US" dirty="0"/>
              <a:t>성명</a:t>
            </a:r>
            <a:r>
              <a:rPr lang="en-US" altLang="ko-KR" dirty="0"/>
              <a:t>, </a:t>
            </a:r>
            <a:r>
              <a:rPr lang="ko-KR" altLang="en-US" dirty="0"/>
              <a:t>연락처</a:t>
            </a:r>
            <a:br>
              <a:rPr lang="ko-KR" altLang="en-US" dirty="0"/>
            </a:br>
            <a:r>
              <a:rPr lang="ko-KR" altLang="en-US" dirty="0"/>
              <a:t>   </a:t>
            </a:r>
            <a:r>
              <a:rPr lang="en-US" altLang="ko-KR" dirty="0"/>
              <a:t>※ </a:t>
            </a:r>
            <a:r>
              <a:rPr lang="ko-KR" altLang="en-US" dirty="0"/>
              <a:t>상담예약서비스 이용과정에서 아래와 같은 정보들이 생성되어 수집될 수 있습니다</a:t>
            </a:r>
            <a:r>
              <a:rPr lang="en-US" altLang="ko-KR" dirty="0"/>
              <a:t>.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   </a:t>
            </a:r>
            <a:r>
              <a:rPr lang="en-US" altLang="ko-KR" dirty="0"/>
              <a:t>- </a:t>
            </a:r>
            <a:r>
              <a:rPr lang="ko-KR" altLang="en-US" dirty="0"/>
              <a:t>서비스이용기록</a:t>
            </a:r>
            <a:r>
              <a:rPr lang="en-US" altLang="ko-KR" dirty="0"/>
              <a:t>, </a:t>
            </a:r>
            <a:r>
              <a:rPr lang="ko-KR" altLang="en-US" dirty="0" err="1"/>
              <a:t>접속로그</a:t>
            </a:r>
            <a:r>
              <a:rPr lang="en-US" altLang="ko-KR" dirty="0"/>
              <a:t>, </a:t>
            </a:r>
            <a:r>
              <a:rPr lang="ko-KR" altLang="en-US" dirty="0"/>
              <a:t>쿠키</a:t>
            </a:r>
            <a:r>
              <a:rPr lang="en-US" altLang="ko-KR" dirty="0"/>
              <a:t>, </a:t>
            </a:r>
            <a:r>
              <a:rPr lang="ko-KR" altLang="en-US" dirty="0"/>
              <a:t>접속</a:t>
            </a:r>
            <a:r>
              <a:rPr lang="en-US" altLang="ko-KR" dirty="0"/>
              <a:t>IP</a:t>
            </a:r>
            <a:r>
              <a:rPr lang="ko-KR" altLang="en-US" dirty="0"/>
              <a:t>정보</a:t>
            </a:r>
            <a:br>
              <a:rPr lang="ko-KR" altLang="en-US" dirty="0"/>
            </a:br>
            <a:r>
              <a:rPr lang="ko-KR" altLang="en-US" dirty="0"/>
              <a:t>○ 개인정보의 보유 및 이용기간</a:t>
            </a:r>
            <a:br>
              <a:rPr lang="ko-KR" altLang="en-US" dirty="0"/>
            </a:br>
            <a:r>
              <a:rPr lang="ko-KR" altLang="en-US" dirty="0"/>
              <a:t>   </a:t>
            </a:r>
            <a:r>
              <a:rPr lang="en-US" altLang="ko-KR" dirty="0"/>
              <a:t>- </a:t>
            </a:r>
            <a:r>
              <a:rPr lang="ko-KR" altLang="en-US" dirty="0"/>
              <a:t>보존기간은 </a:t>
            </a:r>
            <a:r>
              <a:rPr lang="en-US" altLang="ko-KR" dirty="0"/>
              <a:t>5</a:t>
            </a:r>
            <a:r>
              <a:rPr lang="ko-KR" altLang="en-US" dirty="0"/>
              <a:t>년이며</a:t>
            </a:r>
            <a:r>
              <a:rPr lang="en-US" altLang="ko-KR" dirty="0"/>
              <a:t>, </a:t>
            </a:r>
            <a:r>
              <a:rPr lang="ko-KR" altLang="en-US" dirty="0"/>
              <a:t>정보 제공자가 삭제를 요청할 경우 즉시 파기합니다</a:t>
            </a:r>
            <a:r>
              <a:rPr lang="en-US" altLang="ko-KR" dirty="0"/>
              <a:t>.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   </a:t>
            </a:r>
            <a:r>
              <a:rPr lang="en-US" altLang="ko-KR" dirty="0"/>
              <a:t>- </a:t>
            </a:r>
            <a:r>
              <a:rPr lang="ko-KR" altLang="en-US" dirty="0"/>
              <a:t>고객님의 정보는 개인정보 보호법에 따라 보호되며 위의 이용목적 외에 별도로 사용하지 않을 것을 </a:t>
            </a:r>
            <a:r>
              <a:rPr lang="ko-KR" altLang="en-US" dirty="0" err="1"/>
              <a:t>약속드립니다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28" name="그룹 27"/>
          <p:cNvGrpSpPr/>
          <p:nvPr/>
        </p:nvGrpSpPr>
        <p:grpSpPr>
          <a:xfrm>
            <a:off x="3996062" y="1095128"/>
            <a:ext cx="144000" cy="144000"/>
            <a:chOff x="6874200" y="2464910"/>
            <a:chExt cx="115200" cy="116318"/>
          </a:xfrm>
        </p:grpSpPr>
        <p:cxnSp>
          <p:nvCxnSpPr>
            <p:cNvPr id="29" name="직선 연결선 28"/>
            <p:cNvCxnSpPr/>
            <p:nvPr/>
          </p:nvCxnSpPr>
          <p:spPr>
            <a:xfrm>
              <a:off x="6874200" y="2464910"/>
              <a:ext cx="115200" cy="11631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>
            <a:xfrm flipV="1">
              <a:off x="6874200" y="2464910"/>
              <a:ext cx="114496" cy="11631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직사각형 46"/>
          <p:cNvSpPr/>
          <p:nvPr/>
        </p:nvSpPr>
        <p:spPr>
          <a:xfrm>
            <a:off x="839710" y="1031483"/>
            <a:ext cx="26305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수집 및 </a:t>
            </a:r>
            <a:r>
              <a:rPr lang="ko-KR" altLang="en-US" sz="1400" b="1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활용동의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501831" y="30080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1030824" y="4441819"/>
            <a:ext cx="20249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</a:t>
            </a:r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수집 및 이용에  동의합니다</a:t>
            </a: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000" b="1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10" y="4462621"/>
            <a:ext cx="234000" cy="216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96824" y="1669692"/>
            <a:ext cx="34507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에이스법률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사무소는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보호법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정보통신망 이용 촉진 및 정보보호 등에 관한 법률에 따라 귀하의 개인정보를 다음과 같이 수집 이용하고자 합니다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cxnSp>
        <p:nvCxnSpPr>
          <p:cNvPr id="54" name="직선 연결선 53"/>
          <p:cNvCxnSpPr/>
          <p:nvPr/>
        </p:nvCxnSpPr>
        <p:spPr>
          <a:xfrm flipV="1">
            <a:off x="868714" y="1546137"/>
            <a:ext cx="340782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81892" y="2365385"/>
            <a:ext cx="345071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수집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이용 목적 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-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문의에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대한 다양한 정보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제공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수집하는 개인정보의 항목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성명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연락처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상담예약서비스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이용과정에서 아래와 같은 정보들이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생성되어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수집될 수 있습니다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/>
            </a:r>
            <a:b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   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서비스이용기록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접속로그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쿠키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접속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IP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b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개인정보의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보유 및 이용기간</a:t>
            </a:r>
            <a:b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   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보존기간은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년이며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 제공자가 삭제를 요청할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경우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즉시 파기합니다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/>
            </a:r>
            <a:b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   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고객님의 정보는 개인정보 보호법에 따라 보호되며 위의 </a:t>
            </a:r>
            <a:endParaRPr lang="en-US" altLang="ko-KR" sz="9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이용목적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외에 별도로 사용하지 않을 것을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약속드립니다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339132" y="1553059"/>
            <a:ext cx="51015" cy="2705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 flipH="1">
            <a:off x="4328722" y="1546137"/>
            <a:ext cx="57849" cy="15016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+mn-ea"/>
            </a:endParaRPr>
          </a:p>
        </p:txBody>
      </p:sp>
      <p:cxnSp>
        <p:nvCxnSpPr>
          <p:cNvPr id="61" name="직선 연결선 60"/>
          <p:cNvCxnSpPr/>
          <p:nvPr/>
        </p:nvCxnSpPr>
        <p:spPr>
          <a:xfrm flipV="1">
            <a:off x="752161" y="4343414"/>
            <a:ext cx="340782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/>
          <p:cNvSpPr/>
          <p:nvPr/>
        </p:nvSpPr>
        <p:spPr>
          <a:xfrm>
            <a:off x="1465345" y="4906014"/>
            <a:ext cx="1981458" cy="354243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확인</a:t>
            </a:r>
            <a:endParaRPr lang="ko-KR" altLang="en-US" sz="1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47228" y="102249"/>
            <a:ext cx="7200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공통사용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34089" y="991433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470078" y="4463662"/>
            <a:ext cx="352821" cy="230832"/>
            <a:chOff x="9984557" y="3090201"/>
            <a:chExt cx="352821" cy="230832"/>
          </a:xfrm>
        </p:grpSpPr>
        <p:sp>
          <p:nvSpPr>
            <p:cNvPr id="25" name="직사각형 24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9521080" y="-5269"/>
            <a:ext cx="2670920" cy="418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</a:t>
            </a:r>
            <a:r>
              <a:rPr lang="ko-KR" altLang="en-US" sz="10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보유기관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확인 필요</a:t>
            </a:r>
            <a:endParaRPr lang="en-US" altLang="ko-KR" sz="10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일반적인 경우는 </a:t>
            </a:r>
            <a:r>
              <a:rPr lang="en-US" altLang="ko-KR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0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</a:t>
            </a:r>
            <a:endParaRPr lang="ko-KR" alt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9039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955514"/>
              </p:ext>
            </p:extLst>
          </p:nvPr>
        </p:nvGraphicFramePr>
        <p:xfrm>
          <a:off x="9303719" y="412801"/>
          <a:ext cx="2769668" cy="25451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 완료 팝업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 완료 팝업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무료상담신청이 완료되면 해당 팝업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팝업 닫힘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96773" y="93482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상담신청 완료 팝업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80436" y="2260084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 신청 완료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423329" y="3265201"/>
            <a:ext cx="2213709" cy="432000"/>
          </a:xfrm>
          <a:prstGeom prst="roundRect">
            <a:avLst>
              <a:gd name="adj" fmla="val 29456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확인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2182299" y="1600560"/>
            <a:ext cx="628528" cy="471419"/>
            <a:chOff x="4593712" y="2002084"/>
            <a:chExt cx="463397" cy="348935"/>
          </a:xfrm>
        </p:grpSpPr>
        <p:grpSp>
          <p:nvGrpSpPr>
            <p:cNvPr id="47" name="그룹 46"/>
            <p:cNvGrpSpPr/>
            <p:nvPr/>
          </p:nvGrpSpPr>
          <p:grpSpPr>
            <a:xfrm>
              <a:off x="4593712" y="2002084"/>
              <a:ext cx="463397" cy="348935"/>
              <a:chOff x="6972300" y="3124200"/>
              <a:chExt cx="552450" cy="504825"/>
            </a:xfrm>
            <a:solidFill>
              <a:schemeClr val="bg1"/>
            </a:solidFill>
          </p:grpSpPr>
          <p:sp>
            <p:nvSpPr>
              <p:cNvPr id="49" name="모서리가 둥근 직사각형 48"/>
              <p:cNvSpPr/>
              <p:nvPr/>
            </p:nvSpPr>
            <p:spPr>
              <a:xfrm>
                <a:off x="6972300" y="3124200"/>
                <a:ext cx="552450" cy="504825"/>
              </a:xfrm>
              <a:prstGeom prst="roundRect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50"/>
              </a:p>
            </p:txBody>
          </p:sp>
          <p:cxnSp>
            <p:nvCxnSpPr>
              <p:cNvPr id="50" name="직선 연결선 49"/>
              <p:cNvCxnSpPr/>
              <p:nvPr/>
            </p:nvCxnSpPr>
            <p:spPr>
              <a:xfrm>
                <a:off x="7019290" y="3161665"/>
                <a:ext cx="447040" cy="429895"/>
              </a:xfrm>
              <a:prstGeom prst="line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flipH="1">
                <a:off x="7025639" y="3161666"/>
                <a:ext cx="440690" cy="429895"/>
              </a:xfrm>
              <a:prstGeom prst="line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4685408" y="2092744"/>
              <a:ext cx="295700" cy="1708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icon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53" name="모서리가 둥근 직사각형 52"/>
          <p:cNvSpPr/>
          <p:nvPr/>
        </p:nvSpPr>
        <p:spPr>
          <a:xfrm>
            <a:off x="1312102" y="1350175"/>
            <a:ext cx="2458220" cy="2593655"/>
          </a:xfrm>
          <a:prstGeom prst="roundRect">
            <a:avLst>
              <a:gd name="adj" fmla="val 6796"/>
            </a:avLst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1693282" y="2658016"/>
            <a:ext cx="16305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빠르게 안내 드리겠습니다</a:t>
            </a:r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ctr"/>
            <a:r>
              <a:rPr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47228" y="102249"/>
            <a:ext cx="7200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공통사용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27724" y="1600560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05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82140" y="4624415"/>
            <a:ext cx="3548124" cy="21225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180877"/>
              </p:ext>
            </p:extLst>
          </p:nvPr>
        </p:nvGraphicFramePr>
        <p:xfrm>
          <a:off x="9303719" y="412801"/>
          <a:ext cx="2769668" cy="5110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 예약하기 팝업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상담신청 예약하기 팝업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진행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해당 </a:t>
                      </a:r>
                      <a:r>
                        <a:rPr lang="ko-KR" altLang="en-US" sz="900" b="0" baseline="0" dirty="0" err="1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장표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참고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유입은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P4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장의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유형 中 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전화상담예약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정책 적용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필수항목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연락처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디바이스 정보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→ 디바이스 정보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PC,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모바일로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유입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채무금액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월소득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→ 리스트박스는 예시와 같이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선택항목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미 선택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NULL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 버튼 클릭 시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통과되면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어드민에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유입되며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완료팝업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노출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(P38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유입  항목에서 선택 또는 입력 데이터 없이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확인 버튼을 누를 경우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&lt;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얼랏문구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이름을 입력해 주세요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자세히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 시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 </a:t>
                      </a: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P37 </a:t>
                      </a:r>
                      <a:r>
                        <a:rPr lang="ko-KR" altLang="en-US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페이지 팝업 노출</a:t>
                      </a:r>
                      <a:endParaRPr lang="en-US" altLang="ko-KR" sz="900" b="0" baseline="0" dirty="0" smtClean="0">
                        <a:solidFill>
                          <a:schemeClr val="accent5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96773" y="93482"/>
            <a:ext cx="12362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상담신청 예약하기 팝업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2588739" y="2112100"/>
            <a:ext cx="2171833" cy="4282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2588739" y="3735275"/>
            <a:ext cx="2171833" cy="4282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2588739" y="4299142"/>
            <a:ext cx="2171833" cy="4282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702891" y="3242180"/>
            <a:ext cx="1320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 </a:t>
            </a:r>
            <a:r>
              <a:rPr lang="ko-KR" altLang="en-US" sz="1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가능시간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02891" y="4378194"/>
            <a:ext cx="1320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월소득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702891" y="2698466"/>
            <a:ext cx="1320409" cy="270684"/>
            <a:chOff x="2523351" y="3717205"/>
            <a:chExt cx="1320409" cy="270684"/>
          </a:xfrm>
        </p:grpSpPr>
        <p:sp>
          <p:nvSpPr>
            <p:cNvPr id="25" name="TextBox 24"/>
            <p:cNvSpPr txBox="1"/>
            <p:nvPr/>
          </p:nvSpPr>
          <p:spPr>
            <a:xfrm>
              <a:off x="2523351" y="3741668"/>
              <a:ext cx="13204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연락처</a:t>
              </a:r>
              <a:endPara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916941" y="3717205"/>
              <a:ext cx="2455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</a:t>
              </a:r>
              <a:endParaRPr lang="ko-KR" altLang="en-US" sz="1000" dirty="0">
                <a:solidFill>
                  <a:srgbClr val="FF6B4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1702891" y="2173675"/>
            <a:ext cx="527259" cy="275670"/>
            <a:chOff x="1095651" y="3727608"/>
            <a:chExt cx="527259" cy="275670"/>
          </a:xfrm>
        </p:grpSpPr>
        <p:sp>
          <p:nvSpPr>
            <p:cNvPr id="28" name="TextBox 27"/>
            <p:cNvSpPr txBox="1"/>
            <p:nvPr/>
          </p:nvSpPr>
          <p:spPr>
            <a:xfrm>
              <a:off x="1095651" y="3741668"/>
              <a:ext cx="4379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이름</a:t>
              </a:r>
              <a:r>
                <a:rPr lang="ko-KR" altLang="en-US" sz="11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endPara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377330" y="3727608"/>
              <a:ext cx="2455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FF6B4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</a:t>
              </a:r>
              <a:endParaRPr lang="ko-KR" altLang="en-US" sz="1000" dirty="0">
                <a:solidFill>
                  <a:srgbClr val="FF6B4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2615007" y="2210550"/>
            <a:ext cx="7344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홍길동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41834" y="3822483"/>
            <a:ext cx="8803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채무금액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선택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50828" y="4423296"/>
            <a:ext cx="769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월소득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선택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갈매기형 수장 33"/>
          <p:cNvSpPr/>
          <p:nvPr/>
        </p:nvSpPr>
        <p:spPr>
          <a:xfrm rot="5400000">
            <a:off x="4506115" y="4462995"/>
            <a:ext cx="95541" cy="149374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갈매기형 수장 34"/>
          <p:cNvSpPr/>
          <p:nvPr/>
        </p:nvSpPr>
        <p:spPr>
          <a:xfrm rot="5400000">
            <a:off x="4463926" y="3924057"/>
            <a:ext cx="95541" cy="149374"/>
          </a:xfrm>
          <a:prstGeom prst="chevron">
            <a:avLst>
              <a:gd name="adj" fmla="val 7302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28687" y="4817281"/>
            <a:ext cx="21242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수집 및 이용 동의               </a:t>
            </a:r>
            <a:r>
              <a:rPr lang="ko-KR" altLang="en-US" sz="9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자세히</a:t>
            </a:r>
            <a:endParaRPr lang="ko-KR" altLang="en-US" sz="900" u="sng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2576022" y="4785587"/>
            <a:ext cx="304892" cy="276999"/>
            <a:chOff x="7340213" y="5029588"/>
            <a:chExt cx="244372" cy="215287"/>
          </a:xfrm>
        </p:grpSpPr>
        <p:sp>
          <p:nvSpPr>
            <p:cNvPr id="38" name="모서리가 둥근 직사각형 37"/>
            <p:cNvSpPr/>
            <p:nvPr/>
          </p:nvSpPr>
          <p:spPr>
            <a:xfrm>
              <a:off x="7372069" y="5080924"/>
              <a:ext cx="126000" cy="12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340213" y="5029588"/>
              <a:ext cx="244372" cy="2152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>
                      <a:lumMod val="7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</a:t>
              </a:r>
              <a:endParaRPr lang="ko-KR" altLang="en-US" sz="12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0" name="모서리가 둥근 직사각형 39"/>
          <p:cNvSpPr/>
          <p:nvPr/>
        </p:nvSpPr>
        <p:spPr>
          <a:xfrm>
            <a:off x="1774059" y="5352713"/>
            <a:ext cx="3078927" cy="432000"/>
          </a:xfrm>
          <a:prstGeom prst="roundRect">
            <a:avLst>
              <a:gd name="adj" fmla="val 17109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확인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1312101" y="796412"/>
            <a:ext cx="3908081" cy="5245573"/>
          </a:xfrm>
          <a:prstGeom prst="roundRect">
            <a:avLst>
              <a:gd name="adj" fmla="val 6796"/>
            </a:avLst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2454655" y="1032201"/>
            <a:ext cx="151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상담신청  예약하기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02891" y="3819052"/>
            <a:ext cx="1320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채무금액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2588739" y="2650820"/>
            <a:ext cx="2171833" cy="4282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모서리가 둥근 직사각형 55"/>
          <p:cNvSpPr/>
          <p:nvPr/>
        </p:nvSpPr>
        <p:spPr>
          <a:xfrm>
            <a:off x="2588739" y="3189540"/>
            <a:ext cx="2171833" cy="4282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626176" y="2740107"/>
            <a:ext cx="11689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‘-’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제외하고 입력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629090" y="329826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오후 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869586" y="1339978"/>
            <a:ext cx="28103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상담가능 시간을 남겨 주시면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시간에 </a:t>
            </a:r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연락드려요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4695055" y="1034963"/>
            <a:ext cx="180000" cy="180000"/>
            <a:chOff x="6874200" y="2464910"/>
            <a:chExt cx="115200" cy="116318"/>
          </a:xfrm>
        </p:grpSpPr>
        <p:cxnSp>
          <p:nvCxnSpPr>
            <p:cNvPr id="60" name="직선 연결선 59"/>
            <p:cNvCxnSpPr/>
            <p:nvPr/>
          </p:nvCxnSpPr>
          <p:spPr>
            <a:xfrm>
              <a:off x="6874200" y="2464910"/>
              <a:ext cx="115200" cy="11631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 flipV="1">
              <a:off x="6874200" y="2464910"/>
              <a:ext cx="114496" cy="11631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그룹 61"/>
          <p:cNvGrpSpPr/>
          <p:nvPr/>
        </p:nvGrpSpPr>
        <p:grpSpPr>
          <a:xfrm>
            <a:off x="2101606" y="1016534"/>
            <a:ext cx="323946" cy="295014"/>
            <a:chOff x="4529868" y="2002084"/>
            <a:chExt cx="527241" cy="348935"/>
          </a:xfrm>
        </p:grpSpPr>
        <p:grpSp>
          <p:nvGrpSpPr>
            <p:cNvPr id="63" name="그룹 62"/>
            <p:cNvGrpSpPr/>
            <p:nvPr/>
          </p:nvGrpSpPr>
          <p:grpSpPr>
            <a:xfrm>
              <a:off x="4593712" y="2002084"/>
              <a:ext cx="463397" cy="348935"/>
              <a:chOff x="6972300" y="3124200"/>
              <a:chExt cx="552450" cy="504825"/>
            </a:xfrm>
            <a:solidFill>
              <a:schemeClr val="bg1"/>
            </a:solidFill>
          </p:grpSpPr>
          <p:sp>
            <p:nvSpPr>
              <p:cNvPr id="65" name="모서리가 둥근 직사각형 64"/>
              <p:cNvSpPr/>
              <p:nvPr/>
            </p:nvSpPr>
            <p:spPr>
              <a:xfrm>
                <a:off x="6972300" y="3124200"/>
                <a:ext cx="552450" cy="504825"/>
              </a:xfrm>
              <a:prstGeom prst="roundRect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50"/>
              </a:p>
            </p:txBody>
          </p:sp>
          <p:cxnSp>
            <p:nvCxnSpPr>
              <p:cNvPr id="66" name="직선 연결선 65"/>
              <p:cNvCxnSpPr/>
              <p:nvPr/>
            </p:nvCxnSpPr>
            <p:spPr>
              <a:xfrm>
                <a:off x="7019289" y="3161672"/>
                <a:ext cx="447039" cy="429897"/>
              </a:xfrm>
              <a:prstGeom prst="line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flipH="1">
                <a:off x="7025639" y="3161666"/>
                <a:ext cx="440690" cy="429895"/>
              </a:xfrm>
              <a:prstGeom prst="line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/>
            <p:cNvSpPr txBox="1"/>
            <p:nvPr/>
          </p:nvSpPr>
          <p:spPr>
            <a:xfrm>
              <a:off x="4529868" y="2032561"/>
              <a:ext cx="295700" cy="1708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icon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247228" y="102249"/>
            <a:ext cx="7200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공통사용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94607" y="1021268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873558" y="4808670"/>
            <a:ext cx="352821" cy="230832"/>
            <a:chOff x="9984557" y="3090201"/>
            <a:chExt cx="352821" cy="230832"/>
          </a:xfrm>
        </p:grpSpPr>
        <p:sp>
          <p:nvSpPr>
            <p:cNvPr id="48" name="직사각형 47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5962619" y="4857835"/>
            <a:ext cx="2842645" cy="1688344"/>
            <a:chOff x="9230742" y="4229008"/>
            <a:chExt cx="2842645" cy="1688344"/>
          </a:xfrm>
        </p:grpSpPr>
        <p:grpSp>
          <p:nvGrpSpPr>
            <p:cNvPr id="51" name="그룹 50"/>
            <p:cNvGrpSpPr/>
            <p:nvPr/>
          </p:nvGrpSpPr>
          <p:grpSpPr>
            <a:xfrm>
              <a:off x="9287547" y="4494484"/>
              <a:ext cx="1300371" cy="1422868"/>
              <a:chOff x="9671613" y="3602431"/>
              <a:chExt cx="1300371" cy="1422868"/>
            </a:xfrm>
          </p:grpSpPr>
          <p:sp>
            <p:nvSpPr>
              <p:cNvPr id="70" name="모서리가 둥근 직사각형 69"/>
              <p:cNvSpPr/>
              <p:nvPr/>
            </p:nvSpPr>
            <p:spPr>
              <a:xfrm>
                <a:off x="9671613" y="3602431"/>
                <a:ext cx="1300371" cy="1422868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9734710" y="3671719"/>
                <a:ext cx="1061509" cy="1338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채무금액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억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52" name="그룹 51"/>
            <p:cNvGrpSpPr/>
            <p:nvPr/>
          </p:nvGrpSpPr>
          <p:grpSpPr>
            <a:xfrm>
              <a:off x="10679226" y="4494484"/>
              <a:ext cx="1300371" cy="1281989"/>
              <a:chOff x="11063292" y="3602431"/>
              <a:chExt cx="1300371" cy="1281989"/>
            </a:xfrm>
          </p:grpSpPr>
          <p:sp>
            <p:nvSpPr>
              <p:cNvPr id="68" name="모서리가 둥근 직사각형 67"/>
              <p:cNvSpPr/>
              <p:nvPr/>
            </p:nvSpPr>
            <p:spPr>
              <a:xfrm>
                <a:off x="11063292" y="3602431"/>
                <a:ext cx="1300371" cy="1281989"/>
              </a:xfrm>
              <a:prstGeom prst="roundRect">
                <a:avLst>
                  <a:gd name="adj" fmla="val 716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11077204" y="3671719"/>
                <a:ext cx="1082348" cy="1131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 err="1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월소득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선택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4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백 </a:t>
                </a: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~ 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미만</a:t>
                </a:r>
                <a:endParaRPr lang="en-US" altLang="ko-KR" sz="900" dirty="0" smtClean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r>
                  <a:rPr lang="ko-KR" altLang="en-US" sz="900" dirty="0" smtClean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천만원 이상</a:t>
                </a:r>
                <a:endParaRPr lang="ko-KR" altLang="en-US" sz="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9230742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err="1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채무금액</a:t>
              </a: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606554" y="4229008"/>
              <a:ext cx="146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 dirty="0" smtClean="0">
                  <a:solidFill>
                    <a:schemeClr val="accent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 소득 리스트 예시</a:t>
              </a:r>
              <a:endParaRPr lang="ko-KR" altLang="en-US" sz="900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7792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18613" y="98567"/>
          <a:ext cx="11954774" cy="24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268">
                  <a:extLst>
                    <a:ext uri="{9D8B030D-6E8A-4147-A177-3AD203B41FA5}">
                      <a16:colId xmlns:a16="http://schemas.microsoft.com/office/drawing/2014/main" val="2579381457"/>
                    </a:ext>
                  </a:extLst>
                </a:gridCol>
                <a:gridCol w="4073733">
                  <a:extLst>
                    <a:ext uri="{9D8B030D-6E8A-4147-A177-3AD203B41FA5}">
                      <a16:colId xmlns:a16="http://schemas.microsoft.com/office/drawing/2014/main" val="236442116"/>
                    </a:ext>
                  </a:extLst>
                </a:gridCol>
                <a:gridCol w="1246185">
                  <a:extLst>
                    <a:ext uri="{9D8B030D-6E8A-4147-A177-3AD203B41FA5}">
                      <a16:colId xmlns:a16="http://schemas.microsoft.com/office/drawing/2014/main" val="3185695088"/>
                    </a:ext>
                  </a:extLst>
                </a:gridCol>
                <a:gridCol w="3119758">
                  <a:extLst>
                    <a:ext uri="{9D8B030D-6E8A-4147-A177-3AD203B41FA5}">
                      <a16:colId xmlns:a16="http://schemas.microsoft.com/office/drawing/2014/main" val="1521891875"/>
                    </a:ext>
                  </a:extLst>
                </a:gridCol>
                <a:gridCol w="721928">
                  <a:extLst>
                    <a:ext uri="{9D8B030D-6E8A-4147-A177-3AD203B41FA5}">
                      <a16:colId xmlns:a16="http://schemas.microsoft.com/office/drawing/2014/main" val="2971592550"/>
                    </a:ext>
                  </a:extLst>
                </a:gridCol>
                <a:gridCol w="1675902">
                  <a:extLst>
                    <a:ext uri="{9D8B030D-6E8A-4147-A177-3AD203B41FA5}">
                      <a16:colId xmlns:a16="http://schemas.microsoft.com/office/drawing/2014/main" val="197014357"/>
                    </a:ext>
                  </a:extLst>
                </a:gridCol>
              </a:tblGrid>
              <a:tr h="246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경로 및 구분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화면명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페이지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</a:rPr>
                        <a:t>ID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0827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8613" y="412801"/>
            <a:ext cx="9111651" cy="63244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20EAF1-C163-4C54-B776-D0A32D4E9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966409"/>
              </p:ext>
            </p:extLst>
          </p:nvPr>
        </p:nvGraphicFramePr>
        <p:xfrm>
          <a:off x="9303719" y="412801"/>
          <a:ext cx="2769668" cy="27400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7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29">
                <a:tc gridSpan="2">
                  <a:txBody>
                    <a:bodyPr/>
                    <a:lstStyle/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시스템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얼랏창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endParaRPr lang="en-US" altLang="ko-KR" sz="90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시스템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얼랏창은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디자인 입혀서 노출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5762" marR="75762" marT="37862" marB="37862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시스템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1-1.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얼랏문구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유효성검사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미통과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문구 노출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accent5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5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rgbClr val="FF0000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9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※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6076" marR="26076" marT="26076" marB="2607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70956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96773" y="93482"/>
            <a:ext cx="8386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얼랏창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247228" y="102249"/>
            <a:ext cx="7200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9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공통사용</a:t>
            </a:r>
            <a:r>
              <a:rPr lang="ko-KR" altLang="en-US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 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94607" y="1021268"/>
            <a:ext cx="320511" cy="20738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729811" y="2076437"/>
            <a:ext cx="12747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이름을 입력해 주세요</a:t>
            </a:r>
            <a:r>
              <a:rPr lang="en-US" altLang="ko-K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944722" y="2538569"/>
            <a:ext cx="635738" cy="23817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확인</a:t>
            </a:r>
            <a:endParaRPr lang="ko-KR" altLang="en-US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1312102" y="1350176"/>
            <a:ext cx="2100402" cy="1638122"/>
          </a:xfrm>
          <a:prstGeom prst="roundRect">
            <a:avLst>
              <a:gd name="adj" fmla="val 6796"/>
            </a:avLst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/>
          <p:cNvGrpSpPr/>
          <p:nvPr/>
        </p:nvGrpSpPr>
        <p:grpSpPr>
          <a:xfrm>
            <a:off x="2022790" y="1638349"/>
            <a:ext cx="557670" cy="299305"/>
            <a:chOff x="4593712" y="2002084"/>
            <a:chExt cx="463397" cy="348935"/>
          </a:xfrm>
        </p:grpSpPr>
        <p:grpSp>
          <p:nvGrpSpPr>
            <p:cNvPr id="83" name="그룹 82"/>
            <p:cNvGrpSpPr/>
            <p:nvPr/>
          </p:nvGrpSpPr>
          <p:grpSpPr>
            <a:xfrm>
              <a:off x="4593712" y="2002084"/>
              <a:ext cx="463397" cy="348935"/>
              <a:chOff x="6972300" y="3124200"/>
              <a:chExt cx="552450" cy="504825"/>
            </a:xfrm>
            <a:solidFill>
              <a:schemeClr val="bg1"/>
            </a:solidFill>
          </p:grpSpPr>
          <p:sp>
            <p:nvSpPr>
              <p:cNvPr id="85" name="모서리가 둥근 직사각형 84"/>
              <p:cNvSpPr/>
              <p:nvPr/>
            </p:nvSpPr>
            <p:spPr>
              <a:xfrm>
                <a:off x="6972300" y="3124200"/>
                <a:ext cx="552450" cy="504825"/>
              </a:xfrm>
              <a:prstGeom prst="roundRect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50"/>
              </a:p>
            </p:txBody>
          </p:sp>
          <p:cxnSp>
            <p:nvCxnSpPr>
              <p:cNvPr id="86" name="직선 연결선 85"/>
              <p:cNvCxnSpPr/>
              <p:nvPr/>
            </p:nvCxnSpPr>
            <p:spPr>
              <a:xfrm>
                <a:off x="7019290" y="3161665"/>
                <a:ext cx="447040" cy="429895"/>
              </a:xfrm>
              <a:prstGeom prst="line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flipH="1">
                <a:off x="7025639" y="3161666"/>
                <a:ext cx="440690" cy="429895"/>
              </a:xfrm>
              <a:prstGeom prst="line">
                <a:avLst/>
              </a:prstGeom>
              <a:grp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/>
            <p:cNvSpPr txBox="1"/>
            <p:nvPr/>
          </p:nvSpPr>
          <p:spPr>
            <a:xfrm>
              <a:off x="4654679" y="2037655"/>
              <a:ext cx="295700" cy="1708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icon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1320971" y="2084131"/>
            <a:ext cx="352821" cy="230832"/>
            <a:chOff x="9984557" y="3090201"/>
            <a:chExt cx="352821" cy="230832"/>
          </a:xfrm>
        </p:grpSpPr>
        <p:sp>
          <p:nvSpPr>
            <p:cNvPr id="89" name="직사각형 88"/>
            <p:cNvSpPr/>
            <p:nvPr/>
          </p:nvSpPr>
          <p:spPr>
            <a:xfrm>
              <a:off x="9984557" y="3102990"/>
              <a:ext cx="320511" cy="20738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992412" y="30902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1-1</a:t>
              </a:r>
              <a:endParaRPr lang="ko-KR" altLang="en-US" sz="9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656356" y="2007909"/>
            <a:ext cx="1426209" cy="314749"/>
          </a:xfrm>
          <a:prstGeom prst="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8977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31975"/>
            <a:ext cx="12192000" cy="6858000"/>
          </a:xfrm>
          <a:prstGeom prst="rect">
            <a:avLst/>
          </a:prstGeom>
          <a:solidFill>
            <a:srgbClr val="0030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36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Appendix</a:t>
            </a:r>
          </a:p>
          <a:p>
            <a:pPr algn="ctr">
              <a:lnSpc>
                <a:spcPct val="150000"/>
              </a:lnSpc>
            </a:pPr>
            <a:r>
              <a:rPr lang="en-US" altLang="ko-KR" sz="25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SEO, OG, </a:t>
            </a:r>
            <a:r>
              <a:rPr lang="ko-KR" altLang="en-US" sz="25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파비콘</a:t>
            </a:r>
            <a:r>
              <a:rPr lang="ko-KR" altLang="en-US" sz="25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등</a:t>
            </a:r>
            <a:endParaRPr lang="en-US" altLang="ko-KR" sz="25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4392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235280" y="641022"/>
            <a:ext cx="720000" cy="0"/>
          </a:xfrm>
          <a:prstGeom prst="line">
            <a:avLst/>
          </a:prstGeom>
          <a:ln w="38100">
            <a:solidFill>
              <a:srgbClr val="0030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/>
          <p:cNvSpPr txBox="1">
            <a:spLocks/>
          </p:cNvSpPr>
          <p:nvPr/>
        </p:nvSpPr>
        <p:spPr>
          <a:xfrm>
            <a:off x="110049" y="220614"/>
            <a:ext cx="1662189" cy="342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SEO</a:t>
            </a:r>
            <a:endParaRPr lang="ko-KR" alt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508462"/>
              </p:ext>
            </p:extLst>
          </p:nvPr>
        </p:nvGraphicFramePr>
        <p:xfrm>
          <a:off x="366860" y="719164"/>
          <a:ext cx="10313708" cy="5879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489">
                  <a:extLst>
                    <a:ext uri="{9D8B030D-6E8A-4147-A177-3AD203B41FA5}">
                      <a16:colId xmlns:a16="http://schemas.microsoft.com/office/drawing/2014/main" val="3198969838"/>
                    </a:ext>
                  </a:extLst>
                </a:gridCol>
                <a:gridCol w="2193937">
                  <a:extLst>
                    <a:ext uri="{9D8B030D-6E8A-4147-A177-3AD203B41FA5}">
                      <a16:colId xmlns:a16="http://schemas.microsoft.com/office/drawing/2014/main" val="4066123753"/>
                    </a:ext>
                  </a:extLst>
                </a:gridCol>
                <a:gridCol w="6535282">
                  <a:extLst>
                    <a:ext uri="{9D8B030D-6E8A-4147-A177-3AD203B41FA5}">
                      <a16:colId xmlns:a16="http://schemas.microsoft.com/office/drawing/2014/main" val="2024349579"/>
                    </a:ext>
                  </a:extLst>
                </a:gridCol>
              </a:tblGrid>
              <a:tr h="279993">
                <a:tc rowSpan="19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SEO</a:t>
                      </a:r>
                      <a:br>
                        <a:rPr lang="en-US" sz="12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2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META TAG</a:t>
                      </a:r>
                      <a:endParaRPr lang="en-US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title</a:t>
                      </a:r>
                      <a:endParaRPr lang="en-US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에이스 법률사무소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410092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개인회생ㆍ개인파산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전문 변호사가 확실한 </a:t>
                      </a:r>
                      <a:r>
                        <a:rPr lang="ko-KR" altLang="en-US" sz="1200" b="0" i="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탕감률로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보답합니다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!</a:t>
                      </a:r>
                      <a:endParaRPr lang="en-US" altLang="ko-KR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00819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keyword</a:t>
                      </a:r>
                      <a:endParaRPr lang="en-US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749797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6242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개인파산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9297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6242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도산전문변호사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640443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파산면책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19635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비밀보장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000743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최대 </a:t>
                      </a:r>
                      <a:r>
                        <a:rPr lang="ko-KR" altLang="en-US" sz="1200" b="0" i="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탕감률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668623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빠른진행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191382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기각시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수임료 환분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250695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사업실패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717673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코인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806066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주식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548628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돌려막기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65100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생활비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476811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연대보증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43796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개인채무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203803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무료상담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869918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전국 접수 가능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664293"/>
                  </a:ext>
                </a:extLst>
              </a:tr>
              <a:tr h="2799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OG TAG</a:t>
                      </a:r>
                      <a:endParaRPr lang="en-US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title</a:t>
                      </a:r>
                      <a:endParaRPr lang="en-US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에이스 법률사무소</a:t>
                      </a:r>
                      <a:endParaRPr lang="ko-KR" altLang="en-US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018612"/>
                  </a:ext>
                </a:extLst>
              </a:tr>
              <a:tr h="279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개인회생ㆍ파산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전문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!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확실한 </a:t>
                      </a:r>
                      <a:r>
                        <a:rPr lang="ko-KR" altLang="en-US" sz="1200" b="0" i="0" u="none" strike="noStrike" baseline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탕감률로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보답합니다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en-US" altLang="ko-KR" sz="1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516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5383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235280" y="641022"/>
            <a:ext cx="720000" cy="0"/>
          </a:xfrm>
          <a:prstGeom prst="line">
            <a:avLst/>
          </a:prstGeom>
          <a:ln w="38100">
            <a:solidFill>
              <a:srgbClr val="0030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/>
          <p:cNvSpPr txBox="1">
            <a:spLocks/>
          </p:cNvSpPr>
          <p:nvPr/>
        </p:nvSpPr>
        <p:spPr>
          <a:xfrm>
            <a:off x="110049" y="220614"/>
            <a:ext cx="1662189" cy="342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1600" b="1" kern="12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8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OG, </a:t>
            </a:r>
            <a:r>
              <a:rPr lang="ko-KR" altLang="en-US" sz="18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파비콘</a:t>
            </a:r>
            <a:endParaRPr lang="ko-KR" alt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634" y="1195840"/>
            <a:ext cx="907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OG</a:t>
            </a:r>
            <a:r>
              <a: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이미지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778584" y="1553799"/>
            <a:ext cx="3447977" cy="13004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7268" y="5662110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파비콘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l="-1" t="1" r="60309" b="-2157"/>
          <a:stretch/>
        </p:blipFill>
        <p:spPr>
          <a:xfrm>
            <a:off x="685443" y="5969888"/>
            <a:ext cx="449366" cy="2961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730" y="1761683"/>
            <a:ext cx="1626372" cy="820383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910126" y="3499036"/>
            <a:ext cx="3447977" cy="13004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048421" y="1761683"/>
            <a:ext cx="2863703" cy="88724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255140" y="3863545"/>
            <a:ext cx="12442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개인회생 </a:t>
            </a:r>
            <a:r>
              <a:rPr lang="ko-KR" altLang="en-US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ㆍ파산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전문</a:t>
            </a:r>
            <a:endParaRPr lang="en-US" altLang="ko-KR" sz="1000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587" y="3486561"/>
            <a:ext cx="1733792" cy="1543265"/>
          </a:xfrm>
          <a:prstGeom prst="rect">
            <a:avLst/>
          </a:prstGeom>
        </p:spPr>
      </p:pic>
      <p:grpSp>
        <p:nvGrpSpPr>
          <p:cNvPr id="15" name="그룹 14"/>
          <p:cNvGrpSpPr/>
          <p:nvPr/>
        </p:nvGrpSpPr>
        <p:grpSpPr>
          <a:xfrm>
            <a:off x="1494400" y="3844856"/>
            <a:ext cx="646857" cy="592709"/>
            <a:chOff x="5872480" y="2412165"/>
            <a:chExt cx="575310" cy="422910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5872480" y="2412165"/>
              <a:ext cx="575310" cy="42291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" name="직선 연결선 16"/>
            <p:cNvCxnSpPr/>
            <p:nvPr/>
          </p:nvCxnSpPr>
          <p:spPr>
            <a:xfrm>
              <a:off x="5908040" y="2443480"/>
              <a:ext cx="513080" cy="36492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 flipV="1">
              <a:off x="5889625" y="2425500"/>
              <a:ext cx="541020" cy="39624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1981027" y="2062636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 사무소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-1" t="1" r="60309" b="-2157"/>
          <a:stretch/>
        </p:blipFill>
        <p:spPr>
          <a:xfrm>
            <a:off x="1303292" y="2055944"/>
            <a:ext cx="449366" cy="2961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95911" y="2742268"/>
            <a:ext cx="5790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730" y="3549394"/>
            <a:ext cx="2000245" cy="97928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95310" y="4594368"/>
            <a:ext cx="5790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</a:t>
            </a:r>
            <a:endParaRPr lang="ko-KR" altLang="en-US" sz="1000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41257" y="4104306"/>
            <a:ext cx="151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에이스 법률 사무소</a:t>
            </a:r>
            <a:endParaRPr lang="en-US" altLang="ko-KR" sz="1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1415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6373</Words>
  <Application>Microsoft Office PowerPoint</Application>
  <PresentationFormat>와이드스크린</PresentationFormat>
  <Paragraphs>1968</Paragraphs>
  <Slides>43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2" baseType="lpstr">
      <vt:lpstr>Pretendard</vt:lpstr>
      <vt:lpstr>Pretendard ExtraBold</vt:lpstr>
      <vt:lpstr>Pretendard Light</vt:lpstr>
      <vt:lpstr>나눔고딕</vt:lpstr>
      <vt:lpstr>맑은 고딕</vt:lpstr>
      <vt:lpstr>Arial</vt:lpstr>
      <vt:lpstr>Segoe UI</vt:lpstr>
      <vt:lpstr>Wingdings</vt:lpstr>
      <vt:lpstr>Office 테마</vt:lpstr>
      <vt:lpstr>에이스 법률사무소   리뉴얼 웹사이트 구축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Rich</dc:creator>
  <cp:lastModifiedBy>Rich</cp:lastModifiedBy>
  <cp:revision>272</cp:revision>
  <dcterms:created xsi:type="dcterms:W3CDTF">2025-11-22T02:31:44Z</dcterms:created>
  <dcterms:modified xsi:type="dcterms:W3CDTF">2025-12-08T01:34:08Z</dcterms:modified>
</cp:coreProperties>
</file>